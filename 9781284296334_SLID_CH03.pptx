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notesMasterIdLst>
    <p:notesMasterId r:id="rId59"/>
  </p:notesMasterIdLst>
  <p:handoutMasterIdLst>
    <p:handoutMasterId r:id="rId60"/>
  </p:handoutMasterIdLst>
  <p:sldIdLst>
    <p:sldId id="258" r:id="rId2"/>
    <p:sldId id="257" r:id="rId3"/>
    <p:sldId id="372" r:id="rId4"/>
    <p:sldId id="332" r:id="rId5"/>
    <p:sldId id="333" r:id="rId6"/>
    <p:sldId id="334" r:id="rId7"/>
    <p:sldId id="335" r:id="rId8"/>
    <p:sldId id="337" r:id="rId9"/>
    <p:sldId id="338" r:id="rId10"/>
    <p:sldId id="339" r:id="rId11"/>
    <p:sldId id="340" r:id="rId12"/>
    <p:sldId id="341" r:id="rId13"/>
    <p:sldId id="342" r:id="rId14"/>
    <p:sldId id="344" r:id="rId15"/>
    <p:sldId id="345" r:id="rId16"/>
    <p:sldId id="375" r:id="rId17"/>
    <p:sldId id="378" r:id="rId18"/>
    <p:sldId id="347" r:id="rId19"/>
    <p:sldId id="346" r:id="rId20"/>
    <p:sldId id="348" r:id="rId21"/>
    <p:sldId id="374" r:id="rId22"/>
    <p:sldId id="349" r:id="rId23"/>
    <p:sldId id="351" r:id="rId24"/>
    <p:sldId id="352" r:id="rId25"/>
    <p:sldId id="353" r:id="rId26"/>
    <p:sldId id="354" r:id="rId27"/>
    <p:sldId id="376" r:id="rId28"/>
    <p:sldId id="343" r:id="rId29"/>
    <p:sldId id="373" r:id="rId30"/>
    <p:sldId id="379" r:id="rId31"/>
    <p:sldId id="356" r:id="rId32"/>
    <p:sldId id="357" r:id="rId33"/>
    <p:sldId id="358" r:id="rId34"/>
    <p:sldId id="359" r:id="rId35"/>
    <p:sldId id="360" r:id="rId36"/>
    <p:sldId id="361" r:id="rId37"/>
    <p:sldId id="362" r:id="rId38"/>
    <p:sldId id="363" r:id="rId39"/>
    <p:sldId id="364" r:id="rId40"/>
    <p:sldId id="365" r:id="rId41"/>
    <p:sldId id="367" r:id="rId42"/>
    <p:sldId id="368" r:id="rId43"/>
    <p:sldId id="369" r:id="rId44"/>
    <p:sldId id="370" r:id="rId45"/>
    <p:sldId id="323" r:id="rId46"/>
    <p:sldId id="324" r:id="rId47"/>
    <p:sldId id="325" r:id="rId48"/>
    <p:sldId id="326" r:id="rId49"/>
    <p:sldId id="293" r:id="rId50"/>
    <p:sldId id="327" r:id="rId51"/>
    <p:sldId id="294" r:id="rId52"/>
    <p:sldId id="328" r:id="rId53"/>
    <p:sldId id="290" r:id="rId54"/>
    <p:sldId id="329" r:id="rId55"/>
    <p:sldId id="291" r:id="rId56"/>
    <p:sldId id="371" r:id="rId57"/>
    <p:sldId id="377" r:id="rId58"/>
  </p:sldIdLst>
  <p:sldSz cx="13546138" cy="7620000"/>
  <p:notesSz cx="6858000" cy="9144000"/>
  <p:defaultTextStyle>
    <a:defPPr>
      <a:defRPr lang="en-US"/>
    </a:defPPr>
    <a:lvl1pPr algn="l" rtl="0" fontAlgn="base">
      <a:spcBef>
        <a:spcPct val="0"/>
      </a:spcBef>
      <a:spcAft>
        <a:spcPct val="0"/>
      </a:spcAft>
      <a:defRPr sz="3300" kern="1200">
        <a:solidFill>
          <a:schemeClr val="tx1"/>
        </a:solidFill>
        <a:latin typeface="Times New Roman" pitchFamily="18" charset="0"/>
        <a:ea typeface="+mn-ea"/>
        <a:cs typeface="+mn-cs"/>
      </a:defRPr>
    </a:lvl1pPr>
    <a:lvl2pPr marL="457200" algn="l" rtl="0" fontAlgn="base">
      <a:spcBef>
        <a:spcPct val="0"/>
      </a:spcBef>
      <a:spcAft>
        <a:spcPct val="0"/>
      </a:spcAft>
      <a:defRPr sz="3300" kern="1200">
        <a:solidFill>
          <a:schemeClr val="tx1"/>
        </a:solidFill>
        <a:latin typeface="Times New Roman" pitchFamily="18" charset="0"/>
        <a:ea typeface="+mn-ea"/>
        <a:cs typeface="+mn-cs"/>
      </a:defRPr>
    </a:lvl2pPr>
    <a:lvl3pPr marL="914400" algn="l" rtl="0" fontAlgn="base">
      <a:spcBef>
        <a:spcPct val="0"/>
      </a:spcBef>
      <a:spcAft>
        <a:spcPct val="0"/>
      </a:spcAft>
      <a:defRPr sz="3300" kern="1200">
        <a:solidFill>
          <a:schemeClr val="tx1"/>
        </a:solidFill>
        <a:latin typeface="Times New Roman" pitchFamily="18" charset="0"/>
        <a:ea typeface="+mn-ea"/>
        <a:cs typeface="+mn-cs"/>
      </a:defRPr>
    </a:lvl3pPr>
    <a:lvl4pPr marL="1371600" algn="l" rtl="0" fontAlgn="base">
      <a:spcBef>
        <a:spcPct val="0"/>
      </a:spcBef>
      <a:spcAft>
        <a:spcPct val="0"/>
      </a:spcAft>
      <a:defRPr sz="3300" kern="1200">
        <a:solidFill>
          <a:schemeClr val="tx1"/>
        </a:solidFill>
        <a:latin typeface="Times New Roman" pitchFamily="18" charset="0"/>
        <a:ea typeface="+mn-ea"/>
        <a:cs typeface="+mn-cs"/>
      </a:defRPr>
    </a:lvl4pPr>
    <a:lvl5pPr marL="1828800" algn="l" rtl="0" fontAlgn="base">
      <a:spcBef>
        <a:spcPct val="0"/>
      </a:spcBef>
      <a:spcAft>
        <a:spcPct val="0"/>
      </a:spcAft>
      <a:defRPr sz="3300" kern="1200">
        <a:solidFill>
          <a:schemeClr val="tx1"/>
        </a:solidFill>
        <a:latin typeface="Times New Roman" pitchFamily="18" charset="0"/>
        <a:ea typeface="+mn-ea"/>
        <a:cs typeface="+mn-cs"/>
      </a:defRPr>
    </a:lvl5pPr>
    <a:lvl6pPr marL="2286000" algn="l" defTabSz="914400" rtl="0" eaLnBrk="1" latinLnBrk="0" hangingPunct="1">
      <a:defRPr sz="3300" kern="1200">
        <a:solidFill>
          <a:schemeClr val="tx1"/>
        </a:solidFill>
        <a:latin typeface="Times New Roman" pitchFamily="18" charset="0"/>
        <a:ea typeface="+mn-ea"/>
        <a:cs typeface="+mn-cs"/>
      </a:defRPr>
    </a:lvl6pPr>
    <a:lvl7pPr marL="2743200" algn="l" defTabSz="914400" rtl="0" eaLnBrk="1" latinLnBrk="0" hangingPunct="1">
      <a:defRPr sz="3300" kern="1200">
        <a:solidFill>
          <a:schemeClr val="tx1"/>
        </a:solidFill>
        <a:latin typeface="Times New Roman" pitchFamily="18" charset="0"/>
        <a:ea typeface="+mn-ea"/>
        <a:cs typeface="+mn-cs"/>
      </a:defRPr>
    </a:lvl7pPr>
    <a:lvl8pPr marL="3200400" algn="l" defTabSz="914400" rtl="0" eaLnBrk="1" latinLnBrk="0" hangingPunct="1">
      <a:defRPr sz="3300" kern="1200">
        <a:solidFill>
          <a:schemeClr val="tx1"/>
        </a:solidFill>
        <a:latin typeface="Times New Roman" pitchFamily="18" charset="0"/>
        <a:ea typeface="+mn-ea"/>
        <a:cs typeface="+mn-cs"/>
      </a:defRPr>
    </a:lvl8pPr>
    <a:lvl9pPr marL="3657600" algn="l" defTabSz="914400" rtl="0" eaLnBrk="1" latinLnBrk="0" hangingPunct="1">
      <a:defRPr sz="33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60" autoAdjust="0"/>
    <p:restoredTop sz="94694" autoAdjust="0"/>
  </p:normalViewPr>
  <p:slideViewPr>
    <p:cSldViewPr showGuides="1">
      <p:cViewPr varScale="1">
        <p:scale>
          <a:sx n="93" d="100"/>
          <a:sy n="93" d="100"/>
        </p:scale>
        <p:origin x="102" y="216"/>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546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909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dirty="0"/>
          </a:p>
        </p:txBody>
      </p:sp>
      <p:sp>
        <p:nvSpPr>
          <p:cNvPr id="89091"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dirty="0"/>
          </a:p>
        </p:txBody>
      </p:sp>
      <p:sp>
        <p:nvSpPr>
          <p:cNvPr id="89092"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dirty="0"/>
          </a:p>
        </p:txBody>
      </p:sp>
      <p:sp>
        <p:nvSpPr>
          <p:cNvPr id="89093"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A587A38C-00F8-4DF0-8206-15A1F454DB9A}" type="slidenum">
              <a:rPr lang="en-US"/>
              <a:pPr>
                <a:defRPr/>
              </a:pPr>
              <a:t>‹#›</a:t>
            </a:fld>
            <a:endParaRPr lang="en-US" dirty="0"/>
          </a:p>
        </p:txBody>
      </p:sp>
    </p:spTree>
    <p:extLst>
      <p:ext uri="{BB962C8B-B14F-4D97-AF65-F5344CB8AC3E}">
        <p14:creationId xmlns:p14="http://schemas.microsoft.com/office/powerpoint/2010/main" val="17605959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F2C9F8-816F-422A-BF81-968AA600A2FD}" type="datetimeFigureOut">
              <a:rPr lang="en-US" smtClean="0"/>
              <a:t>1/31/2024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FCE9C7-A386-42A0-88DA-C43432F8F407}" type="slidenum">
              <a:rPr lang="en-US" smtClean="0"/>
              <a:t>‹#›</a:t>
            </a:fld>
            <a:endParaRPr lang="en-US" dirty="0"/>
          </a:p>
        </p:txBody>
      </p:sp>
    </p:spTree>
    <p:extLst>
      <p:ext uri="{BB962C8B-B14F-4D97-AF65-F5344CB8AC3E}">
        <p14:creationId xmlns:p14="http://schemas.microsoft.com/office/powerpoint/2010/main" val="3881041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FCE9C7-A386-42A0-88DA-C43432F8F407}" type="slidenum">
              <a:rPr lang="en-US" smtClean="0"/>
              <a:t>41</a:t>
            </a:fld>
            <a:endParaRPr lang="en-US" dirty="0"/>
          </a:p>
        </p:txBody>
      </p:sp>
    </p:spTree>
    <p:extLst>
      <p:ext uri="{BB962C8B-B14F-4D97-AF65-F5344CB8AC3E}">
        <p14:creationId xmlns:p14="http://schemas.microsoft.com/office/powerpoint/2010/main" val="22737720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bwMode="invGray">
      <p:bgPr>
        <a:solidFill>
          <a:srgbClr val="003B74"/>
        </a:solidFill>
        <a:effectLst/>
      </p:bgPr>
    </p:bg>
    <p:spTree>
      <p:nvGrpSpPr>
        <p:cNvPr id="1" name=""/>
        <p:cNvGrpSpPr/>
        <p:nvPr/>
      </p:nvGrpSpPr>
      <p:grpSpPr>
        <a:xfrm>
          <a:off x="0" y="0"/>
          <a:ext cx="0" cy="0"/>
          <a:chOff x="0" y="0"/>
          <a:chExt cx="0" cy="0"/>
        </a:xfrm>
      </p:grpSpPr>
      <p:sp>
        <p:nvSpPr>
          <p:cNvPr id="9" name="Rectangle 8"/>
          <p:cNvSpPr/>
          <p:nvPr/>
        </p:nvSpPr>
        <p:spPr>
          <a:xfrm>
            <a:off x="0" y="2057400"/>
            <a:ext cx="13546138" cy="419100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3667" b="0" i="0" dirty="0">
              <a:latin typeface="Arial" panose="020B0604020202020204" pitchFamily="34" charset="0"/>
            </a:endParaRPr>
          </a:p>
        </p:txBody>
      </p:sp>
      <p:sp>
        <p:nvSpPr>
          <p:cNvPr id="10" name="Rectangle 9"/>
          <p:cNvSpPr/>
          <p:nvPr/>
        </p:nvSpPr>
        <p:spPr>
          <a:xfrm>
            <a:off x="-1" y="779780"/>
            <a:ext cx="13546139" cy="1148080"/>
          </a:xfrm>
          <a:prstGeom prst="rect">
            <a:avLst/>
          </a:prstGeom>
          <a:solidFill>
            <a:srgbClr val="FFC4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3667" b="0" i="0" dirty="0">
              <a:latin typeface="Arial" panose="020B0604020202020204" pitchFamily="34" charset="0"/>
            </a:endParaRPr>
          </a:p>
        </p:txBody>
      </p:sp>
      <p:sp>
        <p:nvSpPr>
          <p:cNvPr id="2" name="Title 1"/>
          <p:cNvSpPr>
            <a:spLocks noGrp="1"/>
          </p:cNvSpPr>
          <p:nvPr>
            <p:ph type="ctrTitle" hasCustomPrompt="1"/>
          </p:nvPr>
        </p:nvSpPr>
        <p:spPr bwMode="black">
          <a:xfrm>
            <a:off x="980204" y="2444750"/>
            <a:ext cx="7134780" cy="3416300"/>
          </a:xfrm>
          <a:noFill/>
        </p:spPr>
        <p:txBody>
          <a:bodyPr lIns="0" tIns="0" rIns="0" bIns="0" anchor="ctr" anchorCtr="0">
            <a:normAutofit/>
          </a:bodyPr>
          <a:lstStyle>
            <a:lvl1pPr algn="l">
              <a:lnSpc>
                <a:spcPct val="90000"/>
              </a:lnSpc>
              <a:defRPr sz="6667" b="1">
                <a:solidFill>
                  <a:schemeClr val="tx1"/>
                </a:solidFill>
              </a:defRPr>
            </a:lvl1pPr>
          </a:lstStyle>
          <a:p>
            <a:r>
              <a:rPr lang="en-US" dirty="0"/>
              <a:t>Chapter Title</a:t>
            </a:r>
            <a:endParaRPr dirty="0"/>
          </a:p>
        </p:txBody>
      </p:sp>
      <p:sp>
        <p:nvSpPr>
          <p:cNvPr id="3" name="Subtitle 2"/>
          <p:cNvSpPr>
            <a:spLocks noGrp="1"/>
          </p:cNvSpPr>
          <p:nvPr>
            <p:ph type="subTitle" idx="1" hasCustomPrompt="1"/>
          </p:nvPr>
        </p:nvSpPr>
        <p:spPr>
          <a:xfrm>
            <a:off x="980203" y="939801"/>
            <a:ext cx="7249076" cy="864043"/>
          </a:xfrm>
        </p:spPr>
        <p:txBody>
          <a:bodyPr lIns="0" tIns="0" rIns="0" bIns="0" anchor="ctr" anchorCtr="0">
            <a:normAutofit/>
          </a:bodyPr>
          <a:lstStyle>
            <a:lvl1pPr marL="0" indent="0" algn="l">
              <a:spcBef>
                <a:spcPts val="0"/>
              </a:spcBef>
              <a:buNone/>
              <a:defRPr sz="3556" b="1">
                <a:latin typeface="Arial" panose="020B0604020202020204" pitchFamily="34" charset="0"/>
                <a:cs typeface="Arial" panose="020B0604020202020204" pitchFamily="34" charset="0"/>
              </a:defRPr>
            </a:lvl1pPr>
            <a:lvl2pPr marL="507995" indent="0" algn="ctr">
              <a:buNone/>
              <a:defRPr sz="2222"/>
            </a:lvl2pPr>
            <a:lvl3pPr marL="1015990" indent="0" algn="ctr">
              <a:buNone/>
              <a:defRPr sz="2000"/>
            </a:lvl3pPr>
            <a:lvl4pPr marL="1523985" indent="0" algn="ctr">
              <a:buNone/>
              <a:defRPr sz="1778"/>
            </a:lvl4pPr>
            <a:lvl5pPr marL="2031980" indent="0" algn="ctr">
              <a:buNone/>
              <a:defRPr sz="1778"/>
            </a:lvl5pPr>
            <a:lvl6pPr marL="2539975" indent="0" algn="ctr">
              <a:buNone/>
              <a:defRPr sz="1778"/>
            </a:lvl6pPr>
            <a:lvl7pPr marL="3047970" indent="0" algn="ctr">
              <a:buNone/>
              <a:defRPr sz="1778"/>
            </a:lvl7pPr>
            <a:lvl8pPr marL="3555964" indent="0" algn="ctr">
              <a:buNone/>
              <a:defRPr sz="1778"/>
            </a:lvl8pPr>
            <a:lvl9pPr marL="4063959" indent="0" algn="ctr">
              <a:buNone/>
              <a:defRPr sz="1778"/>
            </a:lvl9pPr>
          </a:lstStyle>
          <a:p>
            <a:r>
              <a:rPr lang="en-US" dirty="0"/>
              <a:t>CHAPTER 1</a:t>
            </a:r>
            <a:endParaRPr dirty="0"/>
          </a:p>
        </p:txBody>
      </p:sp>
      <p:sp>
        <p:nvSpPr>
          <p:cNvPr id="7" name="Picture Placeholder 6">
            <a:extLst>
              <a:ext uri="{FF2B5EF4-FFF2-40B4-BE49-F238E27FC236}">
                <a16:creationId xmlns:a16="http://schemas.microsoft.com/office/drawing/2014/main" id="{EC9CFE91-0E8B-934B-8D25-5CBB7FD65D50}"/>
              </a:ext>
            </a:extLst>
          </p:cNvPr>
          <p:cNvSpPr>
            <a:spLocks noGrp="1"/>
          </p:cNvSpPr>
          <p:nvPr>
            <p:ph type="pic" sz="quarter" idx="10"/>
          </p:nvPr>
        </p:nvSpPr>
        <p:spPr>
          <a:xfrm>
            <a:off x="8999716" y="431667"/>
            <a:ext cx="4005378" cy="6756667"/>
          </a:xfrm>
        </p:spPr>
        <p:txBody>
          <a:bodyPr/>
          <a:lstStyle/>
          <a:p>
            <a:r>
              <a:rPr lang="en-US" dirty="0"/>
              <a:t>Click icon to add picture</a:t>
            </a:r>
          </a:p>
        </p:txBody>
      </p:sp>
      <p:sp>
        <p:nvSpPr>
          <p:cNvPr id="17" name="Rectangle 16">
            <a:extLst>
              <a:ext uri="{FF2B5EF4-FFF2-40B4-BE49-F238E27FC236}">
                <a16:creationId xmlns:a16="http://schemas.microsoft.com/office/drawing/2014/main" id="{BEEECFBC-FB4D-9945-A4FF-28E342055AC3}"/>
              </a:ext>
            </a:extLst>
          </p:cNvPr>
          <p:cNvSpPr/>
          <p:nvPr/>
        </p:nvSpPr>
        <p:spPr>
          <a:xfrm>
            <a:off x="0" y="7226300"/>
            <a:ext cx="13546138" cy="229165"/>
          </a:xfrm>
          <a:prstGeom prst="rect">
            <a:avLst/>
          </a:prstGeom>
        </p:spPr>
        <p:txBody>
          <a:bodyPr wrap="square">
            <a:spAutoFit/>
          </a:bodyPr>
          <a:lstStyle/>
          <a:p>
            <a:pPr algn="ctr"/>
            <a:r>
              <a:rPr lang="en-US" sz="889" dirty="0">
                <a:solidFill>
                  <a:schemeClr val="bg2"/>
                </a:solidFill>
                <a:latin typeface="Arial" panose="020B0604020202020204" pitchFamily="34" charset="0"/>
                <a:cs typeface="Arial" panose="020B0604020202020204" pitchFamily="34" charset="0"/>
              </a:rPr>
              <a:t>Copyright © 2025 by Jones &amp; Bartlett Learning, LLC an Ascend Learning Company. www.jblearning.com.</a:t>
            </a:r>
          </a:p>
        </p:txBody>
      </p:sp>
    </p:spTree>
    <p:extLst>
      <p:ext uri="{BB962C8B-B14F-4D97-AF65-F5344CB8AC3E}">
        <p14:creationId xmlns:p14="http://schemas.microsoft.com/office/powerpoint/2010/main" val="505701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1E3BDFD-7FA5-2143-88E5-0CEE0A6011AD}"/>
              </a:ext>
            </a:extLst>
          </p:cNvPr>
          <p:cNvSpPr/>
          <p:nvPr/>
        </p:nvSpPr>
        <p:spPr>
          <a:xfrm>
            <a:off x="0" y="7226300"/>
            <a:ext cx="13546138" cy="229165"/>
          </a:xfrm>
          <a:prstGeom prst="rect">
            <a:avLst/>
          </a:prstGeom>
        </p:spPr>
        <p:txBody>
          <a:bodyPr wrap="square">
            <a:spAutoFit/>
          </a:bodyPr>
          <a:lstStyle/>
          <a:p>
            <a:pPr algn="ctr"/>
            <a:r>
              <a:rPr lang="en-US" sz="889" dirty="0">
                <a:latin typeface="Arial" panose="020B0604020202020204" pitchFamily="34" charset="0"/>
                <a:cs typeface="Arial" panose="020B0604020202020204" pitchFamily="34" charset="0"/>
              </a:rPr>
              <a:t>Copyright © 2020 by Jones &amp; Bartlett Learning, LLC an Ascend Learning Company. www.jblearning.com. Background texture © Bunphot/Getty Images.</a:t>
            </a:r>
          </a:p>
        </p:txBody>
      </p:sp>
      <p:sp>
        <p:nvSpPr>
          <p:cNvPr id="6" name="Rectangle 5">
            <a:extLst>
              <a:ext uri="{FF2B5EF4-FFF2-40B4-BE49-F238E27FC236}">
                <a16:creationId xmlns:a16="http://schemas.microsoft.com/office/drawing/2014/main" id="{A4FD052D-18CE-1249-A891-AB3E165F4441}"/>
              </a:ext>
            </a:extLst>
          </p:cNvPr>
          <p:cNvSpPr/>
          <p:nvPr/>
        </p:nvSpPr>
        <p:spPr>
          <a:xfrm>
            <a:off x="0" y="2527300"/>
            <a:ext cx="13546138" cy="1955800"/>
          </a:xfrm>
          <a:prstGeom prst="rect">
            <a:avLst/>
          </a:prstGeom>
          <a:solidFill>
            <a:srgbClr val="003B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67" dirty="0"/>
          </a:p>
        </p:txBody>
      </p:sp>
      <p:sp>
        <p:nvSpPr>
          <p:cNvPr id="8" name="Text Placeholder 7">
            <a:extLst>
              <a:ext uri="{FF2B5EF4-FFF2-40B4-BE49-F238E27FC236}">
                <a16:creationId xmlns:a16="http://schemas.microsoft.com/office/drawing/2014/main" id="{8C0E0F34-F7A9-8D4B-9F49-A76F8B00661D}"/>
              </a:ext>
            </a:extLst>
          </p:cNvPr>
          <p:cNvSpPr>
            <a:spLocks noGrp="1"/>
          </p:cNvSpPr>
          <p:nvPr>
            <p:ph type="body" sz="quarter" idx="10" hasCustomPrompt="1"/>
          </p:nvPr>
        </p:nvSpPr>
        <p:spPr>
          <a:xfrm>
            <a:off x="1038891" y="2857501"/>
            <a:ext cx="11468358" cy="1294694"/>
          </a:xfrm>
        </p:spPr>
        <p:txBody>
          <a:bodyPr anchor="ctr" anchorCtr="0"/>
          <a:lstStyle>
            <a:lvl1pPr marL="0" indent="0" algn="ctr">
              <a:buNone/>
              <a:defRPr sz="5333" b="1">
                <a:solidFill>
                  <a:srgbClr val="FFFFFF"/>
                </a:solidFill>
              </a:defRPr>
            </a:lvl1pPr>
          </a:lstStyle>
          <a:p>
            <a:pPr lvl="0"/>
            <a:r>
              <a:rPr lang="en-US" dirty="0"/>
              <a:t>Divider</a:t>
            </a:r>
          </a:p>
        </p:txBody>
      </p:sp>
    </p:spTree>
    <p:extLst>
      <p:ext uri="{BB962C8B-B14F-4D97-AF65-F5344CB8AC3E}">
        <p14:creationId xmlns:p14="http://schemas.microsoft.com/office/powerpoint/2010/main" val="3378525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dirty="0"/>
          </a:p>
        </p:txBody>
      </p:sp>
      <p:sp>
        <p:nvSpPr>
          <p:cNvPr id="3" name="Content Placeholder 2"/>
          <p:cNvSpPr>
            <a:spLocks noGrp="1"/>
          </p:cNvSpPr>
          <p:nvPr>
            <p:ph idx="1"/>
          </p:nvPr>
        </p:nvSpPr>
        <p:spPr>
          <a:xfrm>
            <a:off x="1028660" y="1656523"/>
            <a:ext cx="11429554" cy="5221163"/>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635781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dirty="0"/>
          </a:p>
        </p:txBody>
      </p:sp>
      <p:sp>
        <p:nvSpPr>
          <p:cNvPr id="3" name="Content Placeholder 2"/>
          <p:cNvSpPr>
            <a:spLocks noGrp="1"/>
          </p:cNvSpPr>
          <p:nvPr>
            <p:ph sz="half" idx="1"/>
          </p:nvPr>
        </p:nvSpPr>
        <p:spPr>
          <a:xfrm>
            <a:off x="1015961" y="1623391"/>
            <a:ext cx="5394749" cy="52549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7127909" y="1623391"/>
            <a:ext cx="5402269" cy="52549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1462977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dirty="0"/>
          </a:p>
        </p:txBody>
      </p:sp>
      <p:sp>
        <p:nvSpPr>
          <p:cNvPr id="3" name="Text Placeholder 2"/>
          <p:cNvSpPr>
            <a:spLocks noGrp="1"/>
          </p:cNvSpPr>
          <p:nvPr>
            <p:ph type="body" idx="1"/>
          </p:nvPr>
        </p:nvSpPr>
        <p:spPr>
          <a:xfrm>
            <a:off x="863566" y="1662430"/>
            <a:ext cx="5547144" cy="523240"/>
          </a:xfrm>
        </p:spPr>
        <p:txBody>
          <a:bodyPr anchor="t" anchorCtr="0"/>
          <a:lstStyle>
            <a:lvl1pPr marL="0" indent="0">
              <a:buNone/>
              <a:defRPr sz="2667" b="1"/>
            </a:lvl1pPr>
            <a:lvl2pPr marL="507995" indent="0">
              <a:buNone/>
              <a:defRPr sz="2222" b="1"/>
            </a:lvl2pPr>
            <a:lvl3pPr marL="1015990" indent="0">
              <a:buNone/>
              <a:defRPr sz="2000" b="1"/>
            </a:lvl3pPr>
            <a:lvl4pPr marL="1523985" indent="0">
              <a:buNone/>
              <a:defRPr sz="1778" b="1"/>
            </a:lvl4pPr>
            <a:lvl5pPr marL="2031980" indent="0">
              <a:buNone/>
              <a:defRPr sz="1778" b="1"/>
            </a:lvl5pPr>
            <a:lvl6pPr marL="2539975" indent="0">
              <a:buNone/>
              <a:defRPr sz="1778" b="1"/>
            </a:lvl6pPr>
            <a:lvl7pPr marL="3047970" indent="0">
              <a:buNone/>
              <a:defRPr sz="1778" b="1"/>
            </a:lvl7pPr>
            <a:lvl8pPr marL="3555964" indent="0">
              <a:buNone/>
              <a:defRPr sz="1778" b="1"/>
            </a:lvl8pPr>
            <a:lvl9pPr marL="4063959" indent="0">
              <a:buNone/>
              <a:defRPr sz="1778" b="1"/>
            </a:lvl9pPr>
          </a:lstStyle>
          <a:p>
            <a:pPr lvl="0"/>
            <a:r>
              <a:rPr lang="en-US"/>
              <a:t>Click to edit Master text styles</a:t>
            </a:r>
          </a:p>
        </p:txBody>
      </p:sp>
      <p:sp>
        <p:nvSpPr>
          <p:cNvPr id="4" name="Content Placeholder 3"/>
          <p:cNvSpPr>
            <a:spLocks noGrp="1"/>
          </p:cNvSpPr>
          <p:nvPr>
            <p:ph sz="half" idx="2"/>
          </p:nvPr>
        </p:nvSpPr>
        <p:spPr>
          <a:xfrm>
            <a:off x="863566" y="2308087"/>
            <a:ext cx="5547144" cy="48787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1" name="Picture Placeholder 10">
            <a:extLst>
              <a:ext uri="{FF2B5EF4-FFF2-40B4-BE49-F238E27FC236}">
                <a16:creationId xmlns:a16="http://schemas.microsoft.com/office/drawing/2014/main" id="{A3169499-437D-8F4D-94AA-E2299357328F}"/>
              </a:ext>
            </a:extLst>
          </p:cNvPr>
          <p:cNvSpPr>
            <a:spLocks noGrp="1"/>
          </p:cNvSpPr>
          <p:nvPr>
            <p:ph type="pic" sz="quarter" idx="10"/>
          </p:nvPr>
        </p:nvSpPr>
        <p:spPr>
          <a:xfrm>
            <a:off x="6773069" y="1662429"/>
            <a:ext cx="5787094" cy="5063048"/>
          </a:xfrm>
        </p:spPr>
        <p:txBody>
          <a:bodyPr/>
          <a:lstStyle/>
          <a:p>
            <a:r>
              <a:rPr lang="en-US" dirty="0"/>
              <a:t>Click icon to add picture</a:t>
            </a:r>
          </a:p>
        </p:txBody>
      </p:sp>
      <p:sp>
        <p:nvSpPr>
          <p:cNvPr id="12" name="Text Placeholder 8">
            <a:extLst>
              <a:ext uri="{FF2B5EF4-FFF2-40B4-BE49-F238E27FC236}">
                <a16:creationId xmlns:a16="http://schemas.microsoft.com/office/drawing/2014/main" id="{B116746D-2971-C346-AB96-03BED323E049}"/>
              </a:ext>
            </a:extLst>
          </p:cNvPr>
          <p:cNvSpPr>
            <a:spLocks noGrp="1"/>
          </p:cNvSpPr>
          <p:nvPr>
            <p:ph type="body" sz="quarter" idx="11" hasCustomPrompt="1"/>
          </p:nvPr>
        </p:nvSpPr>
        <p:spPr>
          <a:xfrm>
            <a:off x="6773069" y="6825017"/>
            <a:ext cx="5787094" cy="723547"/>
          </a:xfrm>
        </p:spPr>
        <p:txBody>
          <a:bodyPr/>
          <a:lstStyle>
            <a:lvl1pPr marL="0" indent="0">
              <a:buNone/>
              <a:defRPr sz="1111"/>
            </a:lvl1pPr>
          </a:lstStyle>
          <a:p>
            <a:pPr lvl="0"/>
            <a:r>
              <a:rPr lang="en-US" dirty="0"/>
              <a:t>Credit line FPO</a:t>
            </a:r>
          </a:p>
        </p:txBody>
      </p:sp>
    </p:spTree>
    <p:extLst>
      <p:ext uri="{BB962C8B-B14F-4D97-AF65-F5344CB8AC3E}">
        <p14:creationId xmlns:p14="http://schemas.microsoft.com/office/powerpoint/2010/main" val="634999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dirty="0"/>
          </a:p>
        </p:txBody>
      </p:sp>
    </p:spTree>
    <p:extLst>
      <p:ext uri="{BB962C8B-B14F-4D97-AF65-F5344CB8AC3E}">
        <p14:creationId xmlns:p14="http://schemas.microsoft.com/office/powerpoint/2010/main" val="1392979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333"/>
            </a:lvl1pPr>
          </a:lstStyle>
          <a:p>
            <a:r>
              <a:rPr lang="en-US"/>
              <a:t>Click to edit Master title style</a:t>
            </a:r>
            <a:endParaRPr/>
          </a:p>
        </p:txBody>
      </p:sp>
      <p:sp>
        <p:nvSpPr>
          <p:cNvPr id="4" name="Text Placeholder 2"/>
          <p:cNvSpPr>
            <a:spLocks noGrp="1"/>
          </p:cNvSpPr>
          <p:nvPr>
            <p:ph type="body" sz="half" idx="2"/>
          </p:nvPr>
        </p:nvSpPr>
        <p:spPr>
          <a:xfrm>
            <a:off x="977862" y="1678609"/>
            <a:ext cx="4718240" cy="4894028"/>
          </a:xfrm>
        </p:spPr>
        <p:txBody>
          <a:bodyPr>
            <a:normAutofit/>
          </a:bodyPr>
          <a:lstStyle>
            <a:lvl1pPr marL="0" indent="0">
              <a:spcBef>
                <a:spcPts val="1667"/>
              </a:spcBef>
              <a:buNone/>
              <a:defRPr sz="2444"/>
            </a:lvl1pPr>
            <a:lvl2pPr marL="507995" indent="0">
              <a:buNone/>
              <a:defRPr sz="1556"/>
            </a:lvl2pPr>
            <a:lvl3pPr marL="1015990" indent="0">
              <a:buNone/>
              <a:defRPr sz="1333"/>
            </a:lvl3pPr>
            <a:lvl4pPr marL="1523985" indent="0">
              <a:buNone/>
              <a:defRPr sz="1111"/>
            </a:lvl4pPr>
            <a:lvl5pPr marL="2031980" indent="0">
              <a:buNone/>
              <a:defRPr sz="1111"/>
            </a:lvl5pPr>
            <a:lvl6pPr marL="2539975" indent="0">
              <a:buNone/>
              <a:defRPr sz="1111"/>
            </a:lvl6pPr>
            <a:lvl7pPr marL="3047970" indent="0">
              <a:buNone/>
              <a:defRPr sz="1111"/>
            </a:lvl7pPr>
            <a:lvl8pPr marL="3555964" indent="0">
              <a:buNone/>
              <a:defRPr sz="1111"/>
            </a:lvl8pPr>
            <a:lvl9pPr marL="4063959" indent="0">
              <a:buNone/>
              <a:defRPr sz="1111"/>
            </a:lvl9pPr>
          </a:lstStyle>
          <a:p>
            <a:pPr lvl="0"/>
            <a:r>
              <a:rPr lang="en-US"/>
              <a:t>Click to edit Master text styles</a:t>
            </a:r>
          </a:p>
        </p:txBody>
      </p:sp>
      <p:sp>
        <p:nvSpPr>
          <p:cNvPr id="9" name="Text Placeholder 8">
            <a:extLst>
              <a:ext uri="{FF2B5EF4-FFF2-40B4-BE49-F238E27FC236}">
                <a16:creationId xmlns:a16="http://schemas.microsoft.com/office/drawing/2014/main" id="{752B3F09-47B3-324C-BCD8-DE2A52443CC0}"/>
              </a:ext>
            </a:extLst>
          </p:cNvPr>
          <p:cNvSpPr>
            <a:spLocks noGrp="1"/>
          </p:cNvSpPr>
          <p:nvPr>
            <p:ph type="body" sz="quarter" idx="10" hasCustomPrompt="1"/>
          </p:nvPr>
        </p:nvSpPr>
        <p:spPr>
          <a:xfrm>
            <a:off x="6131038" y="6718653"/>
            <a:ext cx="6436407" cy="723547"/>
          </a:xfrm>
        </p:spPr>
        <p:txBody>
          <a:bodyPr/>
          <a:lstStyle>
            <a:lvl1pPr marL="0" indent="0">
              <a:buNone/>
              <a:defRPr sz="1111"/>
            </a:lvl1pPr>
          </a:lstStyle>
          <a:p>
            <a:pPr lvl="0"/>
            <a:r>
              <a:rPr lang="en-US" dirty="0"/>
              <a:t>Credit line FPO</a:t>
            </a:r>
          </a:p>
        </p:txBody>
      </p:sp>
      <p:sp>
        <p:nvSpPr>
          <p:cNvPr id="11" name="Picture Placeholder 10">
            <a:extLst>
              <a:ext uri="{FF2B5EF4-FFF2-40B4-BE49-F238E27FC236}">
                <a16:creationId xmlns:a16="http://schemas.microsoft.com/office/drawing/2014/main" id="{8A3226D5-00A8-E049-8469-4BFBE39DD467}"/>
              </a:ext>
            </a:extLst>
          </p:cNvPr>
          <p:cNvSpPr>
            <a:spLocks noGrp="1"/>
          </p:cNvSpPr>
          <p:nvPr>
            <p:ph type="pic" sz="quarter" idx="11"/>
          </p:nvPr>
        </p:nvSpPr>
        <p:spPr>
          <a:xfrm>
            <a:off x="6131038" y="1676461"/>
            <a:ext cx="6436180" cy="4894027"/>
          </a:xfrm>
        </p:spPr>
        <p:txBody>
          <a:bodyPr/>
          <a:lstStyle/>
          <a:p>
            <a:r>
              <a:rPr lang="en-US" dirty="0"/>
              <a:t>Click icon to add picture</a:t>
            </a:r>
          </a:p>
        </p:txBody>
      </p:sp>
    </p:spTree>
    <p:extLst>
      <p:ext uri="{BB962C8B-B14F-4D97-AF65-F5344CB8AC3E}">
        <p14:creationId xmlns:p14="http://schemas.microsoft.com/office/powerpoint/2010/main" val="1401847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333"/>
            </a:lvl1pPr>
          </a:lstStyle>
          <a:p>
            <a:r>
              <a:rPr lang="en-US"/>
              <a:t>Click to edit Master title style</a:t>
            </a:r>
            <a:endParaRPr/>
          </a:p>
        </p:txBody>
      </p:sp>
      <p:sp>
        <p:nvSpPr>
          <p:cNvPr id="3" name="Content Placeholder 3"/>
          <p:cNvSpPr>
            <a:spLocks noGrp="1"/>
          </p:cNvSpPr>
          <p:nvPr>
            <p:ph idx="1" hasCustomPrompt="1"/>
          </p:nvPr>
        </p:nvSpPr>
        <p:spPr>
          <a:xfrm>
            <a:off x="1023844" y="1623391"/>
            <a:ext cx="3535278" cy="5439253"/>
          </a:xfrm>
        </p:spPr>
        <p:txBody>
          <a:bodyPr>
            <a:normAutofit/>
          </a:bodyPr>
          <a:lstStyle>
            <a:lvl1pPr marL="0" indent="0">
              <a:buNone/>
              <a:defRPr sz="2444"/>
            </a:lvl1pPr>
            <a:lvl2pPr marL="507995" indent="0">
              <a:buNone/>
              <a:defRPr sz="2222"/>
            </a:lvl2pPr>
            <a:lvl3pPr marL="1015990" indent="0">
              <a:buNone/>
              <a:defRPr sz="2000"/>
            </a:lvl3pPr>
            <a:lvl4pPr marL="1523985" indent="0">
              <a:buNone/>
              <a:defRPr sz="1778"/>
            </a:lvl4pPr>
            <a:lvl5pPr marL="2031980" indent="0">
              <a:buNone/>
              <a:defRPr sz="1778"/>
            </a:lvl5pPr>
            <a:lvl6pPr>
              <a:defRPr sz="1778"/>
            </a:lvl6pPr>
            <a:lvl7pPr>
              <a:defRPr sz="1778"/>
            </a:lvl7pPr>
            <a:lvl8pPr>
              <a:defRPr sz="1778"/>
            </a:lvl8pPr>
            <a:lvl9pPr>
              <a:defRPr sz="1778"/>
            </a:lvl9pPr>
          </a:lstStyle>
          <a:p>
            <a:pPr lvl="0"/>
            <a:r>
              <a:rPr lang="en-US" dirty="0"/>
              <a:t>Sample text</a:t>
            </a:r>
            <a:endParaRPr dirty="0"/>
          </a:p>
        </p:txBody>
      </p:sp>
      <p:sp>
        <p:nvSpPr>
          <p:cNvPr id="7" name="Content Placeholder 3">
            <a:extLst>
              <a:ext uri="{FF2B5EF4-FFF2-40B4-BE49-F238E27FC236}">
                <a16:creationId xmlns:a16="http://schemas.microsoft.com/office/drawing/2014/main" id="{40A1ED7B-82D7-5A47-A193-C7C24693D3C4}"/>
              </a:ext>
            </a:extLst>
          </p:cNvPr>
          <p:cNvSpPr>
            <a:spLocks noGrp="1"/>
          </p:cNvSpPr>
          <p:nvPr>
            <p:ph idx="10" hasCustomPrompt="1"/>
          </p:nvPr>
        </p:nvSpPr>
        <p:spPr>
          <a:xfrm>
            <a:off x="4986090" y="1623391"/>
            <a:ext cx="3535278" cy="5439253"/>
          </a:xfrm>
        </p:spPr>
        <p:txBody>
          <a:bodyPr>
            <a:normAutofit/>
          </a:bodyPr>
          <a:lstStyle>
            <a:lvl1pPr marL="0" indent="0">
              <a:buNone/>
              <a:defRPr sz="2444"/>
            </a:lvl1pPr>
            <a:lvl2pPr>
              <a:defRPr sz="2222"/>
            </a:lvl2pPr>
            <a:lvl3pPr>
              <a:defRPr sz="2000"/>
            </a:lvl3pPr>
            <a:lvl4pPr>
              <a:defRPr sz="1778"/>
            </a:lvl4pPr>
            <a:lvl5pPr>
              <a:defRPr sz="1778"/>
            </a:lvl5pPr>
            <a:lvl6pPr>
              <a:defRPr sz="1778"/>
            </a:lvl6pPr>
            <a:lvl7pPr>
              <a:defRPr sz="1778"/>
            </a:lvl7pPr>
            <a:lvl8pPr>
              <a:defRPr sz="1778"/>
            </a:lvl8pPr>
            <a:lvl9pPr>
              <a:defRPr sz="1778"/>
            </a:lvl9pPr>
          </a:lstStyle>
          <a:p>
            <a:pPr lvl="0"/>
            <a:r>
              <a:rPr lang="en-US" dirty="0"/>
              <a:t>Sample text</a:t>
            </a:r>
          </a:p>
        </p:txBody>
      </p:sp>
      <p:sp>
        <p:nvSpPr>
          <p:cNvPr id="8" name="Content Placeholder 3">
            <a:extLst>
              <a:ext uri="{FF2B5EF4-FFF2-40B4-BE49-F238E27FC236}">
                <a16:creationId xmlns:a16="http://schemas.microsoft.com/office/drawing/2014/main" id="{43872FE9-5E92-4F44-8A71-024A081C439C}"/>
              </a:ext>
            </a:extLst>
          </p:cNvPr>
          <p:cNvSpPr>
            <a:spLocks noGrp="1"/>
          </p:cNvSpPr>
          <p:nvPr>
            <p:ph idx="11" hasCustomPrompt="1"/>
          </p:nvPr>
        </p:nvSpPr>
        <p:spPr>
          <a:xfrm>
            <a:off x="8948335" y="1623391"/>
            <a:ext cx="3535278" cy="5439253"/>
          </a:xfrm>
        </p:spPr>
        <p:txBody>
          <a:bodyPr>
            <a:normAutofit/>
          </a:bodyPr>
          <a:lstStyle>
            <a:lvl1pPr marL="0" indent="0">
              <a:buNone/>
              <a:defRPr sz="2444"/>
            </a:lvl1pPr>
            <a:lvl2pPr>
              <a:defRPr sz="2222"/>
            </a:lvl2pPr>
            <a:lvl3pPr>
              <a:defRPr sz="2000"/>
            </a:lvl3pPr>
            <a:lvl4pPr>
              <a:defRPr sz="1778"/>
            </a:lvl4pPr>
            <a:lvl5pPr>
              <a:defRPr sz="1778"/>
            </a:lvl5pPr>
            <a:lvl6pPr>
              <a:defRPr sz="1778"/>
            </a:lvl6pPr>
            <a:lvl7pPr>
              <a:defRPr sz="1778"/>
            </a:lvl7pPr>
            <a:lvl8pPr>
              <a:defRPr sz="1778"/>
            </a:lvl8pPr>
            <a:lvl9pPr>
              <a:defRPr sz="1778"/>
            </a:lvl9pPr>
          </a:lstStyle>
          <a:p>
            <a:pPr lvl="0"/>
            <a:r>
              <a:rPr lang="en-US" dirty="0"/>
              <a:t>Sample text</a:t>
            </a:r>
          </a:p>
        </p:txBody>
      </p:sp>
    </p:spTree>
    <p:extLst>
      <p:ext uri="{BB962C8B-B14F-4D97-AF65-F5344CB8AC3E}">
        <p14:creationId xmlns:p14="http://schemas.microsoft.com/office/powerpoint/2010/main" val="1567793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55138" y="5334002"/>
            <a:ext cx="8127683" cy="629709"/>
          </a:xfrm>
        </p:spPr>
        <p:txBody>
          <a:bodyPr anchor="b"/>
          <a:lstStyle>
            <a:lvl1pPr algn="l">
              <a:defRPr sz="2933" b="1"/>
            </a:lvl1pPr>
          </a:lstStyle>
          <a:p>
            <a:r>
              <a:rPr lang="en-US"/>
              <a:t>Click to edit Master title style</a:t>
            </a:r>
          </a:p>
        </p:txBody>
      </p:sp>
      <p:sp>
        <p:nvSpPr>
          <p:cNvPr id="3" name="Picture Placeholder 2"/>
          <p:cNvSpPr>
            <a:spLocks noGrp="1"/>
          </p:cNvSpPr>
          <p:nvPr>
            <p:ph type="pic" idx="1"/>
          </p:nvPr>
        </p:nvSpPr>
        <p:spPr>
          <a:xfrm>
            <a:off x="2655138" y="680861"/>
            <a:ext cx="8127683" cy="4572000"/>
          </a:xfrm>
        </p:spPr>
        <p:txBody>
          <a:bodyPr rtlCol="0">
            <a:normAutofit/>
          </a:bodyPr>
          <a:lstStyle>
            <a:lvl1pPr marL="0" indent="0">
              <a:buNone/>
              <a:defRPr sz="4800"/>
            </a:lvl1pPr>
            <a:lvl2pPr marL="677290" indent="0">
              <a:buNone/>
              <a:defRPr sz="4133"/>
            </a:lvl2pPr>
            <a:lvl3pPr marL="1354579" indent="0">
              <a:buNone/>
              <a:defRPr sz="3600"/>
            </a:lvl3pPr>
            <a:lvl4pPr marL="2031869" indent="0">
              <a:buNone/>
              <a:defRPr sz="2933"/>
            </a:lvl4pPr>
            <a:lvl5pPr marL="2709159" indent="0">
              <a:buNone/>
              <a:defRPr sz="2933"/>
            </a:lvl5pPr>
            <a:lvl6pPr marL="3386449" indent="0">
              <a:buNone/>
              <a:defRPr sz="2933"/>
            </a:lvl6pPr>
            <a:lvl7pPr marL="4063738" indent="0">
              <a:buNone/>
              <a:defRPr sz="2933"/>
            </a:lvl7pPr>
            <a:lvl8pPr marL="4741025" indent="0">
              <a:buNone/>
              <a:defRPr sz="2933"/>
            </a:lvl8pPr>
            <a:lvl9pPr marL="5418313" indent="0">
              <a:buNone/>
              <a:defRPr sz="2933"/>
            </a:lvl9pPr>
          </a:lstStyle>
          <a:p>
            <a:pPr lvl="0"/>
            <a:endParaRPr lang="en-US" noProof="0" dirty="0"/>
          </a:p>
        </p:txBody>
      </p:sp>
      <p:sp>
        <p:nvSpPr>
          <p:cNvPr id="4" name="Text Placeholder 3"/>
          <p:cNvSpPr>
            <a:spLocks noGrp="1"/>
          </p:cNvSpPr>
          <p:nvPr>
            <p:ph type="body" sz="half" idx="2"/>
          </p:nvPr>
        </p:nvSpPr>
        <p:spPr>
          <a:xfrm>
            <a:off x="2655138" y="5963711"/>
            <a:ext cx="8127683" cy="894291"/>
          </a:xfrm>
        </p:spPr>
        <p:txBody>
          <a:bodyPr/>
          <a:lstStyle>
            <a:lvl1pPr marL="0" indent="0">
              <a:buNone/>
              <a:defRPr sz="2133"/>
            </a:lvl1pPr>
            <a:lvl2pPr marL="677290" indent="0">
              <a:buNone/>
              <a:defRPr sz="1733"/>
            </a:lvl2pPr>
            <a:lvl3pPr marL="1354579" indent="0">
              <a:buNone/>
              <a:defRPr sz="1467"/>
            </a:lvl3pPr>
            <a:lvl4pPr marL="2031869" indent="0">
              <a:buNone/>
              <a:defRPr sz="1333"/>
            </a:lvl4pPr>
            <a:lvl5pPr marL="2709159" indent="0">
              <a:buNone/>
              <a:defRPr sz="1333"/>
            </a:lvl5pPr>
            <a:lvl6pPr marL="3386449" indent="0">
              <a:buNone/>
              <a:defRPr sz="1333"/>
            </a:lvl6pPr>
            <a:lvl7pPr marL="4063738" indent="0">
              <a:buNone/>
              <a:defRPr sz="1333"/>
            </a:lvl7pPr>
            <a:lvl8pPr marL="4741025" indent="0">
              <a:buNone/>
              <a:defRPr sz="1333"/>
            </a:lvl8pPr>
            <a:lvl9pPr marL="5418313" indent="0">
              <a:buNone/>
              <a:defRPr sz="1333"/>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16466EF3-4923-4F97-A1AA-839A0C25715A}" type="slidenum">
              <a:rPr lang="en-US"/>
              <a:pPr>
                <a:defRPr/>
              </a:pPr>
              <a:t>‹#›</a:t>
            </a:fld>
            <a:endParaRPr lang="en-US" dirty="0"/>
          </a:p>
        </p:txBody>
      </p:sp>
    </p:spTree>
    <p:extLst>
      <p:ext uri="{BB962C8B-B14F-4D97-AF65-F5344CB8AC3E}">
        <p14:creationId xmlns:p14="http://schemas.microsoft.com/office/powerpoint/2010/main" val="40186590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13542751" cy="132080"/>
          </a:xfrm>
          <a:prstGeom prst="rect">
            <a:avLst/>
          </a:prstGeom>
          <a:solidFill>
            <a:srgbClr val="FFC4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3667" b="0" i="0" dirty="0">
              <a:latin typeface="Arial" panose="020B0604020202020204" pitchFamily="34" charset="0"/>
            </a:endParaRPr>
          </a:p>
        </p:txBody>
      </p:sp>
      <p:sp>
        <p:nvSpPr>
          <p:cNvPr id="2" name="Title Placeholder 1"/>
          <p:cNvSpPr>
            <a:spLocks noGrp="1"/>
          </p:cNvSpPr>
          <p:nvPr>
            <p:ph type="title"/>
          </p:nvPr>
        </p:nvSpPr>
        <p:spPr bwMode="black">
          <a:xfrm>
            <a:off x="0" y="134482"/>
            <a:ext cx="13546138" cy="1113432"/>
          </a:xfrm>
          <a:prstGeom prst="rect">
            <a:avLst/>
          </a:prstGeom>
          <a:solidFill>
            <a:srgbClr val="003B74"/>
          </a:solidFill>
        </p:spPr>
        <p:txBody>
          <a:bodyPr vert="horz" lIns="914400" tIns="45720" rIns="914400" bIns="45720" rtlCol="0" anchor="ctr">
            <a:normAutofit/>
          </a:bodyPr>
          <a:lstStyle/>
          <a:p>
            <a:r>
              <a:rPr lang="en-US"/>
              <a:t>Click to edit Master title style</a:t>
            </a:r>
            <a:endParaRPr dirty="0"/>
          </a:p>
        </p:txBody>
      </p:sp>
      <p:sp>
        <p:nvSpPr>
          <p:cNvPr id="3" name="Text Placeholder 2"/>
          <p:cNvSpPr>
            <a:spLocks noGrp="1"/>
          </p:cNvSpPr>
          <p:nvPr>
            <p:ph type="body" idx="1"/>
          </p:nvPr>
        </p:nvSpPr>
        <p:spPr>
          <a:xfrm>
            <a:off x="990562" y="2448560"/>
            <a:ext cx="11594647" cy="4429126"/>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7" name="Rectangle 6">
            <a:extLst>
              <a:ext uri="{FF2B5EF4-FFF2-40B4-BE49-F238E27FC236}">
                <a16:creationId xmlns:a16="http://schemas.microsoft.com/office/drawing/2014/main" id="{21F38BD8-3F75-CE4C-AFEF-0C6B45F77F8C}"/>
              </a:ext>
            </a:extLst>
          </p:cNvPr>
          <p:cNvSpPr/>
          <p:nvPr/>
        </p:nvSpPr>
        <p:spPr>
          <a:xfrm rot="5400000">
            <a:off x="10604209" y="4721810"/>
            <a:ext cx="5567217" cy="229165"/>
          </a:xfrm>
          <a:prstGeom prst="rect">
            <a:avLst/>
          </a:prstGeom>
        </p:spPr>
        <p:txBody>
          <a:bodyPr wrap="square">
            <a:spAutoFit/>
          </a:bodyPr>
          <a:lstStyle/>
          <a:p>
            <a:r>
              <a:rPr lang="en-US" sz="889" dirty="0">
                <a:latin typeface="Arial" panose="020B0604020202020204" pitchFamily="34" charset="0"/>
                <a:cs typeface="Arial" panose="020B0604020202020204" pitchFamily="34" charset="0"/>
              </a:rPr>
              <a:t>Copyright © 2025 by Jones &amp; Bartlett Learning, LLC an Ascend Learning Company. www.jblearning.com</a:t>
            </a:r>
          </a:p>
        </p:txBody>
      </p:sp>
    </p:spTree>
    <p:extLst>
      <p:ext uri="{BB962C8B-B14F-4D97-AF65-F5344CB8AC3E}">
        <p14:creationId xmlns:p14="http://schemas.microsoft.com/office/powerpoint/2010/main" val="916668098"/>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5" r:id="rId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015990" rtl="0" eaLnBrk="1" latinLnBrk="0" hangingPunct="1">
        <a:lnSpc>
          <a:spcPct val="95000"/>
        </a:lnSpc>
        <a:spcBef>
          <a:spcPct val="0"/>
        </a:spcBef>
        <a:buNone/>
        <a:defRPr sz="3333" b="1" kern="1200">
          <a:solidFill>
            <a:schemeClr val="bg2"/>
          </a:solidFill>
          <a:latin typeface="Arial" panose="020B0604020202020204" pitchFamily="34" charset="0"/>
          <a:ea typeface="+mj-ea"/>
          <a:cs typeface="Arial" panose="020B0604020202020204" pitchFamily="34" charset="0"/>
        </a:defRPr>
      </a:lvl1pPr>
    </p:titleStyle>
    <p:bodyStyle>
      <a:lvl1pPr marL="253997" indent="-253997" algn="l" defTabSz="1015990" rtl="0" eaLnBrk="1" latinLnBrk="0" hangingPunct="1">
        <a:lnSpc>
          <a:spcPct val="100000"/>
        </a:lnSpc>
        <a:spcBef>
          <a:spcPts val="1667"/>
        </a:spcBef>
        <a:buFont typeface="Wingdings" panose="05000000000000000000" pitchFamily="2" charset="2"/>
        <a:buChar char="§"/>
        <a:defRPr sz="2800" kern="1200">
          <a:solidFill>
            <a:schemeClr val="tx1"/>
          </a:solidFill>
          <a:latin typeface="Arial" panose="020B0604020202020204" pitchFamily="34" charset="0"/>
          <a:ea typeface="+mn-ea"/>
          <a:cs typeface="Arial" panose="020B0604020202020204" pitchFamily="34" charset="0"/>
        </a:defRPr>
      </a:lvl1pPr>
      <a:lvl2pPr marL="761992" indent="-253997" algn="l" defTabSz="1015990" rtl="0" eaLnBrk="1" latinLnBrk="0" hangingPunct="1">
        <a:lnSpc>
          <a:spcPct val="100000"/>
        </a:lnSpc>
        <a:spcBef>
          <a:spcPts val="333"/>
        </a:spcBef>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2pPr>
      <a:lvl3pPr marL="1269987" indent="-253997" algn="l" defTabSz="1015990" rtl="0" eaLnBrk="1" latinLnBrk="0" hangingPunct="1">
        <a:lnSpc>
          <a:spcPct val="100000"/>
        </a:lnSpc>
        <a:spcBef>
          <a:spcPts val="333"/>
        </a:spcBef>
        <a:buFont typeface="Wingdings" panose="05000000000000000000" pitchFamily="2" charset="2"/>
        <a:buChar char="§"/>
        <a:defRPr sz="2200" kern="1200">
          <a:solidFill>
            <a:schemeClr val="tx1"/>
          </a:solidFill>
          <a:latin typeface="Arial" panose="020B0604020202020204" pitchFamily="34" charset="0"/>
          <a:ea typeface="+mn-ea"/>
          <a:cs typeface="Arial" panose="020B0604020202020204" pitchFamily="34" charset="0"/>
        </a:defRPr>
      </a:lvl3pPr>
      <a:lvl4pPr marL="1777982" indent="-253997" algn="l" defTabSz="1015990" rtl="0" eaLnBrk="1" latinLnBrk="0" hangingPunct="1">
        <a:lnSpc>
          <a:spcPct val="100000"/>
        </a:lnSpc>
        <a:spcBef>
          <a:spcPts val="0"/>
        </a:spcBef>
        <a:buFont typeface="Wingdings" panose="05000000000000000000" pitchFamily="2" charset="2"/>
        <a:buChar char="§"/>
        <a:defRPr sz="2200" kern="1200">
          <a:solidFill>
            <a:schemeClr val="tx1"/>
          </a:solidFill>
          <a:latin typeface="Arial" panose="020B0604020202020204" pitchFamily="34" charset="0"/>
          <a:ea typeface="+mn-ea"/>
          <a:cs typeface="Arial" panose="020B0604020202020204" pitchFamily="34" charset="0"/>
        </a:defRPr>
      </a:lvl4pPr>
      <a:lvl5pPr marL="2285977" indent="-253997" algn="l" defTabSz="1015990" rtl="0" eaLnBrk="1" latinLnBrk="0" hangingPunct="1">
        <a:lnSpc>
          <a:spcPct val="100000"/>
        </a:lnSpc>
        <a:spcBef>
          <a:spcPts val="0"/>
        </a:spcBef>
        <a:buFont typeface="Wingdings" panose="05000000000000000000" pitchFamily="2" charset="2"/>
        <a:buChar char="§"/>
        <a:defRPr sz="2200" kern="1200">
          <a:solidFill>
            <a:schemeClr val="tx1"/>
          </a:solidFill>
          <a:latin typeface="Arial" panose="020B0604020202020204" pitchFamily="34" charset="0"/>
          <a:ea typeface="+mn-ea"/>
          <a:cs typeface="Arial" panose="020B0604020202020204" pitchFamily="34" charset="0"/>
        </a:defRPr>
      </a:lvl5pPr>
      <a:lvl6pPr marL="2793972" indent="-253997" algn="l" defTabSz="1015990" rtl="0" eaLnBrk="1" latinLnBrk="0" hangingPunct="1">
        <a:lnSpc>
          <a:spcPct val="100000"/>
        </a:lnSpc>
        <a:spcBef>
          <a:spcPts val="0"/>
        </a:spcBef>
        <a:buFont typeface="Wingdings" panose="05000000000000000000" pitchFamily="2" charset="2"/>
        <a:buChar char="§"/>
        <a:defRPr sz="1778" kern="1200">
          <a:solidFill>
            <a:schemeClr val="tx1"/>
          </a:solidFill>
          <a:latin typeface="+mn-lt"/>
          <a:ea typeface="+mn-ea"/>
          <a:cs typeface="+mn-cs"/>
        </a:defRPr>
      </a:lvl6pPr>
      <a:lvl7pPr marL="3301967" indent="-253997" algn="l" defTabSz="1015990" rtl="0" eaLnBrk="1" latinLnBrk="0" hangingPunct="1">
        <a:lnSpc>
          <a:spcPct val="100000"/>
        </a:lnSpc>
        <a:spcBef>
          <a:spcPts val="0"/>
        </a:spcBef>
        <a:buFont typeface="Wingdings" panose="05000000000000000000" pitchFamily="2" charset="2"/>
        <a:buChar char="§"/>
        <a:defRPr sz="1778" kern="1200">
          <a:solidFill>
            <a:schemeClr val="tx1"/>
          </a:solidFill>
          <a:latin typeface="+mn-lt"/>
          <a:ea typeface="+mn-ea"/>
          <a:cs typeface="+mn-cs"/>
        </a:defRPr>
      </a:lvl7pPr>
      <a:lvl8pPr marL="3809962" indent="-253997" algn="l" defTabSz="1015990" rtl="0" eaLnBrk="1" latinLnBrk="0" hangingPunct="1">
        <a:lnSpc>
          <a:spcPct val="100000"/>
        </a:lnSpc>
        <a:spcBef>
          <a:spcPts val="0"/>
        </a:spcBef>
        <a:buFont typeface="Wingdings" panose="05000000000000000000" pitchFamily="2" charset="2"/>
        <a:buChar char="§"/>
        <a:defRPr sz="1778" kern="1200">
          <a:solidFill>
            <a:schemeClr val="tx1"/>
          </a:solidFill>
          <a:latin typeface="+mn-lt"/>
          <a:ea typeface="+mn-ea"/>
          <a:cs typeface="+mn-cs"/>
        </a:defRPr>
      </a:lvl8pPr>
      <a:lvl9pPr marL="4317957" indent="-253997" algn="l" defTabSz="1015990" rtl="0" eaLnBrk="1" latinLnBrk="0" hangingPunct="1">
        <a:lnSpc>
          <a:spcPct val="100000"/>
        </a:lnSpc>
        <a:spcBef>
          <a:spcPts val="0"/>
        </a:spcBef>
        <a:buFont typeface="Wingdings" panose="05000000000000000000" pitchFamily="2" charset="2"/>
        <a:buChar char="§"/>
        <a:defRPr sz="1778" kern="1200">
          <a:solidFill>
            <a:schemeClr val="tx1"/>
          </a:solidFill>
          <a:latin typeface="+mn-lt"/>
          <a:ea typeface="+mn-ea"/>
          <a:cs typeface="+mn-cs"/>
        </a:defRPr>
      </a:lvl9pPr>
    </p:bodyStyle>
    <p:otherStyle>
      <a:defPPr>
        <a:defRPr/>
      </a:defPPr>
      <a:lvl1pPr marL="0" algn="l" defTabSz="1015990" rtl="0" eaLnBrk="1" latinLnBrk="0" hangingPunct="1">
        <a:defRPr sz="2000" kern="1200">
          <a:solidFill>
            <a:schemeClr val="tx1"/>
          </a:solidFill>
          <a:latin typeface="+mn-lt"/>
          <a:ea typeface="+mn-ea"/>
          <a:cs typeface="+mn-cs"/>
        </a:defRPr>
      </a:lvl1pPr>
      <a:lvl2pPr marL="507995" algn="l" defTabSz="1015990" rtl="0" eaLnBrk="1" latinLnBrk="0" hangingPunct="1">
        <a:defRPr sz="2000" kern="1200">
          <a:solidFill>
            <a:schemeClr val="tx1"/>
          </a:solidFill>
          <a:latin typeface="+mn-lt"/>
          <a:ea typeface="+mn-ea"/>
          <a:cs typeface="+mn-cs"/>
        </a:defRPr>
      </a:lvl2pPr>
      <a:lvl3pPr marL="1015990" algn="l" defTabSz="1015990" rtl="0" eaLnBrk="1" latinLnBrk="0" hangingPunct="1">
        <a:defRPr sz="2000" kern="1200">
          <a:solidFill>
            <a:schemeClr val="tx1"/>
          </a:solidFill>
          <a:latin typeface="+mn-lt"/>
          <a:ea typeface="+mn-ea"/>
          <a:cs typeface="+mn-cs"/>
        </a:defRPr>
      </a:lvl3pPr>
      <a:lvl4pPr marL="1523985" algn="l" defTabSz="1015990" rtl="0" eaLnBrk="1" latinLnBrk="0" hangingPunct="1">
        <a:defRPr sz="2000" kern="1200">
          <a:solidFill>
            <a:schemeClr val="tx1"/>
          </a:solidFill>
          <a:latin typeface="+mn-lt"/>
          <a:ea typeface="+mn-ea"/>
          <a:cs typeface="+mn-cs"/>
        </a:defRPr>
      </a:lvl4pPr>
      <a:lvl5pPr marL="2031980" algn="l" defTabSz="1015990" rtl="0" eaLnBrk="1" latinLnBrk="0" hangingPunct="1">
        <a:defRPr sz="2000" kern="1200">
          <a:solidFill>
            <a:schemeClr val="tx1"/>
          </a:solidFill>
          <a:latin typeface="+mn-lt"/>
          <a:ea typeface="+mn-ea"/>
          <a:cs typeface="+mn-cs"/>
        </a:defRPr>
      </a:lvl5pPr>
      <a:lvl6pPr marL="2539975" algn="l" defTabSz="1015990" rtl="0" eaLnBrk="1" latinLnBrk="0" hangingPunct="1">
        <a:defRPr sz="2000" kern="1200">
          <a:solidFill>
            <a:schemeClr val="tx1"/>
          </a:solidFill>
          <a:latin typeface="+mn-lt"/>
          <a:ea typeface="+mn-ea"/>
          <a:cs typeface="+mn-cs"/>
        </a:defRPr>
      </a:lvl6pPr>
      <a:lvl7pPr marL="3047970" algn="l" defTabSz="1015990" rtl="0" eaLnBrk="1" latinLnBrk="0" hangingPunct="1">
        <a:defRPr sz="2000" kern="1200">
          <a:solidFill>
            <a:schemeClr val="tx1"/>
          </a:solidFill>
          <a:latin typeface="+mn-lt"/>
          <a:ea typeface="+mn-ea"/>
          <a:cs typeface="+mn-cs"/>
        </a:defRPr>
      </a:lvl7pPr>
      <a:lvl8pPr marL="3555964" algn="l" defTabSz="1015990" rtl="0" eaLnBrk="1" latinLnBrk="0" hangingPunct="1">
        <a:defRPr sz="2000" kern="1200">
          <a:solidFill>
            <a:schemeClr val="tx1"/>
          </a:solidFill>
          <a:latin typeface="+mn-lt"/>
          <a:ea typeface="+mn-ea"/>
          <a:cs typeface="+mn-cs"/>
        </a:defRPr>
      </a:lvl8pPr>
      <a:lvl9pPr marL="4063959" algn="l" defTabSz="1015990"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ubtitle 14">
            <a:extLst>
              <a:ext uri="{FF2B5EF4-FFF2-40B4-BE49-F238E27FC236}">
                <a16:creationId xmlns:a16="http://schemas.microsoft.com/office/drawing/2014/main" id="{CF4F1586-DE6A-1A40-AEF4-23ADA41937E4}"/>
              </a:ext>
            </a:extLst>
          </p:cNvPr>
          <p:cNvSpPr>
            <a:spLocks noGrp="1"/>
          </p:cNvSpPr>
          <p:nvPr>
            <p:ph type="subTitle" idx="1"/>
          </p:nvPr>
        </p:nvSpPr>
        <p:spPr/>
        <p:txBody>
          <a:bodyPr/>
          <a:lstStyle/>
          <a:p>
            <a:r>
              <a:rPr lang="en-US" dirty="0"/>
              <a:t>CHAPTER 3</a:t>
            </a:r>
          </a:p>
        </p:txBody>
      </p:sp>
      <p:sp>
        <p:nvSpPr>
          <p:cNvPr id="19" name="Title 18">
            <a:extLst>
              <a:ext uri="{FF2B5EF4-FFF2-40B4-BE49-F238E27FC236}">
                <a16:creationId xmlns:a16="http://schemas.microsoft.com/office/drawing/2014/main" id="{A58A35F8-EA88-094E-8EAD-88FE6A07C447}"/>
              </a:ext>
            </a:extLst>
          </p:cNvPr>
          <p:cNvSpPr>
            <a:spLocks noGrp="1"/>
          </p:cNvSpPr>
          <p:nvPr>
            <p:ph type="ctrTitle"/>
          </p:nvPr>
        </p:nvSpPr>
        <p:spPr/>
        <p:txBody>
          <a:bodyPr>
            <a:noAutofit/>
          </a:bodyPr>
          <a:lstStyle/>
          <a:p>
            <a:r>
              <a:rPr lang="en-US" sz="5400" dirty="0"/>
              <a:t>Epidemiologic Measurements Used to Describe Disease Occurrence</a:t>
            </a:r>
          </a:p>
        </p:txBody>
      </p:sp>
      <p:pic>
        <p:nvPicPr>
          <p:cNvPr id="3" name="Picture 2">
            <a:extLst>
              <a:ext uri="{FF2B5EF4-FFF2-40B4-BE49-F238E27FC236}">
                <a16:creationId xmlns:a16="http://schemas.microsoft.com/office/drawing/2014/main" id="{4DAD0EDA-0872-EBD0-2942-A00FBEF2EBF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082076" y="333511"/>
            <a:ext cx="4126395" cy="6952976"/>
          </a:xfrm>
          <a:prstGeom prst="rect">
            <a:avLst/>
          </a:prstGeom>
        </p:spPr>
      </p:pic>
    </p:spTree>
    <p:extLst>
      <p:ext uri="{BB962C8B-B14F-4D97-AF65-F5344CB8AC3E}">
        <p14:creationId xmlns:p14="http://schemas.microsoft.com/office/powerpoint/2010/main" val="17326983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
          <p:cNvSpPr>
            <a:spLocks noGrp="1" noChangeArrowheads="1"/>
          </p:cNvSpPr>
          <p:nvPr>
            <p:ph type="title"/>
          </p:nvPr>
        </p:nvSpPr>
        <p:spPr>
          <a:xfrm>
            <a:off x="0" y="134482"/>
            <a:ext cx="13546138" cy="1113432"/>
          </a:xfrm>
        </p:spPr>
        <p:txBody>
          <a:bodyPr/>
          <a:lstStyle/>
          <a:p>
            <a:r>
              <a:rPr lang="en-US" altLang="en-US" dirty="0"/>
              <a:t>Learning Objectives</a:t>
            </a:r>
          </a:p>
        </p:txBody>
      </p:sp>
      <p:sp>
        <p:nvSpPr>
          <p:cNvPr id="3075" name="Rectangle 2"/>
          <p:cNvSpPr>
            <a:spLocks noGrp="1" noChangeArrowheads="1"/>
          </p:cNvSpPr>
          <p:nvPr>
            <p:ph idx="1"/>
          </p:nvPr>
        </p:nvSpPr>
        <p:spPr>
          <a:xfrm>
            <a:off x="1028660" y="1656523"/>
            <a:ext cx="11429554" cy="5221163"/>
          </a:xfrm>
        </p:spPr>
        <p:txBody>
          <a:bodyPr/>
          <a:lstStyle/>
          <a:p>
            <a:pPr lvl="0"/>
            <a:r>
              <a:rPr lang="en-US" dirty="0"/>
              <a:t>Define three mathematical terms applied to epidemiology and provide examples of each.</a:t>
            </a:r>
          </a:p>
          <a:p>
            <a:pPr lvl="0"/>
            <a:r>
              <a:rPr lang="en-US" dirty="0"/>
              <a:t>Compare incidence and prevalence and explain how they are interrelated.</a:t>
            </a:r>
          </a:p>
          <a:p>
            <a:pPr lvl="0"/>
            <a:r>
              <a:rPr lang="en-US" dirty="0"/>
              <a:t>State one epidemiologic measure of mortality, giving its formula.</a:t>
            </a:r>
          </a:p>
          <a:p>
            <a:pPr lvl="0"/>
            <a:r>
              <a:rPr lang="en-US" dirty="0"/>
              <a:t>Distinguish between a fertility rate and a birth rate.</a:t>
            </a:r>
          </a:p>
          <a:p>
            <a:r>
              <a:rPr lang="en-US" dirty="0"/>
              <a:t>State the limitations of crude rates and define alternative measures.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0" y="134482"/>
            <a:ext cx="13546138" cy="1113432"/>
          </a:xfrm>
        </p:spPr>
        <p:txBody>
          <a:bodyPr/>
          <a:lstStyle/>
          <a:p>
            <a:r>
              <a:rPr lang="en-US" altLang="en-US" dirty="0"/>
              <a:t>Introduction</a:t>
            </a:r>
          </a:p>
        </p:txBody>
      </p:sp>
      <p:sp>
        <p:nvSpPr>
          <p:cNvPr id="4099" name="Rectangle 3"/>
          <p:cNvSpPr>
            <a:spLocks noGrp="1" noChangeArrowheads="1"/>
          </p:cNvSpPr>
          <p:nvPr>
            <p:ph idx="1"/>
          </p:nvPr>
        </p:nvSpPr>
        <p:spPr>
          <a:xfrm>
            <a:off x="1028660" y="1656523"/>
            <a:ext cx="11429554" cy="5221163"/>
          </a:xfrm>
        </p:spPr>
        <p:txBody>
          <a:bodyPr/>
          <a:lstStyle/>
          <a:p>
            <a:r>
              <a:rPr lang="en-US" altLang="en-US" dirty="0"/>
              <a:t>Four key mathematical terms</a:t>
            </a:r>
          </a:p>
          <a:p>
            <a:pPr lvl="1"/>
            <a:r>
              <a:rPr lang="en-US" altLang="en-US" dirty="0"/>
              <a:t>Related to basic epidemiologic measures</a:t>
            </a:r>
          </a:p>
          <a:p>
            <a:pPr lvl="1"/>
            <a:r>
              <a:rPr lang="en-US" altLang="en-US" dirty="0"/>
              <a:t>Pertain to frequency of disease in populations</a:t>
            </a:r>
          </a:p>
          <a:p>
            <a:pPr lvl="1"/>
            <a:r>
              <a:rPr lang="en-US" altLang="en-US" dirty="0"/>
              <a:t>Pertain to risks associated with exposures to disease agents</a:t>
            </a:r>
          </a:p>
          <a:p>
            <a:r>
              <a:rPr lang="en-US" altLang="en-US" dirty="0"/>
              <a:t>Alternative conclusions from different measures</a:t>
            </a:r>
          </a:p>
          <a:p>
            <a:endParaRPr lang="en-US" altLang="en-US" dirty="0"/>
          </a:p>
        </p:txBody>
      </p:sp>
    </p:spTree>
    <p:extLst>
      <p:ext uri="{BB962C8B-B14F-4D97-AF65-F5344CB8AC3E}">
        <p14:creationId xmlns:p14="http://schemas.microsoft.com/office/powerpoint/2010/main" val="360325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
          <p:cNvSpPr>
            <a:spLocks noGrp="1" noChangeArrowheads="1"/>
          </p:cNvSpPr>
          <p:nvPr>
            <p:ph type="title"/>
          </p:nvPr>
        </p:nvSpPr>
        <p:spPr>
          <a:xfrm>
            <a:off x="0" y="134482"/>
            <a:ext cx="13546138" cy="1113432"/>
          </a:xfrm>
        </p:spPr>
        <p:txBody>
          <a:bodyPr/>
          <a:lstStyle/>
          <a:p>
            <a:r>
              <a:rPr lang="en-US" altLang="en-US" dirty="0"/>
              <a:t>Mathematical Terms Used in Epidemiology</a:t>
            </a:r>
          </a:p>
        </p:txBody>
      </p:sp>
      <p:sp>
        <p:nvSpPr>
          <p:cNvPr id="14339" name="Rectangle 2"/>
          <p:cNvSpPr>
            <a:spLocks noGrp="1" noChangeArrowheads="1"/>
          </p:cNvSpPr>
          <p:nvPr>
            <p:ph idx="1"/>
          </p:nvPr>
        </p:nvSpPr>
        <p:spPr>
          <a:xfrm>
            <a:off x="1028660" y="1656523"/>
            <a:ext cx="11429554" cy="5221163"/>
          </a:xfrm>
        </p:spPr>
        <p:txBody>
          <a:bodyPr/>
          <a:lstStyle/>
          <a:p>
            <a:r>
              <a:rPr lang="en-US" dirty="0"/>
              <a:t>Types of ratios</a:t>
            </a:r>
          </a:p>
          <a:p>
            <a:pPr lvl="1"/>
            <a:r>
              <a:rPr lang="en-US" dirty="0"/>
              <a:t>Rate </a:t>
            </a:r>
          </a:p>
          <a:p>
            <a:pPr lvl="1"/>
            <a:r>
              <a:rPr lang="en-US" dirty="0"/>
              <a:t>Proportion</a:t>
            </a:r>
          </a:p>
          <a:p>
            <a:pPr lvl="1"/>
            <a:r>
              <a:rPr lang="en-US" dirty="0"/>
              <a:t>Percentage</a:t>
            </a:r>
          </a:p>
          <a:p>
            <a:pPr lvl="1"/>
            <a:endParaRPr lang="en-US" dirty="0"/>
          </a:p>
        </p:txBody>
      </p:sp>
    </p:spTree>
    <p:extLst>
      <p:ext uri="{BB962C8B-B14F-4D97-AF65-F5344CB8AC3E}">
        <p14:creationId xmlns:p14="http://schemas.microsoft.com/office/powerpoint/2010/main" val="1755703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0" y="134482"/>
            <a:ext cx="13546138" cy="1113432"/>
          </a:xfrm>
        </p:spPr>
        <p:txBody>
          <a:bodyPr>
            <a:normAutofit/>
          </a:bodyPr>
          <a:lstStyle/>
          <a:p>
            <a:r>
              <a:rPr lang="en-US" altLang="en-US" dirty="0"/>
              <a:t>Figure 3-1 Definitions of mathematical terms that are used in epidemiology</a:t>
            </a:r>
          </a:p>
        </p:txBody>
      </p:sp>
      <p:pic>
        <p:nvPicPr>
          <p:cNvPr id="4" name="Picture 3" descr="The trend graph plots sex ratio versus year from 1990 to 2020. The data inferred from the graph is as follows: 20 years: The trend starts at 100 in 1990, remains still, and declines at 2020; 40 years: The trend starts at 99 in 1990, fluctuates, and declines to 100 in 2020; 60 years: The trend starts at 90 in 1990, gradually rises, drops to 85, and declines to 95 in 2020; 80 years: The trend starts at 55 in 1990, gradually increases from 2004 up to 80 in 2010, and declines to 78 in 2020; 60 years: The trend starts at 30 in 1990, gradually drops to 20 in 2000., and increases and declines to 35 in 2020. Note that the above-mentioned values are approximate." title="Figure 3.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98805" y="1772920"/>
            <a:ext cx="5748528" cy="5048532"/>
          </a:xfrm>
          <a:prstGeom prst="rect">
            <a:avLst/>
          </a:prstGeom>
        </p:spPr>
      </p:pic>
    </p:spTree>
    <p:extLst>
      <p:ext uri="{BB962C8B-B14F-4D97-AF65-F5344CB8AC3E}">
        <p14:creationId xmlns:p14="http://schemas.microsoft.com/office/powerpoint/2010/main" val="707575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
          <p:cNvSpPr>
            <a:spLocks noGrp="1" noChangeArrowheads="1"/>
          </p:cNvSpPr>
          <p:nvPr>
            <p:ph type="title"/>
          </p:nvPr>
        </p:nvSpPr>
        <p:spPr>
          <a:xfrm>
            <a:off x="0" y="134482"/>
            <a:ext cx="13546138" cy="1113432"/>
          </a:xfrm>
        </p:spPr>
        <p:txBody>
          <a:bodyPr/>
          <a:lstStyle/>
          <a:p>
            <a:r>
              <a:rPr lang="en-US" altLang="en-US" dirty="0"/>
              <a:t>Ratio</a:t>
            </a:r>
          </a:p>
        </p:txBody>
      </p:sp>
      <p:sp>
        <p:nvSpPr>
          <p:cNvPr id="16387" name="Rectangle 2"/>
          <p:cNvSpPr>
            <a:spLocks noGrp="1" noChangeArrowheads="1"/>
          </p:cNvSpPr>
          <p:nvPr>
            <p:ph idx="1"/>
          </p:nvPr>
        </p:nvSpPr>
        <p:spPr>
          <a:xfrm>
            <a:off x="1028660" y="1656523"/>
            <a:ext cx="11429554" cy="5221163"/>
          </a:xfrm>
        </p:spPr>
        <p:txBody>
          <a:bodyPr/>
          <a:lstStyle/>
          <a:p>
            <a:r>
              <a:rPr lang="en-US" altLang="en-US" dirty="0"/>
              <a:t>Ratio is “the value obtained by dividing one quantity by another.”</a:t>
            </a:r>
          </a:p>
        </p:txBody>
      </p:sp>
    </p:spTree>
    <p:extLst>
      <p:ext uri="{BB962C8B-B14F-4D97-AF65-F5344CB8AC3E}">
        <p14:creationId xmlns:p14="http://schemas.microsoft.com/office/powerpoint/2010/main" val="578280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
          <p:cNvSpPr>
            <a:spLocks noGrp="1" noChangeArrowheads="1"/>
          </p:cNvSpPr>
          <p:nvPr>
            <p:ph type="title"/>
          </p:nvPr>
        </p:nvSpPr>
        <p:spPr>
          <a:xfrm>
            <a:off x="0" y="134482"/>
            <a:ext cx="13546138" cy="1113432"/>
          </a:xfrm>
        </p:spPr>
        <p:txBody>
          <a:bodyPr/>
          <a:lstStyle/>
          <a:p>
            <a:r>
              <a:rPr lang="en-US" altLang="en-US" dirty="0"/>
              <a:t>Example of a Ratio Calculation</a:t>
            </a:r>
          </a:p>
        </p:txBody>
      </p:sp>
      <p:sp>
        <p:nvSpPr>
          <p:cNvPr id="17411" name="Rectangle 2"/>
          <p:cNvSpPr>
            <a:spLocks noGrp="1" noChangeArrowheads="1"/>
          </p:cNvSpPr>
          <p:nvPr>
            <p:ph idx="1"/>
          </p:nvPr>
        </p:nvSpPr>
        <p:spPr>
          <a:xfrm>
            <a:off x="1028660" y="1656523"/>
            <a:ext cx="11429554" cy="5221163"/>
          </a:xfrm>
        </p:spPr>
        <p:txBody>
          <a:bodyPr/>
          <a:lstStyle/>
          <a:p>
            <a:r>
              <a:rPr lang="en-US" altLang="en-US" dirty="0"/>
              <a:t>With respect to COVID-19 mortality, sex ratio of deaths (male to female deaths) = X/Y, where:</a:t>
            </a:r>
          </a:p>
          <a:p>
            <a:pPr lvl="1"/>
            <a:r>
              <a:rPr lang="en-US" altLang="en-US" dirty="0"/>
              <a:t>X = 511,000</a:t>
            </a:r>
          </a:p>
          <a:p>
            <a:pPr lvl="1"/>
            <a:r>
              <a:rPr lang="en-US" altLang="en-US" dirty="0"/>
              <a:t>Y = 421,000</a:t>
            </a:r>
          </a:p>
          <a:p>
            <a:r>
              <a:rPr lang="en-US" altLang="en-US" dirty="0"/>
              <a:t>Sex ratio = 511,000/421,000 = 1.2 to 1 (approximately)</a:t>
            </a:r>
          </a:p>
        </p:txBody>
      </p:sp>
    </p:spTree>
    <p:extLst>
      <p:ext uri="{BB962C8B-B14F-4D97-AF65-F5344CB8AC3E}">
        <p14:creationId xmlns:p14="http://schemas.microsoft.com/office/powerpoint/2010/main" val="2298728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
          <p:cNvSpPr>
            <a:spLocks noGrp="1" noChangeArrowheads="1"/>
          </p:cNvSpPr>
          <p:nvPr>
            <p:ph type="title"/>
          </p:nvPr>
        </p:nvSpPr>
        <p:spPr>
          <a:xfrm>
            <a:off x="0" y="134482"/>
            <a:ext cx="13546138" cy="1113432"/>
          </a:xfrm>
        </p:spPr>
        <p:txBody>
          <a:bodyPr/>
          <a:lstStyle/>
          <a:p>
            <a:r>
              <a:rPr lang="en-US" altLang="en-US" dirty="0"/>
              <a:t>Proportion</a:t>
            </a:r>
          </a:p>
        </p:txBody>
      </p:sp>
      <p:sp>
        <p:nvSpPr>
          <p:cNvPr id="19459" name="Rectangle 2"/>
          <p:cNvSpPr>
            <a:spLocks noGrp="1" noChangeArrowheads="1"/>
          </p:cNvSpPr>
          <p:nvPr>
            <p:ph idx="1"/>
          </p:nvPr>
        </p:nvSpPr>
        <p:spPr>
          <a:xfrm>
            <a:off x="1028660" y="1656523"/>
            <a:ext cx="11429554" cy="5221163"/>
          </a:xfrm>
        </p:spPr>
        <p:txBody>
          <a:bodyPr/>
          <a:lstStyle/>
          <a:p>
            <a:r>
              <a:rPr lang="en-US" altLang="en-US" dirty="0"/>
              <a:t>Type of ratio in which numerator is part of denominator</a:t>
            </a:r>
          </a:p>
          <a:p>
            <a:r>
              <a:rPr lang="en-US" altLang="en-US" dirty="0"/>
              <a:t>May be expressed as percentage</a:t>
            </a:r>
          </a:p>
        </p:txBody>
      </p:sp>
    </p:spTree>
    <p:extLst>
      <p:ext uri="{BB962C8B-B14F-4D97-AF65-F5344CB8AC3E}">
        <p14:creationId xmlns:p14="http://schemas.microsoft.com/office/powerpoint/2010/main" val="2619547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
          <p:cNvSpPr>
            <a:spLocks noGrp="1" noChangeArrowheads="1"/>
          </p:cNvSpPr>
          <p:nvPr>
            <p:ph type="title"/>
          </p:nvPr>
        </p:nvSpPr>
        <p:spPr>
          <a:xfrm>
            <a:off x="0" y="134482"/>
            <a:ext cx="13546138" cy="1113432"/>
          </a:xfrm>
        </p:spPr>
        <p:txBody>
          <a:bodyPr/>
          <a:lstStyle/>
          <a:p>
            <a:r>
              <a:rPr lang="en-US" altLang="en-US" dirty="0"/>
              <a:t>Example of a Proportion</a:t>
            </a:r>
          </a:p>
        </p:txBody>
      </p:sp>
      <p:sp>
        <p:nvSpPr>
          <p:cNvPr id="20483" name="Rectangle 2"/>
          <p:cNvSpPr>
            <a:spLocks noGrp="1" noChangeArrowheads="1"/>
          </p:cNvSpPr>
          <p:nvPr>
            <p:ph idx="1"/>
          </p:nvPr>
        </p:nvSpPr>
        <p:spPr>
          <a:xfrm>
            <a:off x="1028660" y="1656523"/>
            <a:ext cx="11429554" cy="5221163"/>
          </a:xfrm>
        </p:spPr>
        <p:txBody>
          <a:bodyPr/>
          <a:lstStyle/>
          <a:p>
            <a:r>
              <a:rPr lang="en-US" altLang="en-US" dirty="0"/>
              <a:t>Calculate proportion of deaths from COVID-19 that occurred among males.</a:t>
            </a:r>
          </a:p>
          <a:p>
            <a:endParaRPr lang="en-US" altLang="en-US" dirty="0"/>
          </a:p>
        </p:txBody>
      </p:sp>
      <p:graphicFrame>
        <p:nvGraphicFramePr>
          <p:cNvPr id="6" name="Table 5">
            <a:extLst>
              <a:ext uri="{FF2B5EF4-FFF2-40B4-BE49-F238E27FC236}">
                <a16:creationId xmlns:a16="http://schemas.microsoft.com/office/drawing/2014/main" id="{EB9FEE1F-06BD-3C92-17E2-0D0C75262EDD}"/>
              </a:ext>
            </a:extLst>
          </p:cNvPr>
          <p:cNvGraphicFramePr>
            <a:graphicFrameLocks noGrp="1"/>
          </p:cNvGraphicFramePr>
          <p:nvPr>
            <p:extLst>
              <p:ext uri="{D42A27DB-BD31-4B8C-83A1-F6EECF244321}">
                <p14:modId xmlns:p14="http://schemas.microsoft.com/office/powerpoint/2010/main" val="3267217009"/>
              </p:ext>
            </p:extLst>
          </p:nvPr>
        </p:nvGraphicFramePr>
        <p:xfrm>
          <a:off x="1028700" y="3048000"/>
          <a:ext cx="11430000" cy="219456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14014774"/>
                    </a:ext>
                  </a:extLst>
                </a:gridCol>
                <a:gridCol w="3810000">
                  <a:extLst>
                    <a:ext uri="{9D8B030D-6E8A-4147-A177-3AD203B41FA5}">
                      <a16:colId xmlns:a16="http://schemas.microsoft.com/office/drawing/2014/main" val="4177498391"/>
                    </a:ext>
                  </a:extLst>
                </a:gridCol>
                <a:gridCol w="3810000">
                  <a:extLst>
                    <a:ext uri="{9D8B030D-6E8A-4147-A177-3AD203B41FA5}">
                      <a16:colId xmlns:a16="http://schemas.microsoft.com/office/drawing/2014/main" val="700389336"/>
                    </a:ext>
                  </a:extLst>
                </a:gridCol>
              </a:tblGrid>
              <a:tr h="370840">
                <a:tc>
                  <a:txBody>
                    <a:bodyPr/>
                    <a:lstStyle/>
                    <a:p>
                      <a:r>
                        <a:rPr lang="en-US" sz="2400" dirty="0">
                          <a:solidFill>
                            <a:schemeClr val="tx1"/>
                          </a:solidFill>
                        </a:rPr>
                        <a:t>A</a:t>
                      </a:r>
                    </a:p>
                  </a:txBody>
                  <a:tcPr/>
                </a:tc>
                <a:tc>
                  <a:txBody>
                    <a:bodyPr/>
                    <a:lstStyle/>
                    <a:p>
                      <a:r>
                        <a:rPr lang="en-US" sz="2400" dirty="0">
                          <a:solidFill>
                            <a:schemeClr val="tx1"/>
                          </a:solidFill>
                        </a:rPr>
                        <a:t>B</a:t>
                      </a:r>
                    </a:p>
                  </a:txBody>
                  <a:tcPr/>
                </a:tc>
                <a:tc>
                  <a:txBody>
                    <a:bodyPr/>
                    <a:lstStyle/>
                    <a:p>
                      <a:r>
                        <a:rPr lang="en-US" sz="2400" dirty="0">
                          <a:solidFill>
                            <a:schemeClr val="tx1"/>
                          </a:solidFill>
                        </a:rPr>
                        <a:t>Total (A + B)</a:t>
                      </a:r>
                    </a:p>
                  </a:txBody>
                  <a:tcPr/>
                </a:tc>
                <a:extLst>
                  <a:ext uri="{0D108BD9-81ED-4DB2-BD59-A6C34878D82A}">
                    <a16:rowId xmlns:a16="http://schemas.microsoft.com/office/drawing/2014/main" val="1973324777"/>
                  </a:ext>
                </a:extLst>
              </a:tr>
              <a:tr h="370840">
                <a:tc>
                  <a:txBody>
                    <a:bodyPr/>
                    <a:lstStyle/>
                    <a:p>
                      <a:pPr marL="0" marR="0" lvl="0" indent="0" algn="l" defTabSz="1015990" rtl="0" eaLnBrk="1" fontAlgn="auto" latinLnBrk="0" hangingPunct="1">
                        <a:lnSpc>
                          <a:spcPct val="100000"/>
                        </a:lnSpc>
                        <a:spcBef>
                          <a:spcPts val="0"/>
                        </a:spcBef>
                        <a:spcAft>
                          <a:spcPts val="0"/>
                        </a:spcAft>
                        <a:buClrTx/>
                        <a:buSzTx/>
                        <a:buFontTx/>
                        <a:buNone/>
                        <a:tabLst/>
                        <a:defRPr/>
                      </a:pPr>
                      <a:r>
                        <a:rPr lang="en-US" altLang="en-US" sz="2400" dirty="0">
                          <a:solidFill>
                            <a:schemeClr val="tx1"/>
                          </a:solidFill>
                        </a:rPr>
                        <a:t>Number of deaths from COVID-19 among males</a:t>
                      </a:r>
                    </a:p>
                  </a:txBody>
                  <a:tcPr/>
                </a:tc>
                <a:tc>
                  <a:txBody>
                    <a:bodyPr/>
                    <a:lstStyle/>
                    <a:p>
                      <a:pPr marL="0" marR="0" lvl="0" indent="0" algn="l" defTabSz="1015990" rtl="0" eaLnBrk="1" fontAlgn="auto" latinLnBrk="0" hangingPunct="1">
                        <a:lnSpc>
                          <a:spcPct val="100000"/>
                        </a:lnSpc>
                        <a:spcBef>
                          <a:spcPts val="0"/>
                        </a:spcBef>
                        <a:spcAft>
                          <a:spcPts val="0"/>
                        </a:spcAft>
                        <a:buClrTx/>
                        <a:buSzTx/>
                        <a:buFontTx/>
                        <a:buNone/>
                        <a:tabLst/>
                        <a:defRPr/>
                      </a:pPr>
                      <a:r>
                        <a:rPr lang="en-US" altLang="en-US" sz="2400" dirty="0">
                          <a:solidFill>
                            <a:schemeClr val="tx1"/>
                          </a:solidFill>
                        </a:rPr>
                        <a:t>Number of deaths from COVID-19 among females</a:t>
                      </a:r>
                    </a:p>
                  </a:txBody>
                  <a:tcPr/>
                </a:tc>
                <a:tc>
                  <a:txBody>
                    <a:bodyPr/>
                    <a:lstStyle/>
                    <a:p>
                      <a:r>
                        <a:rPr lang="en-US" sz="2400" dirty="0">
                          <a:solidFill>
                            <a:schemeClr val="tx1"/>
                          </a:solidFill>
                        </a:rPr>
                        <a:t>Total</a:t>
                      </a:r>
                    </a:p>
                  </a:txBody>
                  <a:tcPr/>
                </a:tc>
                <a:extLst>
                  <a:ext uri="{0D108BD9-81ED-4DB2-BD59-A6C34878D82A}">
                    <a16:rowId xmlns:a16="http://schemas.microsoft.com/office/drawing/2014/main" val="347269071"/>
                  </a:ext>
                </a:extLst>
              </a:tr>
              <a:tr h="370840">
                <a:tc>
                  <a:txBody>
                    <a:bodyPr/>
                    <a:lstStyle/>
                    <a:p>
                      <a:pPr marL="0" marR="0" lvl="0" indent="0" algn="l" defTabSz="1015990" rtl="0" eaLnBrk="1" fontAlgn="auto" latinLnBrk="0" hangingPunct="1">
                        <a:lnSpc>
                          <a:spcPct val="100000"/>
                        </a:lnSpc>
                        <a:spcBef>
                          <a:spcPts val="0"/>
                        </a:spcBef>
                        <a:spcAft>
                          <a:spcPts val="0"/>
                        </a:spcAft>
                        <a:buClrTx/>
                        <a:buSzTx/>
                        <a:buFontTx/>
                        <a:buNone/>
                        <a:tabLst/>
                        <a:defRPr/>
                      </a:pPr>
                      <a:r>
                        <a:rPr lang="en-US" altLang="en-US" sz="2400" dirty="0">
                          <a:solidFill>
                            <a:schemeClr val="tx1"/>
                          </a:solidFill>
                        </a:rPr>
                        <a:t>511,000</a:t>
                      </a:r>
                    </a:p>
                  </a:txBody>
                  <a:tcPr/>
                </a:tc>
                <a:tc>
                  <a:txBody>
                    <a:bodyPr/>
                    <a:lstStyle/>
                    <a:p>
                      <a:pPr marL="0" marR="0" lvl="0" indent="0" algn="l" defTabSz="1015990" rtl="0" eaLnBrk="1" fontAlgn="auto" latinLnBrk="0" hangingPunct="1">
                        <a:lnSpc>
                          <a:spcPct val="100000"/>
                        </a:lnSpc>
                        <a:spcBef>
                          <a:spcPts val="0"/>
                        </a:spcBef>
                        <a:spcAft>
                          <a:spcPts val="0"/>
                        </a:spcAft>
                        <a:buClrTx/>
                        <a:buSzTx/>
                        <a:buFontTx/>
                        <a:buNone/>
                        <a:tabLst/>
                        <a:defRPr/>
                      </a:pPr>
                      <a:r>
                        <a:rPr lang="en-US" altLang="en-US" sz="2400" dirty="0">
                          <a:solidFill>
                            <a:schemeClr val="tx1"/>
                          </a:solidFill>
                        </a:rPr>
                        <a:t>421,860</a:t>
                      </a:r>
                    </a:p>
                  </a:txBody>
                  <a:tcPr/>
                </a:tc>
                <a:tc>
                  <a:txBody>
                    <a:bodyPr/>
                    <a:lstStyle/>
                    <a:p>
                      <a:pPr marL="0" marR="0" lvl="0" indent="0" algn="l" defTabSz="1015990" rtl="0" eaLnBrk="1" fontAlgn="auto" latinLnBrk="0" hangingPunct="1">
                        <a:lnSpc>
                          <a:spcPct val="100000"/>
                        </a:lnSpc>
                        <a:spcBef>
                          <a:spcPts val="0"/>
                        </a:spcBef>
                        <a:spcAft>
                          <a:spcPts val="0"/>
                        </a:spcAft>
                        <a:buClrTx/>
                        <a:buSzTx/>
                        <a:buFontTx/>
                        <a:buNone/>
                        <a:tabLst/>
                        <a:defRPr/>
                      </a:pPr>
                      <a:r>
                        <a:rPr lang="en-US" altLang="en-US" sz="2400" dirty="0">
                          <a:solidFill>
                            <a:schemeClr val="tx1"/>
                          </a:solidFill>
                        </a:rPr>
                        <a:t>511,000+421,860</a:t>
                      </a:r>
                    </a:p>
                  </a:txBody>
                  <a:tcPr/>
                </a:tc>
                <a:extLst>
                  <a:ext uri="{0D108BD9-81ED-4DB2-BD59-A6C34878D82A}">
                    <a16:rowId xmlns:a16="http://schemas.microsoft.com/office/drawing/2014/main" val="2479535887"/>
                  </a:ext>
                </a:extLst>
              </a:tr>
              <a:tr h="370840">
                <a:tc gridSpan="3">
                  <a:txBody>
                    <a:bodyPr/>
                    <a:lstStyle/>
                    <a:p>
                      <a:pPr marL="0" marR="0" lvl="0" indent="0" algn="l" defTabSz="1015990" rtl="0" eaLnBrk="1" fontAlgn="auto" latinLnBrk="0" hangingPunct="1">
                        <a:lnSpc>
                          <a:spcPct val="100000"/>
                        </a:lnSpc>
                        <a:spcBef>
                          <a:spcPts val="0"/>
                        </a:spcBef>
                        <a:spcAft>
                          <a:spcPts val="0"/>
                        </a:spcAft>
                        <a:buClrTx/>
                        <a:buSzTx/>
                        <a:buFontTx/>
                        <a:buNone/>
                        <a:tabLst/>
                        <a:defRPr/>
                      </a:pPr>
                      <a:r>
                        <a:rPr lang="en-US" altLang="en-US" sz="2400" dirty="0">
                          <a:solidFill>
                            <a:schemeClr val="tx1"/>
                          </a:solidFill>
                        </a:rPr>
                        <a:t>Proportion = A/(A + B)  = 511,000/(511,000 + 421,860) = 0.55</a:t>
                      </a:r>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3615375048"/>
                  </a:ext>
                </a:extLst>
              </a:tr>
            </a:tbl>
          </a:graphicData>
        </a:graphic>
      </p:graphicFrame>
    </p:spTree>
    <p:extLst>
      <p:ext uri="{BB962C8B-B14F-4D97-AF65-F5344CB8AC3E}">
        <p14:creationId xmlns:p14="http://schemas.microsoft.com/office/powerpoint/2010/main" val="3830610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134482"/>
            <a:ext cx="13546138" cy="1113432"/>
          </a:xfrm>
        </p:spPr>
        <p:txBody>
          <a:bodyPr/>
          <a:lstStyle/>
          <a:p>
            <a:r>
              <a:rPr lang="en-US" altLang="en-US" dirty="0"/>
              <a:t>Percentage</a:t>
            </a:r>
          </a:p>
        </p:txBody>
      </p:sp>
      <p:sp>
        <p:nvSpPr>
          <p:cNvPr id="21507" name="Rectangle 3"/>
          <p:cNvSpPr>
            <a:spLocks noGrp="1" noChangeArrowheads="1"/>
          </p:cNvSpPr>
          <p:nvPr>
            <p:ph idx="1"/>
          </p:nvPr>
        </p:nvSpPr>
        <p:spPr>
          <a:xfrm>
            <a:off x="1028660" y="1656523"/>
            <a:ext cx="11429554" cy="5221163"/>
          </a:xfrm>
        </p:spPr>
        <p:txBody>
          <a:bodyPr/>
          <a:lstStyle/>
          <a:p>
            <a:r>
              <a:rPr lang="en-US" altLang="en-US" dirty="0"/>
              <a:t>Proportion that has been multiplied by 100.</a:t>
            </a:r>
          </a:p>
          <a:p>
            <a:r>
              <a:rPr lang="en-US" altLang="en-US" dirty="0"/>
              <a:t>Formula is (A/A + B) × 100.</a:t>
            </a:r>
          </a:p>
          <a:p>
            <a:r>
              <a:rPr lang="en-US" altLang="en-US" dirty="0"/>
              <a:t>From previous slide:</a:t>
            </a:r>
          </a:p>
          <a:p>
            <a:pPr lvl="1"/>
            <a:r>
              <a:rPr lang="en-US" altLang="en-US" dirty="0"/>
              <a:t>Percentage of COVID-19 deaths that occurred among males was (0.55 × 100) = 55%.</a:t>
            </a:r>
          </a:p>
        </p:txBody>
      </p:sp>
    </p:spTree>
    <p:extLst>
      <p:ext uri="{BB962C8B-B14F-4D97-AF65-F5344CB8AC3E}">
        <p14:creationId xmlns:p14="http://schemas.microsoft.com/office/powerpoint/2010/main" val="1304223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p:cNvSpPr>
            <a:spLocks noGrp="1" noChangeArrowheads="1"/>
          </p:cNvSpPr>
          <p:nvPr>
            <p:ph type="title"/>
          </p:nvPr>
        </p:nvSpPr>
        <p:spPr>
          <a:xfrm>
            <a:off x="0" y="134482"/>
            <a:ext cx="13546138" cy="1113432"/>
          </a:xfrm>
        </p:spPr>
        <p:txBody>
          <a:bodyPr/>
          <a:lstStyle/>
          <a:p>
            <a:r>
              <a:rPr lang="en-US" altLang="en-US" dirty="0"/>
              <a:t>Rate</a:t>
            </a:r>
          </a:p>
        </p:txBody>
      </p:sp>
      <p:sp>
        <p:nvSpPr>
          <p:cNvPr id="22531" name="Rectangle 2"/>
          <p:cNvSpPr>
            <a:spLocks noGrp="1" noChangeArrowheads="1"/>
          </p:cNvSpPr>
          <p:nvPr>
            <p:ph idx="1"/>
          </p:nvPr>
        </p:nvSpPr>
        <p:spPr>
          <a:xfrm>
            <a:off x="1028660" y="1656523"/>
            <a:ext cx="11429554" cy="5221163"/>
          </a:xfrm>
        </p:spPr>
        <p:txBody>
          <a:bodyPr/>
          <a:lstStyle/>
          <a:p>
            <a:r>
              <a:rPr lang="en-US" altLang="en-US" dirty="0"/>
              <a:t>Another type of ratio but differs from proportion because denominator involves a measure of time</a:t>
            </a:r>
          </a:p>
          <a:p>
            <a:r>
              <a:rPr lang="en-US" altLang="en-US" dirty="0"/>
              <a:t>Numerator: Number of health events</a:t>
            </a:r>
          </a:p>
          <a:p>
            <a:r>
              <a:rPr lang="en-US" altLang="en-US" dirty="0"/>
              <a:t>Denominator: Population in which events occur</a:t>
            </a:r>
          </a:p>
          <a:p>
            <a:r>
              <a:rPr lang="en-US" altLang="en-US" dirty="0"/>
              <a:t>Measure of time</a:t>
            </a:r>
          </a:p>
        </p:txBody>
      </p:sp>
    </p:spTree>
    <p:extLst>
      <p:ext uri="{BB962C8B-B14F-4D97-AF65-F5344CB8AC3E}">
        <p14:creationId xmlns:p14="http://schemas.microsoft.com/office/powerpoint/2010/main" val="594721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
          <p:cNvSpPr>
            <a:spLocks noGrp="1" noChangeArrowheads="1"/>
          </p:cNvSpPr>
          <p:nvPr>
            <p:ph type="title"/>
          </p:nvPr>
        </p:nvSpPr>
        <p:spPr>
          <a:xfrm>
            <a:off x="0" y="134482"/>
            <a:ext cx="13546138" cy="1113432"/>
          </a:xfrm>
        </p:spPr>
        <p:txBody>
          <a:bodyPr/>
          <a:lstStyle/>
          <a:p>
            <a:r>
              <a:rPr lang="en-US" dirty="0"/>
              <a:t>General Information Regarding Epidemiologic Measures </a:t>
            </a:r>
          </a:p>
        </p:txBody>
      </p:sp>
      <p:sp>
        <p:nvSpPr>
          <p:cNvPr id="23555" name="Rectangle 2"/>
          <p:cNvSpPr>
            <a:spLocks noGrp="1" noChangeArrowheads="1"/>
          </p:cNvSpPr>
          <p:nvPr>
            <p:ph idx="1"/>
          </p:nvPr>
        </p:nvSpPr>
        <p:spPr>
          <a:xfrm>
            <a:off x="1028660" y="1656523"/>
            <a:ext cx="11429554" cy="5221163"/>
          </a:xfrm>
        </p:spPr>
        <p:txBody>
          <a:bodyPr/>
          <a:lstStyle/>
          <a:p>
            <a:r>
              <a:rPr lang="en-US" dirty="0"/>
              <a:t>Epidemiologic measures provide the following types of information</a:t>
            </a:r>
          </a:p>
          <a:p>
            <a:pPr lvl="1"/>
            <a:r>
              <a:rPr lang="en-US" dirty="0"/>
              <a:t>Frequency of a disease or condition</a:t>
            </a:r>
          </a:p>
          <a:p>
            <a:pPr lvl="1"/>
            <a:r>
              <a:rPr lang="en-US" dirty="0"/>
              <a:t>Associations between exposures and health outcomes</a:t>
            </a:r>
          </a:p>
          <a:p>
            <a:pPr lvl="1"/>
            <a:r>
              <a:rPr lang="en-US" dirty="0"/>
              <a:t>Strength of relationship between an exposure and health outcome</a:t>
            </a:r>
          </a:p>
        </p:txBody>
      </p:sp>
    </p:spTree>
    <p:extLst>
      <p:ext uri="{BB962C8B-B14F-4D97-AF65-F5344CB8AC3E}">
        <p14:creationId xmlns:p14="http://schemas.microsoft.com/office/powerpoint/2010/main" val="2087963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
          <p:cNvSpPr>
            <a:spLocks noGrp="1" noChangeArrowheads="1"/>
          </p:cNvSpPr>
          <p:nvPr>
            <p:ph type="title"/>
          </p:nvPr>
        </p:nvSpPr>
        <p:spPr>
          <a:xfrm>
            <a:off x="0" y="134482"/>
            <a:ext cx="13546138" cy="1113432"/>
          </a:xfrm>
        </p:spPr>
        <p:txBody>
          <a:bodyPr/>
          <a:lstStyle/>
          <a:p>
            <a:r>
              <a:rPr lang="en-US" dirty="0"/>
              <a:t>Types of Epidemiologic Measures</a:t>
            </a:r>
          </a:p>
        </p:txBody>
      </p:sp>
      <p:sp>
        <p:nvSpPr>
          <p:cNvPr id="24579" name="Rectangle 2"/>
          <p:cNvSpPr>
            <a:spLocks noGrp="1" noChangeArrowheads="1"/>
          </p:cNvSpPr>
          <p:nvPr>
            <p:ph idx="1"/>
          </p:nvPr>
        </p:nvSpPr>
        <p:spPr>
          <a:xfrm>
            <a:off x="1028660" y="1656523"/>
            <a:ext cx="11429554" cy="5221163"/>
          </a:xfrm>
        </p:spPr>
        <p:txBody>
          <a:bodyPr/>
          <a:lstStyle/>
          <a:p>
            <a:r>
              <a:rPr lang="en-US" dirty="0"/>
              <a:t>Quantitative terms are useful in epidemiology to characterize occurrence of disease, morbidity, and mortality in populations.</a:t>
            </a:r>
          </a:p>
          <a:p>
            <a:r>
              <a:rPr lang="en-US" dirty="0"/>
              <a:t>Quantitative terms</a:t>
            </a:r>
          </a:p>
          <a:p>
            <a:pPr lvl="1"/>
            <a:r>
              <a:rPr lang="en-US" dirty="0"/>
              <a:t>Counts</a:t>
            </a:r>
          </a:p>
          <a:p>
            <a:pPr lvl="1"/>
            <a:r>
              <a:rPr lang="en-US" dirty="0"/>
              <a:t>Incidence</a:t>
            </a:r>
          </a:p>
          <a:p>
            <a:pPr lvl="1"/>
            <a:r>
              <a:rPr lang="en-US" dirty="0"/>
              <a:t>Prevalence</a:t>
            </a:r>
          </a:p>
        </p:txBody>
      </p:sp>
    </p:spTree>
    <p:extLst>
      <p:ext uri="{BB962C8B-B14F-4D97-AF65-F5344CB8AC3E}">
        <p14:creationId xmlns:p14="http://schemas.microsoft.com/office/powerpoint/2010/main" val="1128008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
          <p:cNvSpPr>
            <a:spLocks noGrp="1" noChangeArrowheads="1"/>
          </p:cNvSpPr>
          <p:nvPr>
            <p:ph type="title"/>
          </p:nvPr>
        </p:nvSpPr>
        <p:spPr>
          <a:xfrm>
            <a:off x="0" y="134482"/>
            <a:ext cx="13546138" cy="1113432"/>
          </a:xfrm>
        </p:spPr>
        <p:txBody>
          <a:bodyPr/>
          <a:lstStyle/>
          <a:p>
            <a:r>
              <a:rPr lang="en-US" altLang="en-US" dirty="0"/>
              <a:t>Count</a:t>
            </a:r>
          </a:p>
        </p:txBody>
      </p:sp>
      <p:sp>
        <p:nvSpPr>
          <p:cNvPr id="26627" name="Rectangle 2"/>
          <p:cNvSpPr>
            <a:spLocks noGrp="1" noChangeArrowheads="1"/>
          </p:cNvSpPr>
          <p:nvPr>
            <p:ph idx="1"/>
          </p:nvPr>
        </p:nvSpPr>
        <p:spPr>
          <a:xfrm>
            <a:off x="1028660" y="1656523"/>
            <a:ext cx="11429554" cy="5221163"/>
          </a:xfrm>
        </p:spPr>
        <p:txBody>
          <a:bodyPr/>
          <a:lstStyle/>
          <a:p>
            <a:r>
              <a:rPr lang="en-US" dirty="0"/>
              <a:t>Number of cases of a disease or other health phenomenon being studied</a:t>
            </a:r>
          </a:p>
          <a:p>
            <a:r>
              <a:rPr lang="en-US" dirty="0"/>
              <a:t>Reports of single cases may have public health significance.</a:t>
            </a:r>
          </a:p>
          <a:p>
            <a:pPr lvl="1"/>
            <a:r>
              <a:rPr lang="en-US" dirty="0"/>
              <a:t>Case reports of patients with particularly unusual presentations or combinations of symptoms often spur epidemiologic investigations. </a:t>
            </a:r>
          </a:p>
          <a:p>
            <a:pPr lvl="1"/>
            <a:r>
              <a:rPr lang="en-US" dirty="0"/>
              <a:t>Example: One case of Ebola viral disease</a:t>
            </a:r>
          </a:p>
          <a:p>
            <a:r>
              <a:rPr lang="en-US" dirty="0"/>
              <a:t>Lack of denominator information makes interpretation difficult.</a:t>
            </a:r>
          </a:p>
        </p:txBody>
      </p:sp>
    </p:spTree>
    <p:extLst>
      <p:ext uri="{BB962C8B-B14F-4D97-AF65-F5344CB8AC3E}">
        <p14:creationId xmlns:p14="http://schemas.microsoft.com/office/powerpoint/2010/main" val="944715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
          <p:cNvSpPr>
            <a:spLocks noGrp="1" noChangeArrowheads="1"/>
          </p:cNvSpPr>
          <p:nvPr>
            <p:ph type="title"/>
          </p:nvPr>
        </p:nvSpPr>
        <p:spPr>
          <a:xfrm>
            <a:off x="0" y="134482"/>
            <a:ext cx="13546138" cy="1113432"/>
          </a:xfrm>
        </p:spPr>
        <p:txBody>
          <a:bodyPr/>
          <a:lstStyle/>
          <a:p>
            <a:r>
              <a:rPr lang="en-US" altLang="en-US" dirty="0"/>
              <a:t>Incidence</a:t>
            </a:r>
          </a:p>
        </p:txBody>
      </p:sp>
      <p:sp>
        <p:nvSpPr>
          <p:cNvPr id="27651" name="Rectangle 2"/>
          <p:cNvSpPr>
            <a:spLocks noGrp="1" noChangeArrowheads="1"/>
          </p:cNvSpPr>
          <p:nvPr>
            <p:ph idx="1"/>
          </p:nvPr>
        </p:nvSpPr>
        <p:spPr>
          <a:xfrm>
            <a:off x="1028660" y="1656523"/>
            <a:ext cx="11429554" cy="5221163"/>
          </a:xfrm>
        </p:spPr>
        <p:txBody>
          <a:bodyPr/>
          <a:lstStyle/>
          <a:p>
            <a:r>
              <a:rPr lang="en-US" dirty="0"/>
              <a:t>Occurrence of new disease or mortality within a defined period of observation (e.g., week, month, year, or other time period) in specified population</a:t>
            </a:r>
          </a:p>
          <a:p>
            <a:r>
              <a:rPr lang="en-US" dirty="0"/>
              <a:t>Can be measured in different ways</a:t>
            </a:r>
          </a:p>
          <a:p>
            <a:pPr lvl="1"/>
            <a:r>
              <a:rPr lang="en-US" dirty="0"/>
              <a:t>Cumulative incidence (proportion)</a:t>
            </a:r>
          </a:p>
          <a:p>
            <a:pPr lvl="1"/>
            <a:r>
              <a:rPr lang="en-US" dirty="0"/>
              <a:t>Incidence rate or incidence density rate (rate)</a:t>
            </a:r>
          </a:p>
        </p:txBody>
      </p:sp>
    </p:spTree>
    <p:extLst>
      <p:ext uri="{BB962C8B-B14F-4D97-AF65-F5344CB8AC3E}">
        <p14:creationId xmlns:p14="http://schemas.microsoft.com/office/powerpoint/2010/main" val="1296580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34482"/>
            <a:ext cx="13546138" cy="1113432"/>
          </a:xfrm>
        </p:spPr>
        <p:txBody>
          <a:bodyPr/>
          <a:lstStyle/>
          <a:p>
            <a:r>
              <a:rPr lang="en-US" dirty="0"/>
              <a:t>Incidence Proportion</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B572D024-4D09-D530-D929-39574EBC205E}"/>
                  </a:ext>
                </a:extLst>
              </p:cNvPr>
              <p:cNvSpPr>
                <a:spLocks noGrp="1"/>
              </p:cNvSpPr>
              <p:nvPr>
                <p:ph idx="1"/>
              </p:nvPr>
            </p:nvSpPr>
            <p:spPr/>
            <p:txBody>
              <a:bodyPr/>
              <a:lstStyle/>
              <a:p>
                <a:r>
                  <a:rPr lang="en-US" dirty="0"/>
                  <a:t>Cumulative incidence (incidence proportion) = </a:t>
                </a:r>
              </a:p>
              <a:p>
                <a:endParaRPr lang="en-US" dirty="0"/>
              </a:p>
              <a:p>
                <a:pPr marL="0" indent="0">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m:rPr>
                              <m:nor/>
                            </m:rPr>
                            <a:rPr lang="en-US"/>
                            <m:t>(</m:t>
                          </m:r>
                          <m:r>
                            <m:rPr>
                              <m:nor/>
                            </m:rPr>
                            <a:rPr lang="en-US"/>
                            <m:t>Number</m:t>
                          </m:r>
                          <m:r>
                            <m:rPr>
                              <m:nor/>
                            </m:rPr>
                            <a:rPr lang="en-US"/>
                            <m:t> </m:t>
                          </m:r>
                          <m:r>
                            <m:rPr>
                              <m:nor/>
                            </m:rPr>
                            <a:rPr lang="en-US"/>
                            <m:t>of</m:t>
                          </m:r>
                          <m:r>
                            <m:rPr>
                              <m:nor/>
                            </m:rPr>
                            <a:rPr lang="en-US"/>
                            <m:t> </m:t>
                          </m:r>
                          <m:r>
                            <m:rPr>
                              <m:nor/>
                            </m:rPr>
                            <a:rPr lang="en-US"/>
                            <m:t>new</m:t>
                          </m:r>
                          <m:r>
                            <m:rPr>
                              <m:nor/>
                            </m:rPr>
                            <a:rPr lang="en-US"/>
                            <m:t> </m:t>
                          </m:r>
                          <m:r>
                            <m:rPr>
                              <m:nor/>
                            </m:rPr>
                            <a:rPr lang="en-US"/>
                            <m:t>cases</m:t>
                          </m:r>
                          <m:r>
                            <m:rPr>
                              <m:nor/>
                            </m:rPr>
                            <a:rPr lang="en-US"/>
                            <m:t> </m:t>
                          </m:r>
                          <m:r>
                            <m:rPr>
                              <m:nor/>
                            </m:rPr>
                            <a:rPr lang="en-US"/>
                            <m:t>over</m:t>
                          </m:r>
                          <m:r>
                            <m:rPr>
                              <m:nor/>
                            </m:rPr>
                            <a:rPr lang="en-US"/>
                            <m:t> </m:t>
                          </m:r>
                          <m:r>
                            <m:rPr>
                              <m:nor/>
                            </m:rPr>
                            <a:rPr lang="en-US"/>
                            <m:t>a</m:t>
                          </m:r>
                          <m:r>
                            <m:rPr>
                              <m:nor/>
                            </m:rPr>
                            <a:rPr lang="en-US"/>
                            <m:t> </m:t>
                          </m:r>
                          <m:r>
                            <m:rPr>
                              <m:nor/>
                            </m:rPr>
                            <a:rPr lang="en-US"/>
                            <m:t>time</m:t>
                          </m:r>
                          <m:r>
                            <m:rPr>
                              <m:nor/>
                            </m:rPr>
                            <a:rPr lang="en-US"/>
                            <m:t> </m:t>
                          </m:r>
                          <m:r>
                            <m:rPr>
                              <m:nor/>
                            </m:rPr>
                            <a:rPr lang="en-US"/>
                            <m:t>period</m:t>
                          </m:r>
                          <m:r>
                            <m:rPr>
                              <m:nor/>
                            </m:rPr>
                            <a:rPr lang="en-US"/>
                            <m:t>)</m:t>
                          </m:r>
                        </m:num>
                        <m:den>
                          <m:r>
                            <m:rPr>
                              <m:nor/>
                            </m:rPr>
                            <a:rPr lang="en-US"/>
                            <m:t>(</m:t>
                          </m:r>
                          <m:r>
                            <m:rPr>
                              <m:nor/>
                            </m:rPr>
                            <a:rPr lang="en-US"/>
                            <m:t>Total</m:t>
                          </m:r>
                          <m:r>
                            <m:rPr>
                              <m:nor/>
                            </m:rPr>
                            <a:rPr lang="en-US"/>
                            <m:t> </m:t>
                          </m:r>
                          <m:r>
                            <m:rPr>
                              <m:nor/>
                            </m:rPr>
                            <a:rPr lang="en-US"/>
                            <m:t>population</m:t>
                          </m:r>
                          <m:r>
                            <m:rPr>
                              <m:nor/>
                            </m:rPr>
                            <a:rPr lang="en-US"/>
                            <m:t> </m:t>
                          </m:r>
                          <m:r>
                            <m:rPr>
                              <m:nor/>
                            </m:rPr>
                            <a:rPr lang="en-US"/>
                            <m:t>at</m:t>
                          </m:r>
                          <m:r>
                            <m:rPr>
                              <m:nor/>
                            </m:rPr>
                            <a:rPr lang="en-US"/>
                            <m:t> </m:t>
                          </m:r>
                          <m:r>
                            <m:rPr>
                              <m:nor/>
                            </m:rPr>
                            <a:rPr lang="en-US"/>
                            <m:t>risk</m:t>
                          </m:r>
                          <m:r>
                            <m:rPr>
                              <m:nor/>
                            </m:rPr>
                            <a:rPr lang="en-US"/>
                            <m:t> </m:t>
                          </m:r>
                          <m:r>
                            <m:rPr>
                              <m:nor/>
                            </m:rPr>
                            <a:rPr lang="en-US"/>
                            <m:t>at</m:t>
                          </m:r>
                          <m:r>
                            <m:rPr>
                              <m:nor/>
                            </m:rPr>
                            <a:rPr lang="en-US"/>
                            <m:t> </m:t>
                          </m:r>
                          <m:r>
                            <m:rPr>
                              <m:nor/>
                            </m:rPr>
                            <a:rPr lang="en-US"/>
                            <m:t>the</m:t>
                          </m:r>
                          <m:r>
                            <m:rPr>
                              <m:nor/>
                            </m:rPr>
                            <a:rPr lang="en-US"/>
                            <m:t> </m:t>
                          </m:r>
                          <m:r>
                            <m:rPr>
                              <m:nor/>
                            </m:rPr>
                            <a:rPr lang="en-US"/>
                            <m:t>start</m:t>
                          </m:r>
                          <m:r>
                            <m:rPr>
                              <m:nor/>
                            </m:rPr>
                            <a:rPr lang="en-US"/>
                            <m:t> </m:t>
                          </m:r>
                          <m:r>
                            <m:rPr>
                              <m:nor/>
                            </m:rPr>
                            <a:rPr lang="en-US"/>
                            <m:t>of</m:t>
                          </m:r>
                          <m:r>
                            <m:rPr>
                              <m:nor/>
                            </m:rPr>
                            <a:rPr lang="en-US"/>
                            <m:t> </m:t>
                          </m:r>
                          <m:r>
                            <m:rPr>
                              <m:nor/>
                            </m:rPr>
                            <a:rPr lang="en-US"/>
                            <m:t>the</m:t>
                          </m:r>
                          <m:r>
                            <m:rPr>
                              <m:nor/>
                            </m:rPr>
                            <a:rPr lang="en-US"/>
                            <m:t> </m:t>
                          </m:r>
                          <m:r>
                            <m:rPr>
                              <m:nor/>
                            </m:rPr>
                            <a:rPr lang="en-US"/>
                            <m:t>same</m:t>
                          </m:r>
                          <m:r>
                            <m:rPr>
                              <m:nor/>
                            </m:rPr>
                            <a:rPr lang="en-US"/>
                            <m:t> </m:t>
                          </m:r>
                          <m:r>
                            <m:rPr>
                              <m:nor/>
                            </m:rPr>
                            <a:rPr lang="en-US"/>
                            <m:t>time</m:t>
                          </m:r>
                          <m:r>
                            <m:rPr>
                              <m:nor/>
                            </m:rPr>
                            <a:rPr lang="en-US"/>
                            <m:t> </m:t>
                          </m:r>
                          <m:r>
                            <m:rPr>
                              <m:nor/>
                            </m:rPr>
                            <a:rPr lang="en-US"/>
                            <m:t>period</m:t>
                          </m:r>
                          <m:r>
                            <m:rPr>
                              <m:nor/>
                            </m:rPr>
                            <a:rPr lang="en-US"/>
                            <m:t>)</m:t>
                          </m:r>
                        </m:den>
                      </m:f>
                    </m:oMath>
                  </m:oMathPara>
                </a14:m>
                <a:endParaRPr lang="en-US" dirty="0"/>
              </a:p>
              <a:p>
                <a:pPr marL="0" indent="0">
                  <a:buNone/>
                </a:pPr>
                <a:endParaRPr lang="en-US" dirty="0"/>
              </a:p>
              <a:p>
                <a:r>
                  <a:rPr lang="en-US" dirty="0"/>
                  <a:t>Note: Used when all individuals in the population are at risk throughout the time period during which they were observed</a:t>
                </a:r>
              </a:p>
              <a:p>
                <a:endParaRPr lang="en-US" dirty="0"/>
              </a:p>
            </p:txBody>
          </p:sp>
        </mc:Choice>
        <mc:Fallback xmlns="">
          <p:sp>
            <p:nvSpPr>
              <p:cNvPr id="6" name="Content Placeholder 5">
                <a:extLst>
                  <a:ext uri="{FF2B5EF4-FFF2-40B4-BE49-F238E27FC236}">
                    <a16:creationId xmlns:a16="http://schemas.microsoft.com/office/drawing/2014/main" id="{B572D024-4D09-D530-D929-39574EBC205E}"/>
                  </a:ext>
                </a:extLst>
              </p:cNvPr>
              <p:cNvSpPr>
                <a:spLocks noGrp="1" noRot="1" noChangeAspect="1" noMove="1" noResize="1" noEditPoints="1" noAdjustHandles="1" noChangeArrowheads="1" noChangeShapeType="1" noTextEdit="1"/>
              </p:cNvSpPr>
              <p:nvPr>
                <p:ph idx="1"/>
              </p:nvPr>
            </p:nvSpPr>
            <p:spPr>
              <a:blipFill>
                <a:blip r:embed="rId2"/>
                <a:stretch>
                  <a:fillRect l="-999" t="-1214"/>
                </a:stretch>
              </a:blipFill>
            </p:spPr>
            <p:txBody>
              <a:bodyPr/>
              <a:lstStyle/>
              <a:p>
                <a:r>
                  <a:rPr lang="en-US">
                    <a:noFill/>
                  </a:rPr>
                  <a:t> </a:t>
                </a:r>
              </a:p>
            </p:txBody>
          </p:sp>
        </mc:Fallback>
      </mc:AlternateContent>
      <p:sp>
        <p:nvSpPr>
          <p:cNvPr id="5" name="Rectangle 4"/>
          <p:cNvSpPr/>
          <p:nvPr/>
        </p:nvSpPr>
        <p:spPr>
          <a:xfrm>
            <a:off x="-313531" y="6075234"/>
            <a:ext cx="11785140" cy="1569660"/>
          </a:xfrm>
          <a:prstGeom prst="rect">
            <a:avLst/>
          </a:prstGeom>
        </p:spPr>
        <p:txBody>
          <a:bodyPr wrap="square">
            <a:spAutoFit/>
          </a:bodyPr>
          <a:lstStyle/>
          <a:p>
            <a:endParaRPr lang="en-US" sz="3200" dirty="0">
              <a:latin typeface="+mn-lt"/>
            </a:endParaRPr>
          </a:p>
          <a:p>
            <a:r>
              <a:rPr lang="en-US" sz="3200" dirty="0">
                <a:latin typeface="+mn-lt"/>
              </a:rPr>
              <a:t>                     </a:t>
            </a:r>
          </a:p>
          <a:p>
            <a:r>
              <a:rPr lang="en-US" sz="3200" dirty="0">
                <a:latin typeface="+mn-lt"/>
              </a:rPr>
              <a:t> </a:t>
            </a:r>
          </a:p>
        </p:txBody>
      </p:sp>
    </p:spTree>
    <p:extLst>
      <p:ext uri="{BB962C8B-B14F-4D97-AF65-F5344CB8AC3E}">
        <p14:creationId xmlns:p14="http://schemas.microsoft.com/office/powerpoint/2010/main" val="2434484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B1EC1-853A-3FB9-A74B-6F01E0E761E4}"/>
              </a:ext>
            </a:extLst>
          </p:cNvPr>
          <p:cNvSpPr>
            <a:spLocks noGrp="1"/>
          </p:cNvSpPr>
          <p:nvPr>
            <p:ph type="title"/>
          </p:nvPr>
        </p:nvSpPr>
        <p:spPr>
          <a:xfrm>
            <a:off x="0" y="134482"/>
            <a:ext cx="13546138" cy="1113432"/>
          </a:xfrm>
        </p:spPr>
        <p:txBody>
          <a:bodyPr/>
          <a:lstStyle/>
          <a:p>
            <a:r>
              <a:rPr lang="en-US" dirty="0"/>
              <a:t>Calculation of Cumulative Incidence: Female Lawyers and Heart Attack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433186A-F54D-B1AA-2856-7A17BC770435}"/>
                  </a:ext>
                </a:extLst>
              </p:cNvPr>
              <p:cNvSpPr>
                <a:spLocks noGrp="1"/>
              </p:cNvSpPr>
              <p:nvPr>
                <p:ph idx="1"/>
              </p:nvPr>
            </p:nvSpPr>
            <p:spPr>
              <a:xfrm>
                <a:off x="1028660" y="1656523"/>
                <a:ext cx="11429554" cy="5221163"/>
              </a:xfrm>
            </p:spPr>
            <p:txBody>
              <a:bodyPr/>
              <a:lstStyle/>
              <a:p>
                <a:r>
                  <a:rPr lang="en-US" dirty="0"/>
                  <a:t>An epidemiologist studies heart attack among 25,000 female lawyers with no history of heart attack.</a:t>
                </a:r>
              </a:p>
              <a:p>
                <a:r>
                  <a:rPr lang="en-US" dirty="0"/>
                  <a:t>During the first year of the study, 120 female lawyers have a heart attack.</a:t>
                </a:r>
              </a:p>
              <a:p>
                <a:r>
                  <a:rPr lang="en-US" dirty="0"/>
                  <a:t>Cumulative incidence = </a:t>
                </a:r>
                <a14:m>
                  <m:oMath xmlns:m="http://schemas.openxmlformats.org/officeDocument/2006/math">
                    <m:f>
                      <m:fPr>
                        <m:ctrlPr>
                          <a:rPr lang="en-US" i="1" smtClean="0">
                            <a:latin typeface="Cambria Math" panose="02040503050406030204" pitchFamily="18" charset="0"/>
                          </a:rPr>
                        </m:ctrlPr>
                      </m:fPr>
                      <m:num>
                        <m:r>
                          <a:rPr lang="en-US" smtClean="0">
                            <a:latin typeface="Cambria Math" panose="02040503050406030204" pitchFamily="18" charset="0"/>
                          </a:rPr>
                          <m:t>120 </m:t>
                        </m:r>
                        <m:r>
                          <a:rPr lang="en-US" smtClean="0">
                            <a:latin typeface="Cambria Math" panose="02040503050406030204" pitchFamily="18" charset="0"/>
                          </a:rPr>
                          <m:t>h𝑒𝑎𝑟𝑡</m:t>
                        </m:r>
                        <m:r>
                          <a:rPr lang="en-US" smtClean="0">
                            <a:latin typeface="Cambria Math" panose="02040503050406030204" pitchFamily="18" charset="0"/>
                          </a:rPr>
                          <m:t> </m:t>
                        </m:r>
                        <m:r>
                          <a:rPr lang="en-US" smtClean="0">
                            <a:latin typeface="Cambria Math" panose="02040503050406030204" pitchFamily="18" charset="0"/>
                          </a:rPr>
                          <m:t>𝑎𝑡𝑡𝑎𝑐𝑘𝑠</m:t>
                        </m:r>
                      </m:num>
                      <m:den>
                        <m:r>
                          <a:rPr lang="en-US" smtClean="0">
                            <a:latin typeface="Cambria Math" panose="02040503050406030204" pitchFamily="18" charset="0"/>
                          </a:rPr>
                          <m:t>25,000 </m:t>
                        </m:r>
                        <m:r>
                          <a:rPr lang="en-US" smtClean="0">
                            <a:latin typeface="Cambria Math" panose="02040503050406030204" pitchFamily="18" charset="0"/>
                          </a:rPr>
                          <m:t>𝑙𝑎𝑤𝑦𝑒𝑟𝑠</m:t>
                        </m:r>
                      </m:den>
                    </m:f>
                    <m:r>
                      <a:rPr lang="en-US" smtClean="0">
                        <a:latin typeface="Cambria Math" panose="02040503050406030204" pitchFamily="18" charset="0"/>
                      </a:rPr>
                      <m:t>=0.0048 </m:t>
                    </m:r>
                    <m:r>
                      <a:rPr lang="en-US" smtClean="0">
                        <a:latin typeface="Cambria Math" panose="02040503050406030204" pitchFamily="18" charset="0"/>
                      </a:rPr>
                      <m:t>𝑜𝑟</m:t>
                    </m:r>
                    <m:r>
                      <a:rPr lang="en-US" smtClean="0">
                        <a:latin typeface="Cambria Math" panose="02040503050406030204" pitchFamily="18" charset="0"/>
                      </a:rPr>
                      <m:t> 0.48%</m:t>
                    </m:r>
                  </m:oMath>
                </a14:m>
                <a:endParaRPr lang="en-US" dirty="0"/>
              </a:p>
            </p:txBody>
          </p:sp>
        </mc:Choice>
        <mc:Fallback xmlns="">
          <p:sp>
            <p:nvSpPr>
              <p:cNvPr id="3" name="Content Placeholder 2">
                <a:extLst>
                  <a:ext uri="{FF2B5EF4-FFF2-40B4-BE49-F238E27FC236}">
                    <a16:creationId xmlns:a16="http://schemas.microsoft.com/office/drawing/2014/main" id="{8433186A-F54D-B1AA-2856-7A17BC770435}"/>
                  </a:ext>
                </a:extLst>
              </p:cNvPr>
              <p:cNvSpPr>
                <a:spLocks noGrp="1" noRot="1" noChangeAspect="1" noMove="1" noResize="1" noEditPoints="1" noAdjustHandles="1" noChangeArrowheads="1" noChangeShapeType="1" noTextEdit="1"/>
              </p:cNvSpPr>
              <p:nvPr>
                <p:ph idx="1"/>
              </p:nvPr>
            </p:nvSpPr>
            <p:spPr>
              <a:xfrm>
                <a:off x="1028660" y="1656523"/>
                <a:ext cx="11429554" cy="5221163"/>
              </a:xfrm>
              <a:blipFill>
                <a:blip r:embed="rId2"/>
                <a:stretch>
                  <a:fillRect l="-960" t="-1285" r="-693"/>
                </a:stretch>
              </a:blipFill>
            </p:spPr>
            <p:txBody>
              <a:bodyPr/>
              <a:lstStyle/>
              <a:p>
                <a:r>
                  <a:rPr lang="en-US">
                    <a:noFill/>
                  </a:rPr>
                  <a:t> </a:t>
                </a:r>
              </a:p>
            </p:txBody>
          </p:sp>
        </mc:Fallback>
      </mc:AlternateContent>
    </p:spTree>
    <p:extLst>
      <p:ext uri="{BB962C8B-B14F-4D97-AF65-F5344CB8AC3E}">
        <p14:creationId xmlns:p14="http://schemas.microsoft.com/office/powerpoint/2010/main" val="697567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
          <p:cNvSpPr>
            <a:spLocks noGrp="1" noChangeArrowheads="1"/>
          </p:cNvSpPr>
          <p:nvPr>
            <p:ph type="title"/>
          </p:nvPr>
        </p:nvSpPr>
        <p:spPr>
          <a:xfrm>
            <a:off x="0" y="134482"/>
            <a:ext cx="13546138" cy="1113432"/>
          </a:xfrm>
        </p:spPr>
        <p:txBody>
          <a:bodyPr/>
          <a:lstStyle/>
          <a:p>
            <a:r>
              <a:rPr lang="en-US" altLang="en-US" dirty="0"/>
              <a:t>Incidence Rate </a:t>
            </a:r>
          </a:p>
        </p:txBody>
      </p:sp>
      <p:sp>
        <p:nvSpPr>
          <p:cNvPr id="29699" name="Rectangle 2"/>
          <p:cNvSpPr>
            <a:spLocks noGrp="1" noChangeArrowheads="1"/>
          </p:cNvSpPr>
          <p:nvPr>
            <p:ph idx="1"/>
          </p:nvPr>
        </p:nvSpPr>
        <p:spPr>
          <a:xfrm>
            <a:off x="1028660" y="1656523"/>
            <a:ext cx="11429554" cy="5221163"/>
          </a:xfrm>
        </p:spPr>
        <p:txBody>
          <a:bodyPr/>
          <a:lstStyle/>
          <a:p>
            <a:r>
              <a:rPr lang="en-US" altLang="en-US" dirty="0"/>
              <a:t>Rate formed by dividing number of new cases that occur during a time period by number of individuals in population at risk</a:t>
            </a:r>
          </a:p>
          <a:p>
            <a:r>
              <a:rPr lang="en-US" altLang="en-US" dirty="0"/>
              <a:t>Amount of time each individual is at risk is also considered when calculating incidence rate.</a:t>
            </a:r>
          </a:p>
        </p:txBody>
      </p:sp>
      <p:sp>
        <p:nvSpPr>
          <p:cNvPr id="29700" name="Text Box 4"/>
          <p:cNvSpPr txBox="1">
            <a:spLocks noChangeArrowheads="1"/>
          </p:cNvSpPr>
          <p:nvPr/>
        </p:nvSpPr>
        <p:spPr bwMode="auto">
          <a:xfrm>
            <a:off x="579945" y="5219645"/>
            <a:ext cx="12925979" cy="526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lnSpc>
                <a:spcPct val="95000"/>
              </a:lnSpc>
            </a:pPr>
            <a:r>
              <a:rPr lang="en-US" altLang="en-US" sz="3600" dirty="0">
                <a:solidFill>
                  <a:srgbClr val="000000"/>
                </a:solidFill>
              </a:rPr>
              <a:t> </a:t>
            </a:r>
          </a:p>
        </p:txBody>
      </p:sp>
    </p:spTree>
    <p:extLst>
      <p:ext uri="{BB962C8B-B14F-4D97-AF65-F5344CB8AC3E}">
        <p14:creationId xmlns:p14="http://schemas.microsoft.com/office/powerpoint/2010/main" val="1251745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0" y="134482"/>
            <a:ext cx="13546138" cy="1113432"/>
          </a:xfrm>
        </p:spPr>
        <p:txBody>
          <a:bodyPr/>
          <a:lstStyle/>
          <a:p>
            <a:r>
              <a:rPr lang="en-US" altLang="en-US" dirty="0"/>
              <a:t>Population at Risk</a:t>
            </a:r>
          </a:p>
        </p:txBody>
      </p:sp>
      <p:sp>
        <p:nvSpPr>
          <p:cNvPr id="28675" name="Rectangle 3"/>
          <p:cNvSpPr>
            <a:spLocks noGrp="1" noChangeArrowheads="1"/>
          </p:cNvSpPr>
          <p:nvPr>
            <p:ph idx="1"/>
          </p:nvPr>
        </p:nvSpPr>
        <p:spPr>
          <a:xfrm>
            <a:off x="1028660" y="1656523"/>
            <a:ext cx="11429554" cy="5221163"/>
          </a:xfrm>
        </p:spPr>
        <p:txBody>
          <a:bodyPr/>
          <a:lstStyle/>
          <a:p>
            <a:r>
              <a:rPr lang="en-US" altLang="en-US" dirty="0"/>
              <a:t>Members of the population who are capable of developing the disease or condition being studied  </a:t>
            </a:r>
          </a:p>
          <a:p>
            <a:endParaRPr lang="en-US" altLang="en-US" dirty="0"/>
          </a:p>
        </p:txBody>
      </p:sp>
    </p:spTree>
    <p:extLst>
      <p:ext uri="{BB962C8B-B14F-4D97-AF65-F5344CB8AC3E}">
        <p14:creationId xmlns:p14="http://schemas.microsoft.com/office/powerpoint/2010/main" val="2332430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0" y="134482"/>
            <a:ext cx="13546138" cy="1113432"/>
          </a:xfrm>
        </p:spPr>
        <p:txBody>
          <a:bodyPr/>
          <a:lstStyle/>
          <a:p>
            <a:r>
              <a:rPr lang="en-US" altLang="en-US" dirty="0"/>
              <a:t>Incidence Rate Formula </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5F1ED342-7777-AF8C-B390-19AC7F5F1645}"/>
                  </a:ext>
                </a:extLst>
              </p:cNvPr>
              <p:cNvSpPr>
                <a:spLocks noGrp="1"/>
              </p:cNvSpPr>
              <p:nvPr>
                <p:ph idx="1"/>
              </p:nvPr>
            </p:nvSpPr>
            <p:spPr>
              <a:xfrm>
                <a:off x="1028660" y="1656523"/>
                <a:ext cx="11429554" cy="5221163"/>
              </a:xfrm>
            </p:spPr>
            <p:txBody>
              <a:bodyPr/>
              <a:lstStyle/>
              <a:p>
                <a14:m>
                  <m:oMath xmlns:m="http://schemas.openxmlformats.org/officeDocument/2006/math">
                    <m:r>
                      <a:rPr lang="en-US" sz="2400" smtClean="0">
                        <a:latin typeface="Cambria Math" panose="02040503050406030204" pitchFamily="18" charset="0"/>
                      </a:rPr>
                      <m:t>𝐼𝑛𝑐𝑖𝑑𝑒𝑛𝑐𝑒</m:t>
                    </m:r>
                    <m:r>
                      <a:rPr lang="en-US" sz="2400" smtClean="0">
                        <a:latin typeface="Cambria Math" panose="02040503050406030204" pitchFamily="18" charset="0"/>
                      </a:rPr>
                      <m:t> </m:t>
                    </m:r>
                    <m:r>
                      <a:rPr lang="en-US" sz="2400" smtClean="0">
                        <a:latin typeface="Cambria Math" panose="02040503050406030204" pitchFamily="18" charset="0"/>
                      </a:rPr>
                      <m:t>𝑅𝑎𝑡𝑒</m:t>
                    </m:r>
                    <m:r>
                      <a:rPr lang="en-US" sz="2400" smtClean="0">
                        <a:latin typeface="Cambria Math" panose="02040503050406030204" pitchFamily="18" charset="0"/>
                      </a:rPr>
                      <m:t>= </m:t>
                    </m:r>
                  </m:oMath>
                </a14:m>
                <a:endParaRPr lang="en-US" sz="2400"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r>
                            <m:rPr>
                              <m:nor/>
                            </m:rPr>
                            <a:rPr lang="en-US" altLang="en-US" sz="2400">
                              <a:latin typeface="Cambria Math" panose="02040503050406030204" pitchFamily="18" charset="0"/>
                            </a:rPr>
                            <m:t>Number</m:t>
                          </m:r>
                          <m:r>
                            <m:rPr>
                              <m:nor/>
                            </m:rPr>
                            <a:rPr lang="en-US" altLang="en-US" sz="2400">
                              <a:latin typeface="Cambria Math" panose="02040503050406030204" pitchFamily="18" charset="0"/>
                            </a:rPr>
                            <m:t> </m:t>
                          </m:r>
                          <m:r>
                            <m:rPr>
                              <m:nor/>
                            </m:rPr>
                            <a:rPr lang="en-US" altLang="en-US" sz="2400">
                              <a:latin typeface="Cambria Math" panose="02040503050406030204" pitchFamily="18" charset="0"/>
                            </a:rPr>
                            <m:t>of</m:t>
                          </m:r>
                          <m:r>
                            <m:rPr>
                              <m:nor/>
                            </m:rPr>
                            <a:rPr lang="en-US" altLang="en-US" sz="2400">
                              <a:latin typeface="Cambria Math" panose="02040503050406030204" pitchFamily="18" charset="0"/>
                            </a:rPr>
                            <m:t> </m:t>
                          </m:r>
                          <m:r>
                            <m:rPr>
                              <m:nor/>
                            </m:rPr>
                            <a:rPr lang="en-US" altLang="en-US" sz="2400">
                              <a:latin typeface="Cambria Math" panose="02040503050406030204" pitchFamily="18" charset="0"/>
                            </a:rPr>
                            <m:t>new</m:t>
                          </m:r>
                          <m:r>
                            <m:rPr>
                              <m:nor/>
                            </m:rPr>
                            <a:rPr lang="en-US" altLang="en-US" sz="2400">
                              <a:latin typeface="Cambria Math" panose="02040503050406030204" pitchFamily="18" charset="0"/>
                            </a:rPr>
                            <m:t> </m:t>
                          </m:r>
                          <m:r>
                            <m:rPr>
                              <m:nor/>
                            </m:rPr>
                            <a:rPr lang="en-US" altLang="en-US" sz="2400">
                              <a:latin typeface="Cambria Math" panose="02040503050406030204" pitchFamily="18" charset="0"/>
                            </a:rPr>
                            <m:t>cases</m:t>
                          </m:r>
                          <m:r>
                            <m:rPr>
                              <m:nor/>
                            </m:rPr>
                            <a:rPr lang="en-US" altLang="en-US" sz="2400">
                              <a:latin typeface="Cambria Math" panose="02040503050406030204" pitchFamily="18" charset="0"/>
                            </a:rPr>
                            <m:t> </m:t>
                          </m:r>
                          <m:r>
                            <m:rPr>
                              <m:nor/>
                            </m:rPr>
                            <a:rPr lang="en-US" altLang="en-US" sz="2400">
                              <a:latin typeface="Cambria Math" panose="02040503050406030204" pitchFamily="18" charset="0"/>
                            </a:rPr>
                            <m:t>over</m:t>
                          </m:r>
                          <m:r>
                            <m:rPr>
                              <m:nor/>
                            </m:rPr>
                            <a:rPr lang="en-US" altLang="en-US" sz="2400">
                              <a:latin typeface="Cambria Math" panose="02040503050406030204" pitchFamily="18" charset="0"/>
                            </a:rPr>
                            <m:t> </m:t>
                          </m:r>
                          <m:r>
                            <m:rPr>
                              <m:nor/>
                            </m:rPr>
                            <a:rPr lang="en-US" altLang="en-US" sz="2400">
                              <a:latin typeface="Cambria Math" panose="02040503050406030204" pitchFamily="18" charset="0"/>
                            </a:rPr>
                            <m:t>a</m:t>
                          </m:r>
                          <m:r>
                            <m:rPr>
                              <m:nor/>
                            </m:rPr>
                            <a:rPr lang="en-US" altLang="en-US" sz="2400">
                              <a:latin typeface="Cambria Math" panose="02040503050406030204" pitchFamily="18" charset="0"/>
                            </a:rPr>
                            <m:t> </m:t>
                          </m:r>
                          <m:r>
                            <m:rPr>
                              <m:nor/>
                            </m:rPr>
                            <a:rPr lang="en-US" altLang="en-US" sz="2400">
                              <a:latin typeface="Cambria Math" panose="02040503050406030204" pitchFamily="18" charset="0"/>
                            </a:rPr>
                            <m:t>time</m:t>
                          </m:r>
                          <m:r>
                            <m:rPr>
                              <m:nor/>
                            </m:rPr>
                            <a:rPr lang="en-US" altLang="en-US" sz="2400">
                              <a:latin typeface="Cambria Math" panose="02040503050406030204" pitchFamily="18" charset="0"/>
                            </a:rPr>
                            <m:t> </m:t>
                          </m:r>
                          <m:r>
                            <m:rPr>
                              <m:nor/>
                            </m:rPr>
                            <a:rPr lang="en-US" altLang="en-US" sz="2400">
                              <a:latin typeface="Cambria Math" panose="02040503050406030204" pitchFamily="18" charset="0"/>
                            </a:rPr>
                            <m:t>period</m:t>
                          </m:r>
                          <m:r>
                            <m:rPr>
                              <m:nor/>
                            </m:rPr>
                            <a:rPr lang="en-US" altLang="en-US" sz="2400">
                              <a:latin typeface="Cambria Math" panose="02040503050406030204" pitchFamily="18" charset="0"/>
                            </a:rPr>
                            <m:t> </m:t>
                          </m:r>
                        </m:num>
                        <m:den>
                          <m:eqArr>
                            <m:eqArrPr>
                              <m:ctrlPr>
                                <a:rPr lang="en-US" altLang="en-US" sz="2400" i="1">
                                  <a:latin typeface="Cambria Math" panose="02040503050406030204" pitchFamily="18" charset="0"/>
                                </a:rPr>
                              </m:ctrlPr>
                            </m:eqArrPr>
                            <m:e>
                              <m:r>
                                <m:rPr>
                                  <m:nor/>
                                </m:rPr>
                                <a:rPr lang="en-US" altLang="en-US" sz="2400">
                                  <a:latin typeface="Cambria Math" panose="02040503050406030204" pitchFamily="18" charset="0"/>
                                </a:rPr>
                                <m:t>Time</m:t>
                              </m:r>
                              <m:r>
                                <m:rPr>
                                  <m:nor/>
                                </m:rPr>
                                <a:rPr lang="en-US" altLang="en-US" sz="2400">
                                  <a:latin typeface="Cambria Math" panose="02040503050406030204" pitchFamily="18" charset="0"/>
                                </a:rPr>
                                <m:t> </m:t>
                              </m:r>
                              <m:r>
                                <m:rPr>
                                  <m:nor/>
                                </m:rPr>
                                <a:rPr lang="en-US" altLang="en-US" sz="2400">
                                  <a:latin typeface="Cambria Math" panose="02040503050406030204" pitchFamily="18" charset="0"/>
                                </a:rPr>
                                <m:t>each</m:t>
                              </m:r>
                              <m:r>
                                <m:rPr>
                                  <m:nor/>
                                </m:rPr>
                                <a:rPr lang="en-US" altLang="en-US" sz="2400">
                                  <a:latin typeface="Cambria Math" panose="02040503050406030204" pitchFamily="18" charset="0"/>
                                </a:rPr>
                                <m:t> </m:t>
                              </m:r>
                              <m:r>
                                <m:rPr>
                                  <m:nor/>
                                </m:rPr>
                                <a:rPr lang="en-US" altLang="en-US" sz="2400">
                                  <a:latin typeface="Cambria Math" panose="02040503050406030204" pitchFamily="18" charset="0"/>
                                </a:rPr>
                                <m:t>person</m:t>
                              </m:r>
                              <m:r>
                                <m:rPr>
                                  <m:nor/>
                                </m:rPr>
                                <a:rPr lang="en-US" altLang="en-US" sz="2400">
                                  <a:latin typeface="Cambria Math" panose="02040503050406030204" pitchFamily="18" charset="0"/>
                                </a:rPr>
                                <m:t> </m:t>
                              </m:r>
                              <m:r>
                                <m:rPr>
                                  <m:nor/>
                                </m:rPr>
                                <a:rPr lang="en-US" altLang="en-US" sz="2400">
                                  <a:latin typeface="Cambria Math" panose="02040503050406030204" pitchFamily="18" charset="0"/>
                                </a:rPr>
                                <m:t>was</m:t>
                              </m:r>
                              <m:r>
                                <m:rPr>
                                  <m:nor/>
                                </m:rPr>
                                <a:rPr lang="en-US" altLang="en-US" sz="2400">
                                  <a:latin typeface="Cambria Math" panose="02040503050406030204" pitchFamily="18" charset="0"/>
                                </a:rPr>
                                <m:t> </m:t>
                              </m:r>
                              <m:r>
                                <m:rPr>
                                  <m:nor/>
                                </m:rPr>
                                <a:rPr lang="en-US" altLang="en-US" sz="2400">
                                  <a:latin typeface="Cambria Math" panose="02040503050406030204" pitchFamily="18" charset="0"/>
                                </a:rPr>
                                <m:t>in</m:t>
                              </m:r>
                              <m:r>
                                <m:rPr>
                                  <m:nor/>
                                </m:rPr>
                                <a:rPr lang="en-US" altLang="en-US" sz="2400">
                                  <a:latin typeface="Cambria Math" panose="02040503050406030204" pitchFamily="18" charset="0"/>
                                </a:rPr>
                                <m:t> </m:t>
                              </m:r>
                              <m:r>
                                <m:rPr>
                                  <m:nor/>
                                </m:rPr>
                                <a:rPr lang="en-US" altLang="en-US" sz="2400">
                                  <a:latin typeface="Cambria Math" panose="02040503050406030204" pitchFamily="18" charset="0"/>
                                </a:rPr>
                                <m:t>the</m:t>
                              </m:r>
                              <m:r>
                                <m:rPr>
                                  <m:nor/>
                                </m:rPr>
                                <a:rPr lang="en-US" altLang="en-US" sz="2400">
                                  <a:latin typeface="Cambria Math" panose="02040503050406030204" pitchFamily="18" charset="0"/>
                                </a:rPr>
                                <m:t> </m:t>
                              </m:r>
                              <m:r>
                                <m:rPr>
                                  <m:nor/>
                                </m:rPr>
                                <a:rPr lang="en-US" altLang="en-US" sz="2400">
                                  <a:latin typeface="Cambria Math" panose="02040503050406030204" pitchFamily="18" charset="0"/>
                                </a:rPr>
                                <m:t>population</m:t>
                              </m:r>
                              <m:r>
                                <m:rPr>
                                  <m:nor/>
                                </m:rPr>
                                <a:rPr lang="en-US" altLang="en-US" sz="2400">
                                  <a:latin typeface="Cambria Math" panose="02040503050406030204" pitchFamily="18" charset="0"/>
                                </a:rPr>
                                <m:t> </m:t>
                              </m:r>
                              <m:r>
                                <m:rPr>
                                  <m:nor/>
                                </m:rPr>
                                <a:rPr lang="en-US" altLang="en-US" sz="2400">
                                  <a:latin typeface="Cambria Math" panose="02040503050406030204" pitchFamily="18" charset="0"/>
                                </a:rPr>
                                <m:t>at</m:t>
                              </m:r>
                              <m:r>
                                <m:rPr>
                                  <m:nor/>
                                </m:rPr>
                                <a:rPr lang="en-US" altLang="en-US" sz="2400">
                                  <a:latin typeface="Cambria Math" panose="02040503050406030204" pitchFamily="18" charset="0"/>
                                </a:rPr>
                                <m:t> </m:t>
                              </m:r>
                              <m:r>
                                <m:rPr>
                                  <m:nor/>
                                </m:rPr>
                                <a:rPr lang="en-US" altLang="en-US" sz="2400">
                                  <a:latin typeface="Cambria Math" panose="02040503050406030204" pitchFamily="18" charset="0"/>
                                </a:rPr>
                                <m:t>risk</m:t>
                              </m:r>
                              <m:r>
                                <m:rPr>
                                  <m:nor/>
                                </m:rPr>
                                <a:rPr lang="en-US" altLang="en-US" sz="2400">
                                  <a:latin typeface="Cambria Math" panose="02040503050406030204" pitchFamily="18" charset="0"/>
                                </a:rPr>
                                <m:t> </m:t>
                              </m:r>
                              <m:r>
                                <m:rPr>
                                  <m:nor/>
                                </m:rPr>
                                <a:rPr lang="en-US" altLang="en-US" sz="2400">
                                  <a:latin typeface="Cambria Math" panose="02040503050406030204" pitchFamily="18" charset="0"/>
                                </a:rPr>
                                <m:t>totaled</m:t>
                              </m:r>
                              <m:r>
                                <m:rPr>
                                  <m:nor/>
                                </m:rPr>
                                <a:rPr lang="en-US" altLang="en-US" sz="2400">
                                  <a:latin typeface="Cambria Math" panose="02040503050406030204" pitchFamily="18" charset="0"/>
                                </a:rPr>
                                <m:t> </m:t>
                              </m:r>
                            </m:e>
                            <m:e>
                              <m:r>
                                <m:rPr>
                                  <m:nor/>
                                </m:rPr>
                                <a:rPr lang="en-US" altLang="en-US" sz="2400">
                                  <a:latin typeface="Cambria Math" panose="02040503050406030204" pitchFamily="18" charset="0"/>
                                </a:rPr>
                                <m:t>over</m:t>
                              </m:r>
                              <m:r>
                                <m:rPr>
                                  <m:nor/>
                                </m:rPr>
                                <a:rPr lang="en-US" altLang="en-US" sz="2400">
                                  <a:latin typeface="Cambria Math" panose="02040503050406030204" pitchFamily="18" charset="0"/>
                                </a:rPr>
                                <m:t> </m:t>
                              </m:r>
                              <m:r>
                                <m:rPr>
                                  <m:nor/>
                                </m:rPr>
                                <a:rPr lang="en-US" altLang="en-US" sz="2400">
                                  <a:latin typeface="Cambria Math" panose="02040503050406030204" pitchFamily="18" charset="0"/>
                                </a:rPr>
                                <m:t>the</m:t>
                              </m:r>
                              <m:r>
                                <m:rPr>
                                  <m:nor/>
                                </m:rPr>
                                <a:rPr lang="en-US" altLang="en-US" sz="2400">
                                  <a:latin typeface="Cambria Math" panose="02040503050406030204" pitchFamily="18" charset="0"/>
                                </a:rPr>
                                <m:t> </m:t>
                              </m:r>
                              <m:r>
                                <m:rPr>
                                  <m:nor/>
                                </m:rPr>
                                <a:rPr lang="en-US" altLang="en-US" sz="2400">
                                  <a:latin typeface="Cambria Math" panose="02040503050406030204" pitchFamily="18" charset="0"/>
                                </a:rPr>
                                <m:t>whole</m:t>
                              </m:r>
                              <m:r>
                                <m:rPr>
                                  <m:nor/>
                                </m:rPr>
                                <a:rPr lang="en-US" altLang="en-US" sz="2400">
                                  <a:latin typeface="Cambria Math" panose="02040503050406030204" pitchFamily="18" charset="0"/>
                                </a:rPr>
                                <m:t> </m:t>
                              </m:r>
                              <m:r>
                                <m:rPr>
                                  <m:nor/>
                                </m:rPr>
                                <a:rPr lang="en-US" altLang="en-US" sz="2400">
                                  <a:latin typeface="Cambria Math" panose="02040503050406030204" pitchFamily="18" charset="0"/>
                                </a:rPr>
                                <m:t>population</m:t>
                              </m:r>
                              <m:r>
                                <m:rPr>
                                  <m:nor/>
                                </m:rPr>
                                <a:rPr lang="en-US" altLang="en-US" sz="2400">
                                  <a:latin typeface="Cambria Math" panose="02040503050406030204" pitchFamily="18" charset="0"/>
                                </a:rPr>
                                <m:t> </m:t>
                              </m:r>
                              <m:r>
                                <m:rPr>
                                  <m:nor/>
                                </m:rPr>
                                <a:rPr lang="en-US" altLang="en-US" sz="2400">
                                  <a:latin typeface="Cambria Math" panose="02040503050406030204" pitchFamily="18" charset="0"/>
                                </a:rPr>
                                <m:t>at</m:t>
                              </m:r>
                              <m:r>
                                <m:rPr>
                                  <m:nor/>
                                </m:rPr>
                                <a:rPr lang="en-US" altLang="en-US" sz="2400">
                                  <a:latin typeface="Cambria Math" panose="02040503050406030204" pitchFamily="18" charset="0"/>
                                </a:rPr>
                                <m:t> </m:t>
                              </m:r>
                              <m:r>
                                <m:rPr>
                                  <m:nor/>
                                </m:rPr>
                                <a:rPr lang="en-US" altLang="en-US" sz="2400">
                                  <a:latin typeface="Cambria Math" panose="02040503050406030204" pitchFamily="18" charset="0"/>
                                </a:rPr>
                                <m:t>risk</m:t>
                              </m:r>
                              <m:r>
                                <m:rPr>
                                  <m:nor/>
                                </m:rPr>
                                <a:rPr lang="en-US" altLang="en-US" sz="2400">
                                  <a:latin typeface="Cambria Math" panose="02040503050406030204" pitchFamily="18" charset="0"/>
                                </a:rPr>
                                <m:t>∗ </m:t>
                              </m:r>
                            </m:e>
                          </m:eqArr>
                        </m:den>
                      </m:f>
                      <m:r>
                        <a:rPr lang="en-US" sz="2400">
                          <a:latin typeface="Cambria Math" panose="02040503050406030204" pitchFamily="18" charset="0"/>
                        </a:rPr>
                        <m:t> </m:t>
                      </m:r>
                      <m:r>
                        <m:rPr>
                          <m:sty m:val="p"/>
                        </m:rPr>
                        <a:rPr lang="en-US" sz="2400">
                          <a:latin typeface="Cambria Math" panose="02040503050406030204" pitchFamily="18" charset="0"/>
                        </a:rPr>
                        <m:t>x</m:t>
                      </m:r>
                      <m:r>
                        <a:rPr lang="en-US" sz="2400">
                          <a:latin typeface="Cambria Math" panose="02040503050406030204" pitchFamily="18" charset="0"/>
                        </a:rPr>
                        <m:t> </m:t>
                      </m:r>
                      <m:r>
                        <m:rPr>
                          <m:sty m:val="p"/>
                        </m:rPr>
                        <a:rPr lang="en-US" sz="2400">
                          <a:latin typeface="Cambria Math" panose="02040503050406030204" pitchFamily="18" charset="0"/>
                        </a:rPr>
                        <m:t>multiplier</m:t>
                      </m:r>
                      <m:r>
                        <a:rPr lang="en-US" sz="2400">
                          <a:latin typeface="Cambria Math" panose="02040503050406030204" pitchFamily="18" charset="0"/>
                        </a:rPr>
                        <m:t> (</m:t>
                      </m:r>
                      <m:r>
                        <m:rPr>
                          <m:sty m:val="p"/>
                        </m:rPr>
                        <a:rPr lang="en-US" sz="2400">
                          <a:latin typeface="Cambria Math" panose="02040503050406030204" pitchFamily="18" charset="0"/>
                        </a:rPr>
                        <m:t>e</m:t>
                      </m:r>
                      <m:r>
                        <a:rPr lang="en-US" sz="2400">
                          <a:latin typeface="Cambria Math" panose="02040503050406030204" pitchFamily="18" charset="0"/>
                        </a:rPr>
                        <m:t>.</m:t>
                      </m:r>
                      <m:r>
                        <m:rPr>
                          <m:sty m:val="p"/>
                        </m:rPr>
                        <a:rPr lang="en-US" sz="2400">
                          <a:latin typeface="Cambria Math" panose="02040503050406030204" pitchFamily="18" charset="0"/>
                        </a:rPr>
                        <m:t>g</m:t>
                      </m:r>
                      <m:r>
                        <a:rPr lang="en-US" sz="2400">
                          <a:latin typeface="Cambria Math" panose="02040503050406030204" pitchFamily="18" charset="0"/>
                        </a:rPr>
                        <m:t>., 100,000)</m:t>
                      </m:r>
                    </m:oMath>
                  </m:oMathPara>
                </a14:m>
                <a:endParaRPr lang="en-US" sz="1800" dirty="0">
                  <a:latin typeface="Cambria Math" panose="02040503050406030204" pitchFamily="18" charset="0"/>
                </a:endParaRPr>
              </a:p>
              <a:p>
                <a:pPr marL="507995" lvl="1" indent="0">
                  <a:buNone/>
                </a:pPr>
                <a:endParaRPr lang="en-US" dirty="0"/>
              </a:p>
              <a:p>
                <a:pPr marL="507995" lvl="1" indent="0">
                  <a:buNone/>
                </a:pPr>
                <a:r>
                  <a:rPr lang="en-US" dirty="0"/>
                  <a:t>* For large populations it may not be possible to determine the time for each individual person so in these situations the population at the midpoint of the time period is used. </a:t>
                </a:r>
              </a:p>
              <a:p>
                <a:endParaRPr lang="en-US" dirty="0"/>
              </a:p>
            </p:txBody>
          </p:sp>
        </mc:Choice>
        <mc:Fallback xmlns="">
          <p:sp>
            <p:nvSpPr>
              <p:cNvPr id="6" name="Content Placeholder 5">
                <a:extLst>
                  <a:ext uri="{FF2B5EF4-FFF2-40B4-BE49-F238E27FC236}">
                    <a16:creationId xmlns:a16="http://schemas.microsoft.com/office/drawing/2014/main" id="{5F1ED342-7777-AF8C-B390-19AC7F5F1645}"/>
                  </a:ext>
                </a:extLst>
              </p:cNvPr>
              <p:cNvSpPr>
                <a:spLocks noGrp="1" noRot="1" noChangeAspect="1" noMove="1" noResize="1" noEditPoints="1" noAdjustHandles="1" noChangeArrowheads="1" noChangeShapeType="1" noTextEdit="1"/>
              </p:cNvSpPr>
              <p:nvPr>
                <p:ph idx="1"/>
              </p:nvPr>
            </p:nvSpPr>
            <p:spPr>
              <a:xfrm>
                <a:off x="1028660" y="1656523"/>
                <a:ext cx="11429554" cy="5221163"/>
              </a:xfrm>
              <a:blipFill>
                <a:blip r:embed="rId2"/>
                <a:stretch>
                  <a:fillRect l="-777" t="-728"/>
                </a:stretch>
              </a:blipFill>
            </p:spPr>
            <p:txBody>
              <a:bodyPr/>
              <a:lstStyle/>
              <a:p>
                <a:r>
                  <a:rPr lang="en-US">
                    <a:noFill/>
                  </a:rPr>
                  <a:t> </a:t>
                </a:r>
              </a:p>
            </p:txBody>
          </p:sp>
        </mc:Fallback>
      </mc:AlternateContent>
    </p:spTree>
    <p:extLst>
      <p:ext uri="{BB962C8B-B14F-4D97-AF65-F5344CB8AC3E}">
        <p14:creationId xmlns:p14="http://schemas.microsoft.com/office/powerpoint/2010/main" val="3777636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134482"/>
            <a:ext cx="13546138" cy="1113432"/>
          </a:xfrm>
        </p:spPr>
        <p:txBody>
          <a:bodyPr/>
          <a:lstStyle/>
          <a:p>
            <a:r>
              <a:rPr lang="en-US" dirty="0"/>
              <a:t>Calculation of Incidence Rate: </a:t>
            </a:r>
            <a:br>
              <a:rPr lang="en-US" dirty="0"/>
            </a:br>
            <a:r>
              <a:rPr lang="en-US" dirty="0"/>
              <a:t>Incidence Rate of HIV Infection</a:t>
            </a:r>
          </a:p>
        </p:txBody>
      </p:sp>
      <p:sp>
        <p:nvSpPr>
          <p:cNvPr id="5" name="Content Placeholder 4"/>
          <p:cNvSpPr>
            <a:spLocks noGrp="1"/>
          </p:cNvSpPr>
          <p:nvPr>
            <p:ph idx="1"/>
          </p:nvPr>
        </p:nvSpPr>
        <p:spPr>
          <a:xfrm>
            <a:off x="1028660" y="1656523"/>
            <a:ext cx="11429554" cy="5221163"/>
          </a:xfrm>
        </p:spPr>
        <p:txBody>
          <a:bodyPr/>
          <a:lstStyle/>
          <a:p>
            <a:r>
              <a:rPr lang="en-US" dirty="0"/>
              <a:t>Number of new cases in U.S., 2019 (13 years of age and older) = 30,635</a:t>
            </a:r>
          </a:p>
          <a:p>
            <a:r>
              <a:rPr lang="en-US" dirty="0"/>
              <a:t>Midpoint population on July 1, 2019 = 272,000,000</a:t>
            </a:r>
          </a:p>
          <a:p>
            <a:r>
              <a:rPr lang="en-US" dirty="0"/>
              <a:t>Incidence rate = 11.3 per 100,000 (rounded)</a:t>
            </a:r>
          </a:p>
        </p:txBody>
      </p:sp>
    </p:spTree>
    <p:extLst>
      <p:ext uri="{BB962C8B-B14F-4D97-AF65-F5344CB8AC3E}">
        <p14:creationId xmlns:p14="http://schemas.microsoft.com/office/powerpoint/2010/main" val="4253081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
          <p:cNvSpPr>
            <a:spLocks noGrp="1" noChangeArrowheads="1"/>
          </p:cNvSpPr>
          <p:nvPr>
            <p:ph type="title"/>
          </p:nvPr>
        </p:nvSpPr>
        <p:spPr>
          <a:xfrm>
            <a:off x="0" y="134482"/>
            <a:ext cx="13546138" cy="1113432"/>
          </a:xfrm>
        </p:spPr>
        <p:txBody>
          <a:bodyPr/>
          <a:lstStyle/>
          <a:p>
            <a:r>
              <a:rPr lang="en-US" altLang="en-US" dirty="0"/>
              <a:t>Prevalence</a:t>
            </a:r>
          </a:p>
        </p:txBody>
      </p:sp>
      <p:sp>
        <p:nvSpPr>
          <p:cNvPr id="31747" name="Rectangle 2"/>
          <p:cNvSpPr>
            <a:spLocks noGrp="1" noChangeArrowheads="1"/>
          </p:cNvSpPr>
          <p:nvPr>
            <p:ph idx="1"/>
          </p:nvPr>
        </p:nvSpPr>
        <p:spPr>
          <a:xfrm>
            <a:off x="1028660" y="1656523"/>
            <a:ext cx="11429554" cy="5221163"/>
          </a:xfrm>
        </p:spPr>
        <p:txBody>
          <a:bodyPr/>
          <a:lstStyle/>
          <a:p>
            <a:r>
              <a:rPr lang="en-US" altLang="en-US" dirty="0"/>
              <a:t>Number of existing cases of a disease or health condition, or deaths in a population at some designated time</a:t>
            </a:r>
          </a:p>
          <a:p>
            <a:r>
              <a:rPr lang="en-US" altLang="en-US" dirty="0"/>
              <a:t>Variations</a:t>
            </a:r>
          </a:p>
          <a:p>
            <a:pPr lvl="1"/>
            <a:r>
              <a:rPr lang="en-US" altLang="en-US" dirty="0"/>
              <a:t>Point prevalence</a:t>
            </a:r>
          </a:p>
          <a:p>
            <a:pPr lvl="1"/>
            <a:r>
              <a:rPr lang="en-US" altLang="en-US" dirty="0"/>
              <a:t>Period prevalence</a:t>
            </a:r>
          </a:p>
          <a:p>
            <a:pPr lvl="1"/>
            <a:r>
              <a:rPr lang="en-US" altLang="en-US" dirty="0"/>
              <a:t>Lifetime prevalence</a:t>
            </a:r>
          </a:p>
        </p:txBody>
      </p:sp>
    </p:spTree>
    <p:extLst>
      <p:ext uri="{BB962C8B-B14F-4D97-AF65-F5344CB8AC3E}">
        <p14:creationId xmlns:p14="http://schemas.microsoft.com/office/powerpoint/2010/main" val="735941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
          <p:cNvSpPr>
            <a:spLocks noGrp="1" noChangeArrowheads="1"/>
          </p:cNvSpPr>
          <p:nvPr>
            <p:ph type="title"/>
          </p:nvPr>
        </p:nvSpPr>
        <p:spPr>
          <a:xfrm>
            <a:off x="0" y="134482"/>
            <a:ext cx="13546138" cy="1113432"/>
          </a:xfrm>
        </p:spPr>
        <p:txBody>
          <a:bodyPr/>
          <a:lstStyle/>
          <a:p>
            <a:r>
              <a:rPr lang="en-US" altLang="en-US" dirty="0"/>
              <a:t>Point Prevalence</a:t>
            </a:r>
          </a:p>
        </p:txBody>
      </p:sp>
      <mc:AlternateContent xmlns:mc="http://schemas.openxmlformats.org/markup-compatibility/2006" xmlns:a14="http://schemas.microsoft.com/office/drawing/2010/main">
        <mc:Choice Requires="a14">
          <p:sp>
            <p:nvSpPr>
              <p:cNvPr id="33795" name="Rectangle 2"/>
              <p:cNvSpPr>
                <a:spLocks noGrp="1" noChangeArrowheads="1"/>
              </p:cNvSpPr>
              <p:nvPr>
                <p:ph idx="1"/>
              </p:nvPr>
            </p:nvSpPr>
            <p:spPr>
              <a:xfrm>
                <a:off x="1028660" y="1656523"/>
                <a:ext cx="11429554" cy="5221163"/>
              </a:xfrm>
            </p:spPr>
            <p:txBody>
              <a:bodyPr/>
              <a:lstStyle/>
              <a:p>
                <a:r>
                  <a:rPr lang="en-US" altLang="en-US" dirty="0"/>
                  <a:t>All cases of a disease or health condition that exist at a particular point in time relative to a specific population from which the cases are derived</a:t>
                </a:r>
              </a:p>
              <a:p>
                <a:r>
                  <a:rPr lang="en-US" altLang="en-US" dirty="0"/>
                  <a:t>Example: People with asthma at the time of interview</a:t>
                </a:r>
              </a:p>
              <a:p>
                <a:r>
                  <a:rPr lang="en-US" altLang="en-US" dirty="0"/>
                  <a:t>Formula</a:t>
                </a:r>
              </a:p>
              <a:p>
                <a:pPr lvl="1"/>
                <a14:m>
                  <m:oMath xmlns:m="http://schemas.openxmlformats.org/officeDocument/2006/math">
                    <m:r>
                      <a:rPr lang="en-US" altLang="en-US" i="1" smtClean="0">
                        <a:latin typeface="Cambria Math" panose="02040503050406030204" pitchFamily="18" charset="0"/>
                      </a:rPr>
                      <m:t>𝑃𝑜𝑖𝑛𝑡</m:t>
                    </m:r>
                    <m:r>
                      <a:rPr lang="en-US" altLang="en-US" i="1" smtClean="0">
                        <a:latin typeface="Cambria Math" panose="02040503050406030204" pitchFamily="18" charset="0"/>
                      </a:rPr>
                      <m:t> </m:t>
                    </m:r>
                    <m:r>
                      <a:rPr lang="en-US" altLang="en-US" i="1">
                        <a:latin typeface="Cambria Math" panose="02040503050406030204" pitchFamily="18" charset="0"/>
                      </a:rPr>
                      <m:t>𝑝𝑟𝑒𝑣𝑎𝑙𝑒𝑛𝑐𝑒</m:t>
                    </m:r>
                    <m:r>
                      <a:rPr lang="en-US" altLang="en-US" i="1">
                        <a:latin typeface="Cambria Math" panose="02040503050406030204" pitchFamily="18" charset="0"/>
                      </a:rPr>
                      <m:t> = </m:t>
                    </m:r>
                    <m:r>
                      <a:rPr lang="en-US" altLang="en-US" i="1">
                        <a:latin typeface="Cambria Math" panose="02040503050406030204" pitchFamily="18" charset="0"/>
                      </a:rPr>
                      <m:t>𝑁𝑢𝑚𝑏𝑒𝑟</m:t>
                    </m:r>
                    <m:r>
                      <a:rPr lang="en-US" altLang="en-US" i="1">
                        <a:latin typeface="Cambria Math" panose="02040503050406030204" pitchFamily="18" charset="0"/>
                      </a:rPr>
                      <m:t> </m:t>
                    </m:r>
                    <m:r>
                      <a:rPr lang="en-US" altLang="en-US" i="1">
                        <a:latin typeface="Cambria Math" panose="02040503050406030204" pitchFamily="18" charset="0"/>
                      </a:rPr>
                      <m:t>𝑜𝑓</m:t>
                    </m:r>
                    <m:r>
                      <a:rPr lang="en-US" altLang="en-US" i="1">
                        <a:latin typeface="Cambria Math" panose="02040503050406030204" pitchFamily="18" charset="0"/>
                      </a:rPr>
                      <m:t> </m:t>
                    </m:r>
                    <m:r>
                      <a:rPr lang="en-US" altLang="en-US" i="1">
                        <a:latin typeface="Cambria Math" panose="02040503050406030204" pitchFamily="18" charset="0"/>
                      </a:rPr>
                      <m:t>𝑝𝑒𝑟𝑠𝑜𝑛𝑠</m:t>
                    </m:r>
                    <m:r>
                      <a:rPr lang="en-US" altLang="en-US" i="1">
                        <a:latin typeface="Cambria Math" panose="02040503050406030204" pitchFamily="18" charset="0"/>
                      </a:rPr>
                      <m:t> </m:t>
                    </m:r>
                    <m:r>
                      <a:rPr lang="en-US" altLang="en-US" i="1">
                        <a:latin typeface="Cambria Math" panose="02040503050406030204" pitchFamily="18" charset="0"/>
                      </a:rPr>
                      <m:t>𝑖𝑙𝑙</m:t>
                    </m:r>
                    <m:r>
                      <a:rPr lang="en-US" altLang="en-US" i="1">
                        <a:latin typeface="Cambria Math" panose="02040503050406030204" pitchFamily="18" charset="0"/>
                      </a:rPr>
                      <m:t> </m:t>
                    </m:r>
                    <m:r>
                      <a:rPr lang="en-US" altLang="en-US" i="1">
                        <a:latin typeface="Cambria Math" panose="02040503050406030204" pitchFamily="18" charset="0"/>
                      </a:rPr>
                      <m:t>𝑎𝑡</m:t>
                    </m:r>
                    <m:r>
                      <a:rPr lang="en-US" altLang="en-US" i="1">
                        <a:latin typeface="Cambria Math" panose="02040503050406030204" pitchFamily="18" charset="0"/>
                      </a:rPr>
                      <m:t> </m:t>
                    </m:r>
                    <m:r>
                      <a:rPr lang="en-US" altLang="en-US" i="1">
                        <a:latin typeface="Cambria Math" panose="02040503050406030204" pitchFamily="18" charset="0"/>
                      </a:rPr>
                      <m:t>𝑎</m:t>
                    </m:r>
                    <m:r>
                      <a:rPr lang="en-US" altLang="en-US" i="1">
                        <a:latin typeface="Cambria Math" panose="02040503050406030204" pitchFamily="18" charset="0"/>
                      </a:rPr>
                      <m:t> </m:t>
                    </m:r>
                    <m:r>
                      <a:rPr lang="en-US" altLang="en-US" i="1">
                        <a:latin typeface="Cambria Math" panose="02040503050406030204" pitchFamily="18" charset="0"/>
                      </a:rPr>
                      <m:t>𝑝𝑜𝑖𝑛𝑡</m:t>
                    </m:r>
                    <m:r>
                      <a:rPr lang="en-US" altLang="en-US" i="1">
                        <a:latin typeface="Cambria Math" panose="02040503050406030204" pitchFamily="18" charset="0"/>
                      </a:rPr>
                      <m:t> </m:t>
                    </m:r>
                    <m:r>
                      <a:rPr lang="en-US" altLang="en-US" i="1">
                        <a:latin typeface="Cambria Math" panose="02040503050406030204" pitchFamily="18" charset="0"/>
                      </a:rPr>
                      <m:t>𝑖𝑛</m:t>
                    </m:r>
                    <m:r>
                      <a:rPr lang="en-US" altLang="en-US" i="1">
                        <a:latin typeface="Cambria Math" panose="02040503050406030204" pitchFamily="18" charset="0"/>
                      </a:rPr>
                      <m:t> </m:t>
                    </m:r>
                    <m:r>
                      <a:rPr lang="en-US" altLang="en-US" i="1">
                        <a:latin typeface="Cambria Math" panose="02040503050406030204" pitchFamily="18" charset="0"/>
                      </a:rPr>
                      <m:t>𝑡𝑖𝑚𝑒</m:t>
                    </m:r>
                  </m:oMath>
                </a14:m>
                <a:r>
                  <a:rPr lang="en-US" altLang="en-US" dirty="0"/>
                  <a:t/>
                </a:r>
                <a:br>
                  <a:rPr lang="en-US" altLang="en-US" dirty="0"/>
                </a:br>
                <a14:m>
                  <m:oMath xmlns:m="http://schemas.openxmlformats.org/officeDocument/2006/math">
                    <m:r>
                      <a:rPr lang="en-US" altLang="en-US" i="1" smtClean="0">
                        <a:latin typeface="Cambria Math" panose="02040503050406030204" pitchFamily="18" charset="0"/>
                      </a:rPr>
                      <m:t>			       </m:t>
                    </m:r>
                    <m:r>
                      <a:rPr lang="en-US" altLang="en-US" i="1" smtClean="0">
                        <a:latin typeface="Cambria Math" panose="02040503050406030204" pitchFamily="18" charset="0"/>
                      </a:rPr>
                      <m:t>𝑇𝑜𝑡𝑎𝑙</m:t>
                    </m:r>
                    <m:r>
                      <a:rPr lang="en-US" altLang="en-US" i="1" smtClean="0">
                        <a:latin typeface="Cambria Math" panose="02040503050406030204" pitchFamily="18" charset="0"/>
                      </a:rPr>
                      <m:t> </m:t>
                    </m:r>
                    <m:r>
                      <a:rPr lang="en-US" altLang="en-US" i="1" smtClean="0">
                        <a:latin typeface="Cambria Math" panose="02040503050406030204" pitchFamily="18" charset="0"/>
                      </a:rPr>
                      <m:t>𝑛𝑢𝑚𝑏𝑒𝑟</m:t>
                    </m:r>
                    <m:r>
                      <a:rPr lang="en-US" altLang="en-US" i="1" smtClean="0">
                        <a:latin typeface="Cambria Math" panose="02040503050406030204" pitchFamily="18" charset="0"/>
                      </a:rPr>
                      <m:t> </m:t>
                    </m:r>
                    <m:r>
                      <a:rPr lang="en-US" altLang="en-US" i="1" smtClean="0">
                        <a:latin typeface="Cambria Math" panose="02040503050406030204" pitchFamily="18" charset="0"/>
                      </a:rPr>
                      <m:t>𝑖𝑛</m:t>
                    </m:r>
                    <m:r>
                      <a:rPr lang="en-US" altLang="en-US" i="1" smtClean="0">
                        <a:latin typeface="Cambria Math" panose="02040503050406030204" pitchFamily="18" charset="0"/>
                      </a:rPr>
                      <m:t> </m:t>
                    </m:r>
                    <m:r>
                      <a:rPr lang="en-US" altLang="en-US" i="1" smtClean="0">
                        <a:latin typeface="Cambria Math" panose="02040503050406030204" pitchFamily="18" charset="0"/>
                      </a:rPr>
                      <m:t>𝑡h𝑒</m:t>
                    </m:r>
                    <m:r>
                      <a:rPr lang="en-US" altLang="en-US" i="1" smtClean="0">
                        <a:latin typeface="Cambria Math" panose="02040503050406030204" pitchFamily="18" charset="0"/>
                      </a:rPr>
                      <m:t> </m:t>
                    </m:r>
                    <m:r>
                      <a:rPr lang="en-US" altLang="en-US" i="1" smtClean="0">
                        <a:latin typeface="Cambria Math" panose="02040503050406030204" pitchFamily="18" charset="0"/>
                      </a:rPr>
                      <m:t>𝑔𝑟𝑜𝑢𝑝</m:t>
                    </m:r>
                  </m:oMath>
                </a14:m>
                <a:endParaRPr lang="en-US" altLang="en-US" dirty="0"/>
              </a:p>
            </p:txBody>
          </p:sp>
        </mc:Choice>
        <mc:Fallback xmlns="">
          <p:sp>
            <p:nvSpPr>
              <p:cNvPr id="33795" name="Rectangle 2"/>
              <p:cNvSpPr>
                <a:spLocks noGrp="1" noRot="1" noChangeAspect="1" noMove="1" noResize="1" noEditPoints="1" noAdjustHandles="1" noChangeArrowheads="1" noChangeShapeType="1" noTextEdit="1"/>
              </p:cNvSpPr>
              <p:nvPr>
                <p:ph idx="1"/>
              </p:nvPr>
            </p:nvSpPr>
            <p:spPr>
              <a:xfrm>
                <a:off x="1028660" y="1656523"/>
                <a:ext cx="11429554" cy="5221163"/>
              </a:xfrm>
              <a:blipFill>
                <a:blip r:embed="rId2"/>
                <a:stretch>
                  <a:fillRect l="-999" t="-1214" r="-1554"/>
                </a:stretch>
              </a:blipFill>
            </p:spPr>
            <p:txBody>
              <a:bodyPr/>
              <a:lstStyle/>
              <a:p>
                <a:r>
                  <a:rPr lang="en-US">
                    <a:noFill/>
                  </a:rPr>
                  <a:t> </a:t>
                </a:r>
              </a:p>
            </p:txBody>
          </p:sp>
        </mc:Fallback>
      </mc:AlternateContent>
    </p:spTree>
    <p:extLst>
      <p:ext uri="{BB962C8B-B14F-4D97-AF65-F5344CB8AC3E}">
        <p14:creationId xmlns:p14="http://schemas.microsoft.com/office/powerpoint/2010/main" val="12122151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
          <p:cNvSpPr>
            <a:spLocks noGrp="1" noChangeArrowheads="1"/>
          </p:cNvSpPr>
          <p:nvPr>
            <p:ph type="title"/>
          </p:nvPr>
        </p:nvSpPr>
        <p:spPr>
          <a:xfrm>
            <a:off x="0" y="134482"/>
            <a:ext cx="13546138" cy="1113432"/>
          </a:xfrm>
        </p:spPr>
        <p:txBody>
          <a:bodyPr/>
          <a:lstStyle/>
          <a:p>
            <a:r>
              <a:rPr lang="en-US" altLang="en-US" dirty="0"/>
              <a:t>Period Prevalence</a:t>
            </a:r>
          </a:p>
        </p:txBody>
      </p:sp>
      <p:sp>
        <p:nvSpPr>
          <p:cNvPr id="34819" name="Rectangle 2"/>
          <p:cNvSpPr>
            <a:spLocks noGrp="1" noChangeArrowheads="1"/>
          </p:cNvSpPr>
          <p:nvPr>
            <p:ph idx="1"/>
          </p:nvPr>
        </p:nvSpPr>
        <p:spPr>
          <a:xfrm>
            <a:off x="1028660" y="1656523"/>
            <a:ext cx="11429554" cy="5221163"/>
          </a:xfrm>
        </p:spPr>
        <p:txBody>
          <a:bodyPr/>
          <a:lstStyle/>
          <a:p>
            <a:r>
              <a:rPr lang="en-US" dirty="0"/>
              <a:t>All cases of a disease or health condition within a period of time</a:t>
            </a:r>
          </a:p>
          <a:p>
            <a:r>
              <a:rPr lang="en-US" dirty="0"/>
              <a:t>Example: Percentage of people in U.S. who had asthma during past 12 months</a:t>
            </a:r>
          </a:p>
        </p:txBody>
      </p:sp>
    </p:spTree>
    <p:extLst>
      <p:ext uri="{BB962C8B-B14F-4D97-AF65-F5344CB8AC3E}">
        <p14:creationId xmlns:p14="http://schemas.microsoft.com/office/powerpoint/2010/main" val="1526307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0" y="134482"/>
            <a:ext cx="13546138" cy="1113432"/>
          </a:xfrm>
        </p:spPr>
        <p:txBody>
          <a:bodyPr/>
          <a:lstStyle/>
          <a:p>
            <a:r>
              <a:rPr lang="en-US" altLang="en-US" dirty="0"/>
              <a:t>Lifetime Prevalence</a:t>
            </a:r>
          </a:p>
        </p:txBody>
      </p:sp>
      <p:sp>
        <p:nvSpPr>
          <p:cNvPr id="35843" name="Rectangle 3"/>
          <p:cNvSpPr>
            <a:spLocks noGrp="1" noChangeArrowheads="1"/>
          </p:cNvSpPr>
          <p:nvPr>
            <p:ph idx="1"/>
          </p:nvPr>
        </p:nvSpPr>
        <p:spPr>
          <a:xfrm>
            <a:off x="1028660" y="1656523"/>
            <a:ext cx="11429554" cy="5221163"/>
          </a:xfrm>
        </p:spPr>
        <p:txBody>
          <a:bodyPr/>
          <a:lstStyle/>
          <a:p>
            <a:r>
              <a:rPr lang="en-US" altLang="en-US" dirty="0"/>
              <a:t>Cases diagnosed at any time during the person’s lifetime</a:t>
            </a:r>
          </a:p>
          <a:p>
            <a:r>
              <a:rPr lang="en-US" altLang="en-US" dirty="0"/>
              <a:t>Example: Lifetime asthma prevalence </a:t>
            </a:r>
          </a:p>
        </p:txBody>
      </p:sp>
    </p:spTree>
    <p:extLst>
      <p:ext uri="{BB962C8B-B14F-4D97-AF65-F5344CB8AC3E}">
        <p14:creationId xmlns:p14="http://schemas.microsoft.com/office/powerpoint/2010/main" val="3057704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
          <p:cNvSpPr>
            <a:spLocks noGrp="1" noChangeArrowheads="1"/>
          </p:cNvSpPr>
          <p:nvPr>
            <p:ph type="title"/>
          </p:nvPr>
        </p:nvSpPr>
        <p:spPr>
          <a:xfrm>
            <a:off x="0" y="134482"/>
            <a:ext cx="13546138" cy="1113432"/>
          </a:xfrm>
        </p:spPr>
        <p:txBody>
          <a:bodyPr/>
          <a:lstStyle/>
          <a:p>
            <a:r>
              <a:rPr lang="en-US" altLang="en-US" dirty="0"/>
              <a:t>Interrelationships Between Incidence and Prevalence </a:t>
            </a:r>
            <a:br>
              <a:rPr lang="en-US" altLang="en-US" dirty="0"/>
            </a:br>
            <a:r>
              <a:rPr lang="en-US" altLang="en-US" dirty="0"/>
              <a:t>(1 of 2)</a:t>
            </a:r>
          </a:p>
        </p:txBody>
      </p:sp>
      <p:sp>
        <p:nvSpPr>
          <p:cNvPr id="26626" name="Rectangle 2"/>
          <p:cNvSpPr>
            <a:spLocks noGrp="1" noChangeArrowheads="1"/>
          </p:cNvSpPr>
          <p:nvPr>
            <p:ph idx="1"/>
          </p:nvPr>
        </p:nvSpPr>
        <p:spPr>
          <a:xfrm>
            <a:off x="1028660" y="1656523"/>
            <a:ext cx="11429554" cy="5221163"/>
          </a:xfrm>
        </p:spPr>
        <p:txBody>
          <a:bodyPr/>
          <a:lstStyle/>
          <a:p>
            <a:r>
              <a:rPr lang="en-US" dirty="0"/>
              <a:t>Incidence and prevalence are interrelated concepts.</a:t>
            </a:r>
          </a:p>
          <a:p>
            <a:r>
              <a:rPr lang="en-US" dirty="0"/>
              <a:t>Factors that cause prevalence to increase</a:t>
            </a:r>
          </a:p>
          <a:p>
            <a:pPr lvl="1"/>
            <a:r>
              <a:rPr lang="en-US" dirty="0"/>
              <a:t>Increase in incidence</a:t>
            </a:r>
          </a:p>
          <a:p>
            <a:pPr lvl="1"/>
            <a:r>
              <a:rPr lang="en-US" dirty="0"/>
              <a:t>Longer duration of case</a:t>
            </a:r>
          </a:p>
          <a:p>
            <a:pPr lvl="1"/>
            <a:r>
              <a:rPr lang="en-US" dirty="0"/>
              <a:t>In-migration of cases</a:t>
            </a:r>
          </a:p>
          <a:p>
            <a:pPr lvl="1"/>
            <a:r>
              <a:rPr lang="en-US" dirty="0"/>
              <a:t>Prolongation of life of patients without cure</a:t>
            </a:r>
          </a:p>
        </p:txBody>
      </p:sp>
    </p:spTree>
    <p:extLst>
      <p:ext uri="{BB962C8B-B14F-4D97-AF65-F5344CB8AC3E}">
        <p14:creationId xmlns:p14="http://schemas.microsoft.com/office/powerpoint/2010/main" val="1228832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
          <p:cNvSpPr>
            <a:spLocks noGrp="1" noChangeArrowheads="1"/>
          </p:cNvSpPr>
          <p:nvPr>
            <p:ph type="title"/>
          </p:nvPr>
        </p:nvSpPr>
        <p:spPr>
          <a:xfrm>
            <a:off x="0" y="134482"/>
            <a:ext cx="13546138" cy="1113432"/>
          </a:xfrm>
        </p:spPr>
        <p:txBody>
          <a:bodyPr/>
          <a:lstStyle/>
          <a:p>
            <a:r>
              <a:rPr lang="en-US" altLang="en-US" dirty="0"/>
              <a:t>Interrelationships Between Incidence and Prevalence </a:t>
            </a:r>
            <a:br>
              <a:rPr lang="en-US" altLang="en-US" dirty="0"/>
            </a:br>
            <a:r>
              <a:rPr lang="en-US" altLang="en-US" dirty="0"/>
              <a:t>(2 of 2)</a:t>
            </a:r>
          </a:p>
        </p:txBody>
      </p:sp>
      <p:sp>
        <p:nvSpPr>
          <p:cNvPr id="26626" name="Rectangle 2"/>
          <p:cNvSpPr>
            <a:spLocks noGrp="1" noChangeArrowheads="1"/>
          </p:cNvSpPr>
          <p:nvPr>
            <p:ph idx="1"/>
          </p:nvPr>
        </p:nvSpPr>
        <p:spPr>
          <a:xfrm>
            <a:off x="1028660" y="1656523"/>
            <a:ext cx="11429554" cy="5221163"/>
          </a:xfrm>
        </p:spPr>
        <p:txBody>
          <a:bodyPr/>
          <a:lstStyle/>
          <a:p>
            <a:r>
              <a:rPr lang="en-US" dirty="0"/>
              <a:t>Factors that cause prevalence to decrease</a:t>
            </a:r>
          </a:p>
          <a:p>
            <a:pPr lvl="1"/>
            <a:r>
              <a:rPr lang="en-US" dirty="0"/>
              <a:t>Decrease in incidence</a:t>
            </a:r>
          </a:p>
          <a:p>
            <a:pPr lvl="1"/>
            <a:r>
              <a:rPr lang="en-US" dirty="0"/>
              <a:t>Shorter duration of disease</a:t>
            </a:r>
          </a:p>
          <a:p>
            <a:pPr lvl="1"/>
            <a:r>
              <a:rPr lang="en-US" dirty="0"/>
              <a:t>In-migration of healthy people</a:t>
            </a:r>
          </a:p>
          <a:p>
            <a:pPr lvl="1"/>
            <a:r>
              <a:rPr lang="en-US" dirty="0"/>
              <a:t>Improved cure rate of disease</a:t>
            </a:r>
          </a:p>
        </p:txBody>
      </p:sp>
    </p:spTree>
    <p:extLst>
      <p:ext uri="{BB962C8B-B14F-4D97-AF65-F5344CB8AC3E}">
        <p14:creationId xmlns:p14="http://schemas.microsoft.com/office/powerpoint/2010/main" val="3136135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
          <p:cNvSpPr>
            <a:spLocks noGrp="1" noChangeArrowheads="1"/>
          </p:cNvSpPr>
          <p:nvPr>
            <p:ph type="title"/>
          </p:nvPr>
        </p:nvSpPr>
        <p:spPr>
          <a:xfrm>
            <a:off x="0" y="134482"/>
            <a:ext cx="13546138" cy="1113432"/>
          </a:xfrm>
        </p:spPr>
        <p:txBody>
          <a:bodyPr>
            <a:normAutofit/>
          </a:bodyPr>
          <a:lstStyle/>
          <a:p>
            <a:r>
              <a:rPr lang="en-US" altLang="en-US" dirty="0"/>
              <a:t>Figure 3-8 Factors influencing observed prevalence</a:t>
            </a:r>
          </a:p>
        </p:txBody>
      </p:sp>
      <p:pic>
        <p:nvPicPr>
          <p:cNvPr id="2" name="Picture 1" descr="There are two columns: increase prevalence and decrease prevalence. Column 1: increased disease duration, decreased disease severity, increase in new cases, outmigration of healthy people; Column 2: decreased disease duration, increased disease severity, out-migration of cases, in-migration of healthy people." title="Figure 3.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98246" y="1828800"/>
            <a:ext cx="6549646" cy="4117028"/>
          </a:xfrm>
          <a:prstGeom prst="rect">
            <a:avLst/>
          </a:prstGeom>
        </p:spPr>
      </p:pic>
    </p:spTree>
    <p:extLst>
      <p:ext uri="{BB962C8B-B14F-4D97-AF65-F5344CB8AC3E}">
        <p14:creationId xmlns:p14="http://schemas.microsoft.com/office/powerpoint/2010/main" val="3882946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
          <p:cNvSpPr>
            <a:spLocks noGrp="1" noChangeArrowheads="1"/>
          </p:cNvSpPr>
          <p:nvPr>
            <p:ph type="title"/>
          </p:nvPr>
        </p:nvSpPr>
        <p:spPr>
          <a:xfrm>
            <a:off x="0" y="134482"/>
            <a:ext cx="13546138" cy="1113432"/>
          </a:xfrm>
        </p:spPr>
        <p:txBody>
          <a:bodyPr/>
          <a:lstStyle/>
          <a:p>
            <a:r>
              <a:rPr lang="en-US" altLang="en-US" dirty="0"/>
              <a:t>Measures of Disease Occurrence</a:t>
            </a:r>
          </a:p>
        </p:txBody>
      </p:sp>
      <p:sp>
        <p:nvSpPr>
          <p:cNvPr id="31747" name="Rectangle 2"/>
          <p:cNvSpPr>
            <a:spLocks noGrp="1" noChangeArrowheads="1"/>
          </p:cNvSpPr>
          <p:nvPr>
            <p:ph idx="1"/>
          </p:nvPr>
        </p:nvSpPr>
        <p:spPr>
          <a:xfrm>
            <a:off x="1028660" y="1656523"/>
            <a:ext cx="11429554" cy="5221163"/>
          </a:xfrm>
        </p:spPr>
        <p:txBody>
          <a:bodyPr/>
          <a:lstStyle/>
          <a:p>
            <a:r>
              <a:rPr lang="en-US" altLang="en-US" dirty="0"/>
              <a:t>Over the last several decades in the U.S., mortality (or death) rates have trended downward.</a:t>
            </a:r>
          </a:p>
          <a:p>
            <a:r>
              <a:rPr lang="en-US" altLang="en-US" dirty="0"/>
              <a:t>Life expectancy has trended upward.</a:t>
            </a:r>
          </a:p>
          <a:p>
            <a:pPr lvl="1"/>
            <a:r>
              <a:rPr lang="en-US" altLang="en-US" dirty="0"/>
              <a:t>Life expectancy: Number of additional years that a person is expected to live at any particular age (e.g., at birth)</a:t>
            </a:r>
          </a:p>
          <a:p>
            <a:pPr lvl="1"/>
            <a:r>
              <a:rPr lang="en-US" altLang="en-US" dirty="0"/>
              <a:t>COVID-19 pandemic and epidemic of drug overdose deaths have led to recent decreases in life expectancy.</a:t>
            </a:r>
          </a:p>
          <a:p>
            <a:pPr lvl="1"/>
            <a:r>
              <a:rPr lang="en-US" altLang="en-US" dirty="0"/>
              <a:t>Life expectancy varies by race.</a:t>
            </a:r>
          </a:p>
        </p:txBody>
      </p:sp>
    </p:spTree>
    <p:extLst>
      <p:ext uri="{BB962C8B-B14F-4D97-AF65-F5344CB8AC3E}">
        <p14:creationId xmlns:p14="http://schemas.microsoft.com/office/powerpoint/2010/main" val="1211880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43E9565-4D7A-A3EB-3FF7-78E010754EC2}"/>
              </a:ext>
            </a:extLst>
          </p:cNvPr>
          <p:cNvSpPr>
            <a:spLocks noGrp="1"/>
          </p:cNvSpPr>
          <p:nvPr>
            <p:ph type="title"/>
          </p:nvPr>
        </p:nvSpPr>
        <p:spPr/>
        <p:txBody>
          <a:bodyPr/>
          <a:lstStyle/>
          <a:p>
            <a:r>
              <a:rPr lang="en-US" dirty="0"/>
              <a:t>Figure 3-10 Life Expectancy at birth in the United States by Race, 1990–2017</a:t>
            </a:r>
          </a:p>
        </p:txBody>
      </p:sp>
      <p:pic>
        <p:nvPicPr>
          <p:cNvPr id="3" name="Picture 2" descr="The trend graph plots the life expectancy at birth versus year. The data inferred from the graph is as follows: The white trend starts at 76 in 1990, fluctuates and increases to 79 in 2014, and declines to 78 in 2017; the black trend starts at 69 in 1990, fluctuates and increases to 75 in 2014, and declines to 74 in 2017; the all trend starts at 75 in 1990, fluctuates, and gradually increases to 79 in 2014, and declines to 78 in 2017. Note that the above-mentioned values are approximate." title="Figure 3.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50902" y="1524000"/>
            <a:ext cx="8844334" cy="5464060"/>
          </a:xfrm>
          <a:prstGeom prst="rect">
            <a:avLst/>
          </a:prstGeom>
        </p:spPr>
      </p:pic>
    </p:spTree>
    <p:extLst>
      <p:ext uri="{BB962C8B-B14F-4D97-AF65-F5344CB8AC3E}">
        <p14:creationId xmlns:p14="http://schemas.microsoft.com/office/powerpoint/2010/main" val="437732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
          <p:cNvSpPr>
            <a:spLocks noGrp="1" noChangeArrowheads="1"/>
          </p:cNvSpPr>
          <p:nvPr>
            <p:ph type="title"/>
          </p:nvPr>
        </p:nvSpPr>
        <p:spPr>
          <a:xfrm>
            <a:off x="0" y="134482"/>
            <a:ext cx="13546138" cy="1113432"/>
          </a:xfrm>
        </p:spPr>
        <p:txBody>
          <a:bodyPr/>
          <a:lstStyle/>
          <a:p>
            <a:r>
              <a:rPr lang="en-US" dirty="0"/>
              <a:t>Epidemiologic Measures Related to Mortality</a:t>
            </a:r>
          </a:p>
        </p:txBody>
      </p:sp>
      <p:sp>
        <p:nvSpPr>
          <p:cNvPr id="38915" name="Rectangle 2"/>
          <p:cNvSpPr>
            <a:spLocks noGrp="1" noChangeArrowheads="1"/>
          </p:cNvSpPr>
          <p:nvPr>
            <p:ph idx="1"/>
          </p:nvPr>
        </p:nvSpPr>
        <p:spPr>
          <a:xfrm>
            <a:off x="1028660" y="1656523"/>
            <a:ext cx="11429554" cy="5221163"/>
          </a:xfrm>
        </p:spPr>
        <p:txBody>
          <a:bodyPr/>
          <a:lstStyle/>
          <a:p>
            <a:r>
              <a:rPr lang="en-US" dirty="0"/>
              <a:t>Four measures of mortality (death) </a:t>
            </a:r>
          </a:p>
          <a:p>
            <a:pPr lvl="1"/>
            <a:r>
              <a:rPr lang="en-US" dirty="0"/>
              <a:t>Crude rates</a:t>
            </a:r>
          </a:p>
          <a:p>
            <a:pPr lvl="1"/>
            <a:r>
              <a:rPr lang="en-US" dirty="0"/>
              <a:t>Case-fatality rates</a:t>
            </a:r>
          </a:p>
          <a:p>
            <a:pPr lvl="1"/>
            <a:r>
              <a:rPr lang="en-US" dirty="0"/>
              <a:t>Proportional mortality ratio </a:t>
            </a:r>
          </a:p>
          <a:p>
            <a:pPr lvl="1"/>
            <a:r>
              <a:rPr lang="en-US" dirty="0"/>
              <a:t>Cause-specific rates </a:t>
            </a:r>
          </a:p>
        </p:txBody>
      </p:sp>
    </p:spTree>
    <p:extLst>
      <p:ext uri="{BB962C8B-B14F-4D97-AF65-F5344CB8AC3E}">
        <p14:creationId xmlns:p14="http://schemas.microsoft.com/office/powerpoint/2010/main" val="3347485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
          <p:cNvSpPr>
            <a:spLocks noGrp="1" noChangeArrowheads="1"/>
          </p:cNvSpPr>
          <p:nvPr>
            <p:ph type="title"/>
          </p:nvPr>
        </p:nvSpPr>
        <p:spPr>
          <a:xfrm>
            <a:off x="0" y="134482"/>
            <a:ext cx="13546138" cy="1113432"/>
          </a:xfrm>
        </p:spPr>
        <p:txBody>
          <a:bodyPr/>
          <a:lstStyle/>
          <a:p>
            <a:r>
              <a:rPr lang="en-US" altLang="en-US" dirty="0"/>
              <a:t>Three Categories of Mortality Rates</a:t>
            </a:r>
          </a:p>
        </p:txBody>
      </p:sp>
      <p:sp>
        <p:nvSpPr>
          <p:cNvPr id="39939" name="Rectangle 2"/>
          <p:cNvSpPr>
            <a:spLocks noGrp="1" noChangeArrowheads="1"/>
          </p:cNvSpPr>
          <p:nvPr>
            <p:ph idx="1"/>
          </p:nvPr>
        </p:nvSpPr>
        <p:spPr>
          <a:xfrm>
            <a:off x="1028660" y="1656523"/>
            <a:ext cx="11429554" cy="5221163"/>
          </a:xfrm>
        </p:spPr>
        <p:txBody>
          <a:bodyPr/>
          <a:lstStyle/>
          <a:p>
            <a:r>
              <a:rPr lang="en-US" altLang="en-US" dirty="0"/>
              <a:t>Crude rates</a:t>
            </a:r>
          </a:p>
          <a:p>
            <a:r>
              <a:rPr lang="en-US" altLang="en-US" dirty="0"/>
              <a:t>Specific rates</a:t>
            </a:r>
          </a:p>
          <a:p>
            <a:r>
              <a:rPr lang="en-US" altLang="en-US" dirty="0"/>
              <a:t>Adjusted rates</a:t>
            </a:r>
          </a:p>
        </p:txBody>
      </p:sp>
    </p:spTree>
    <p:extLst>
      <p:ext uri="{BB962C8B-B14F-4D97-AF65-F5344CB8AC3E}">
        <p14:creationId xmlns:p14="http://schemas.microsoft.com/office/powerpoint/2010/main" val="1890245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a:xfrm>
            <a:off x="0" y="134482"/>
            <a:ext cx="13546138" cy="1113432"/>
          </a:xfrm>
        </p:spPr>
        <p:txBody>
          <a:bodyPr/>
          <a:lstStyle/>
          <a:p>
            <a:r>
              <a:rPr lang="en-US" altLang="en-US" dirty="0"/>
              <a:t>Crude Mortality Rate (1 of 2)</a:t>
            </a:r>
          </a:p>
        </p:txBody>
      </p:sp>
      <p:sp>
        <p:nvSpPr>
          <p:cNvPr id="40963" name="Content Placeholder 2"/>
          <p:cNvSpPr>
            <a:spLocks noGrp="1"/>
          </p:cNvSpPr>
          <p:nvPr>
            <p:ph idx="1"/>
          </p:nvPr>
        </p:nvSpPr>
        <p:spPr>
          <a:xfrm>
            <a:off x="1028660" y="1656523"/>
            <a:ext cx="11429554" cy="5221163"/>
          </a:xfrm>
        </p:spPr>
        <p:txBody>
          <a:bodyPr/>
          <a:lstStyle/>
          <a:p>
            <a:r>
              <a:rPr lang="en-US" altLang="en-US" dirty="0"/>
              <a:t>Type of rate that has not been modified to take account of any factors, such as the demographic makeup of the population, that may affect the observed rate</a:t>
            </a:r>
          </a:p>
          <a:p>
            <a:r>
              <a:rPr lang="en-US" altLang="en-US" dirty="0"/>
              <a:t>Includes time period during which event occurred (usually 1 year).</a:t>
            </a:r>
          </a:p>
          <a:p>
            <a:r>
              <a:rPr lang="en-US" altLang="en-US" dirty="0"/>
              <a:t>Numerator consists of frequency of deaths from all causes over specified period of time.</a:t>
            </a:r>
          </a:p>
          <a:p>
            <a:r>
              <a:rPr lang="en-US" altLang="en-US" dirty="0"/>
              <a:t>Denominator is a unit size of population.</a:t>
            </a:r>
          </a:p>
          <a:p>
            <a:r>
              <a:rPr lang="en-US" altLang="en-US" dirty="0"/>
              <a:t>Helpful in making comparisons but has limitations</a:t>
            </a:r>
          </a:p>
          <a:p>
            <a:pPr lvl="1"/>
            <a:endParaRPr lang="en-US" altLang="en-US" dirty="0"/>
          </a:p>
        </p:txBody>
      </p:sp>
    </p:spTree>
    <p:extLst>
      <p:ext uri="{BB962C8B-B14F-4D97-AF65-F5344CB8AC3E}">
        <p14:creationId xmlns:p14="http://schemas.microsoft.com/office/powerpoint/2010/main" val="3255441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a:xfrm>
            <a:off x="0" y="134482"/>
            <a:ext cx="13546138" cy="1113432"/>
          </a:xfrm>
        </p:spPr>
        <p:txBody>
          <a:bodyPr/>
          <a:lstStyle/>
          <a:p>
            <a:r>
              <a:rPr lang="en-US" altLang="en-US" dirty="0"/>
              <a:t>Crude Mortality Rate (2 of 2)</a:t>
            </a:r>
          </a:p>
        </p:txBody>
      </p:sp>
      <p:sp>
        <p:nvSpPr>
          <p:cNvPr id="41987" name="Content Placeholder 2"/>
          <p:cNvSpPr>
            <a:spLocks noGrp="1"/>
          </p:cNvSpPr>
          <p:nvPr>
            <p:ph idx="1"/>
          </p:nvPr>
        </p:nvSpPr>
        <p:spPr>
          <a:xfrm>
            <a:off x="1028660" y="1656523"/>
            <a:ext cx="11429554" cy="5221163"/>
          </a:xfrm>
        </p:spPr>
        <p:txBody>
          <a:bodyPr/>
          <a:lstStyle/>
          <a:p>
            <a:r>
              <a:rPr lang="en-US" altLang="en-US" dirty="0"/>
              <a:t>Crude death rate is a type of crude rate.</a:t>
            </a:r>
          </a:p>
          <a:p>
            <a:r>
              <a:rPr lang="en-US" altLang="en-US" dirty="0"/>
              <a:t>Can be expressed in terms of any unit size of a population that is convenient</a:t>
            </a:r>
          </a:p>
          <a:p>
            <a:pPr lvl="1"/>
            <a:r>
              <a:rPr lang="en-US" altLang="en-US" dirty="0"/>
              <a:t>Example: Crude mortality rates are typically expressed per 100,000 population.</a:t>
            </a:r>
          </a:p>
        </p:txBody>
      </p:sp>
    </p:spTree>
    <p:extLst>
      <p:ext uri="{BB962C8B-B14F-4D97-AF65-F5344CB8AC3E}">
        <p14:creationId xmlns:p14="http://schemas.microsoft.com/office/powerpoint/2010/main" val="4138470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
          <p:cNvSpPr>
            <a:spLocks noGrp="1" noChangeArrowheads="1"/>
          </p:cNvSpPr>
          <p:nvPr>
            <p:ph type="title"/>
          </p:nvPr>
        </p:nvSpPr>
        <p:spPr>
          <a:xfrm>
            <a:off x="0" y="134482"/>
            <a:ext cx="13546138" cy="1113432"/>
          </a:xfrm>
        </p:spPr>
        <p:txBody>
          <a:bodyPr/>
          <a:lstStyle/>
          <a:p>
            <a:r>
              <a:rPr lang="en-US" altLang="en-US" dirty="0"/>
              <a:t>Crude Mortality Rate Calculation</a:t>
            </a: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a:xfrm>
                <a:off x="1028660" y="1656523"/>
                <a:ext cx="11429554" cy="5221163"/>
              </a:xfrm>
            </p:spPr>
            <p:txBody>
              <a:bodyPr/>
              <a:lstStyle/>
              <a:p>
                <a:r>
                  <a:rPr lang="en-US" altLang="en-US" dirty="0"/>
                  <a:t>Used to project population changes </a:t>
                </a:r>
              </a:p>
              <a:p>
                <a14:m>
                  <m:oMath xmlns:m="http://schemas.openxmlformats.org/officeDocument/2006/math">
                    <m:r>
                      <a:rPr lang="en-US" altLang="en-US" b="0" i="1" smtClean="0">
                        <a:latin typeface="Cambria Math" panose="02040503050406030204" pitchFamily="18" charset="0"/>
                      </a:rPr>
                      <m:t>𝐶𝑟𝑢𝑑𝑒</m:t>
                    </m:r>
                    <m:r>
                      <a:rPr lang="en-US" altLang="en-US" b="0" i="1" smtClean="0">
                        <a:latin typeface="Cambria Math" panose="02040503050406030204" pitchFamily="18" charset="0"/>
                      </a:rPr>
                      <m:t> </m:t>
                    </m:r>
                    <m:r>
                      <a:rPr lang="en-US" altLang="en-US" b="0" i="1" smtClean="0">
                        <a:latin typeface="Cambria Math" panose="02040503050406030204" pitchFamily="18" charset="0"/>
                      </a:rPr>
                      <m:t>𝑚𝑜𝑟𝑡𝑎𝑙𝑖𝑡𝑦</m:t>
                    </m:r>
                    <m:r>
                      <a:rPr lang="en-US" altLang="en-US" b="0" i="1" smtClean="0">
                        <a:latin typeface="Cambria Math" panose="02040503050406030204" pitchFamily="18" charset="0"/>
                      </a:rPr>
                      <m:t> </m:t>
                    </m:r>
                    <m:r>
                      <a:rPr lang="en-US" altLang="en-US" b="0" i="1" smtClean="0">
                        <a:latin typeface="Cambria Math" panose="02040503050406030204" pitchFamily="18" charset="0"/>
                      </a:rPr>
                      <m:t>𝑟𝑎𝑡𝑒</m:t>
                    </m:r>
                    <m:r>
                      <a:rPr lang="en-US" altLang="en-US" b="0" i="1" smtClean="0">
                        <a:latin typeface="Cambria Math" panose="02040503050406030204" pitchFamily="18" charset="0"/>
                      </a:rPr>
                      <m:t>= </m:t>
                    </m:r>
                    <m:f>
                      <m:fPr>
                        <m:ctrlPr>
                          <a:rPr lang="en-US" altLang="en-US" b="0" i="1" smtClean="0">
                            <a:latin typeface="Cambria Math" panose="02040503050406030204" pitchFamily="18" charset="0"/>
                          </a:rPr>
                        </m:ctrlPr>
                      </m:fPr>
                      <m:num>
                        <m:r>
                          <a:rPr lang="en-US" altLang="en-US" i="1">
                            <a:latin typeface="Cambria Math" panose="02040503050406030204" pitchFamily="18" charset="0"/>
                          </a:rPr>
                          <m:t>𝑁𝑢𝑚𝑏𝑒𝑟</m:t>
                        </m:r>
                        <m:r>
                          <a:rPr lang="en-US" altLang="en-US" i="1">
                            <a:latin typeface="Cambria Math" panose="02040503050406030204" pitchFamily="18" charset="0"/>
                          </a:rPr>
                          <m:t> </m:t>
                        </m:r>
                        <m:r>
                          <a:rPr lang="en-US" altLang="en-US" i="1">
                            <a:latin typeface="Cambria Math" panose="02040503050406030204" pitchFamily="18" charset="0"/>
                          </a:rPr>
                          <m:t>𝑜𝑓</m:t>
                        </m:r>
                        <m:r>
                          <a:rPr lang="en-US" altLang="en-US" i="1">
                            <a:latin typeface="Cambria Math" panose="02040503050406030204" pitchFamily="18" charset="0"/>
                          </a:rPr>
                          <m:t> </m:t>
                        </m:r>
                        <m:r>
                          <a:rPr lang="en-US" altLang="en-US" i="1">
                            <a:latin typeface="Cambria Math" panose="02040503050406030204" pitchFamily="18" charset="0"/>
                          </a:rPr>
                          <m:t>𝑑𝑒𝑎𝑡h𝑠</m:t>
                        </m:r>
                        <m:r>
                          <a:rPr lang="en-US" altLang="en-US" i="1">
                            <a:latin typeface="Cambria Math" panose="02040503050406030204" pitchFamily="18" charset="0"/>
                          </a:rPr>
                          <m:t> </m:t>
                        </m:r>
                        <m:r>
                          <a:rPr lang="en-US" altLang="en-US" i="1">
                            <a:latin typeface="Cambria Math" panose="02040503050406030204" pitchFamily="18" charset="0"/>
                          </a:rPr>
                          <m:t>𝑖𝑛</m:t>
                        </m:r>
                        <m:r>
                          <a:rPr lang="en-US" altLang="en-US" i="1">
                            <a:latin typeface="Cambria Math" panose="02040503050406030204" pitchFamily="18" charset="0"/>
                          </a:rPr>
                          <m:t> </m:t>
                        </m:r>
                        <m:r>
                          <a:rPr lang="en-US" altLang="en-US" i="1">
                            <a:latin typeface="Cambria Math" panose="02040503050406030204" pitchFamily="18" charset="0"/>
                          </a:rPr>
                          <m:t>𝑎</m:t>
                        </m:r>
                        <m:r>
                          <a:rPr lang="en-US" altLang="en-US" i="1">
                            <a:latin typeface="Cambria Math" panose="02040503050406030204" pitchFamily="18" charset="0"/>
                          </a:rPr>
                          <m:t> </m:t>
                        </m:r>
                        <m:r>
                          <a:rPr lang="en-US" altLang="en-US" i="1">
                            <a:latin typeface="Cambria Math" panose="02040503050406030204" pitchFamily="18" charset="0"/>
                          </a:rPr>
                          <m:t>𝑔𝑖𝑣𝑒𝑛</m:t>
                        </m:r>
                        <m:r>
                          <a:rPr lang="en-US" altLang="en-US" i="1">
                            <a:latin typeface="Cambria Math" panose="02040503050406030204" pitchFamily="18" charset="0"/>
                          </a:rPr>
                          <m:t> </m:t>
                        </m:r>
                        <m:r>
                          <a:rPr lang="en-US" altLang="en-US" i="1">
                            <a:latin typeface="Cambria Math" panose="02040503050406030204" pitchFamily="18" charset="0"/>
                          </a:rPr>
                          <m:t>𝑦𝑒𝑎𝑟</m:t>
                        </m:r>
                        <m:r>
                          <a:rPr lang="en-US" altLang="en-US" i="1">
                            <a:latin typeface="Cambria Math" panose="02040503050406030204" pitchFamily="18" charset="0"/>
                          </a:rPr>
                          <m:t> </m:t>
                        </m:r>
                      </m:num>
                      <m:den>
                        <m:eqArr>
                          <m:eqArrPr>
                            <m:ctrlPr>
                              <a:rPr lang="en-US" altLang="en-US" i="1">
                                <a:latin typeface="Cambria Math" panose="02040503050406030204" pitchFamily="18" charset="0"/>
                              </a:rPr>
                            </m:ctrlPr>
                          </m:eqArrPr>
                          <m:e>
                            <m:r>
                              <a:rPr lang="en-US" altLang="en-US" i="1">
                                <a:latin typeface="Cambria Math" panose="02040503050406030204" pitchFamily="18" charset="0"/>
                              </a:rPr>
                              <m:t>𝑅𝑒𝑓𝑒𝑟𝑒𝑛𝑐𝑒</m:t>
                            </m:r>
                            <m:r>
                              <a:rPr lang="en-US" altLang="en-US" i="1">
                                <a:latin typeface="Cambria Math" panose="02040503050406030204" pitchFamily="18" charset="0"/>
                              </a:rPr>
                              <m:t> </m:t>
                            </m:r>
                            <m:r>
                              <a:rPr lang="en-US" altLang="en-US" i="1">
                                <a:latin typeface="Cambria Math" panose="02040503050406030204" pitchFamily="18" charset="0"/>
                              </a:rPr>
                              <m:t>𝑝𝑜𝑝𝑢𝑙𝑎𝑡𝑖𝑜𝑛</m:t>
                            </m:r>
                            <m:r>
                              <a:rPr lang="en-US" altLang="en-US" i="1">
                                <a:latin typeface="Cambria Math" panose="02040503050406030204" pitchFamily="18" charset="0"/>
                              </a:rPr>
                              <m:t>  </m:t>
                            </m:r>
                          </m:e>
                          <m:e>
                            <m:r>
                              <a:rPr lang="en-US" altLang="en-US" i="1">
                                <a:latin typeface="Cambria Math" panose="02040503050406030204" pitchFamily="18" charset="0"/>
                              </a:rPr>
                              <m:t>(</m:t>
                            </m:r>
                            <m:r>
                              <a:rPr lang="en-US" altLang="en-US" i="1">
                                <a:latin typeface="Cambria Math" panose="02040503050406030204" pitchFamily="18" charset="0"/>
                              </a:rPr>
                              <m:t>𝑑𝑢𝑟𝑖𝑛𝑔</m:t>
                            </m:r>
                            <m:r>
                              <a:rPr lang="en-US" altLang="en-US" i="1">
                                <a:latin typeface="Cambria Math" panose="02040503050406030204" pitchFamily="18" charset="0"/>
                              </a:rPr>
                              <m:t> </m:t>
                            </m:r>
                            <m:r>
                              <a:rPr lang="en-US" altLang="en-US" i="1">
                                <a:latin typeface="Cambria Math" panose="02040503050406030204" pitchFamily="18" charset="0"/>
                              </a:rPr>
                              <m:t>𝑚𝑖𝑑𝑝𝑜𝑖𝑛𝑡</m:t>
                            </m:r>
                            <m:r>
                              <a:rPr lang="en-US" altLang="en-US" i="1">
                                <a:latin typeface="Cambria Math" panose="02040503050406030204" pitchFamily="18" charset="0"/>
                              </a:rPr>
                              <m:t> </m:t>
                            </m:r>
                            <m:r>
                              <a:rPr lang="en-US" altLang="en-US" i="1">
                                <a:latin typeface="Cambria Math" panose="02040503050406030204" pitchFamily="18" charset="0"/>
                              </a:rPr>
                              <m:t>𝑜𝑓</m:t>
                            </m:r>
                            <m:r>
                              <a:rPr lang="en-US" altLang="en-US" i="1">
                                <a:latin typeface="Cambria Math" panose="02040503050406030204" pitchFamily="18" charset="0"/>
                              </a:rPr>
                              <m:t> </m:t>
                            </m:r>
                            <m:r>
                              <a:rPr lang="en-US" altLang="en-US" i="1">
                                <a:latin typeface="Cambria Math" panose="02040503050406030204" pitchFamily="18" charset="0"/>
                              </a:rPr>
                              <m:t>𝑡h𝑒</m:t>
                            </m:r>
                            <m:r>
                              <a:rPr lang="en-US" altLang="en-US" i="1">
                                <a:latin typeface="Cambria Math" panose="02040503050406030204" pitchFamily="18" charset="0"/>
                              </a:rPr>
                              <m:t> </m:t>
                            </m:r>
                            <m:r>
                              <a:rPr lang="en-US" altLang="en-US" i="1">
                                <a:latin typeface="Cambria Math" panose="02040503050406030204" pitchFamily="18" charset="0"/>
                              </a:rPr>
                              <m:t>𝑦𝑒𝑎𝑟</m:t>
                            </m:r>
                            <m:r>
                              <a:rPr lang="en-US" altLang="en-US" i="1">
                                <a:latin typeface="Cambria Math" panose="02040503050406030204" pitchFamily="18" charset="0"/>
                              </a:rPr>
                              <m:t>) </m:t>
                            </m:r>
                          </m:e>
                        </m:eqArr>
                      </m:den>
                    </m:f>
                    <m:r>
                      <a:rPr lang="en-US" altLang="en-US" b="0" i="1" smtClean="0">
                        <a:latin typeface="Cambria Math" panose="02040503050406030204" pitchFamily="18" charset="0"/>
                      </a:rPr>
                      <m:t> </m:t>
                    </m:r>
                    <m:r>
                      <a:rPr lang="en-US" altLang="en-US" b="0" i="1" smtClean="0">
                        <a:latin typeface="Cambria Math" panose="02040503050406030204" pitchFamily="18" charset="0"/>
                      </a:rPr>
                      <m:t>𝑥</m:t>
                    </m:r>
                    <m:r>
                      <a:rPr lang="en-US" altLang="en-US" b="0" i="1" smtClean="0">
                        <a:latin typeface="Cambria Math" panose="02040503050406030204" pitchFamily="18" charset="0"/>
                      </a:rPr>
                      <m:t> 100,000</m:t>
                    </m:r>
                  </m:oMath>
                </a14:m>
                <a:endParaRPr lang="en-US" altLang="en-US" dirty="0"/>
              </a:p>
              <a:p>
                <a:r>
                  <a:rPr lang="en-US" dirty="0"/>
                  <a:t>Sample calculation: Crude mortality rate in the United States in 2020. </a:t>
                </a:r>
              </a:p>
              <a:p>
                <a:pPr lvl="1"/>
                <a:r>
                  <a:rPr lang="en-US" dirty="0"/>
                  <a:t>Number of deaths from all causes in the United States during 2020 = 3,383,729</a:t>
                </a:r>
              </a:p>
              <a:p>
                <a:pPr lvl="1"/>
                <a:r>
                  <a:rPr lang="en-US" dirty="0"/>
                  <a:t>Population of the United States as of July 1, 2020 = 331,449,520</a:t>
                </a:r>
              </a:p>
              <a:p>
                <a:pPr lvl="1"/>
                <a14:m>
                  <m:oMath xmlns:m="http://schemas.openxmlformats.org/officeDocument/2006/math">
                    <m:r>
                      <a:rPr lang="en-US" i="1" smtClean="0">
                        <a:latin typeface="Cambria Math" panose="02040503050406030204" pitchFamily="18" charset="0"/>
                      </a:rPr>
                      <m:t>𝐶𝑟𝑢𝑑𝑒</m:t>
                    </m:r>
                    <m:r>
                      <a:rPr lang="en-US" i="1" smtClean="0">
                        <a:latin typeface="Cambria Math" panose="02040503050406030204" pitchFamily="18" charset="0"/>
                      </a:rPr>
                      <m:t> </m:t>
                    </m:r>
                    <m:r>
                      <a:rPr lang="en-US" i="1" smtClean="0">
                        <a:latin typeface="Cambria Math" panose="02040503050406030204" pitchFamily="18" charset="0"/>
                      </a:rPr>
                      <m:t>𝑚𝑜𝑟𝑡𝑎𝑙𝑖𝑡𝑦</m:t>
                    </m:r>
                    <m:r>
                      <a:rPr lang="en-US" i="1" smtClean="0">
                        <a:latin typeface="Cambria Math" panose="02040503050406030204" pitchFamily="18" charset="0"/>
                      </a:rPr>
                      <m:t> </m:t>
                    </m:r>
                    <m:r>
                      <a:rPr lang="en-US" i="1" smtClean="0">
                        <a:latin typeface="Cambria Math" panose="02040503050406030204" pitchFamily="18" charset="0"/>
                      </a:rPr>
                      <m:t>𝑟𝑎𝑡𝑒</m:t>
                    </m:r>
                    <m:r>
                      <a:rPr lang="en-US" i="1" smtClean="0">
                        <a:latin typeface="Cambria Math" panose="02040503050406030204" pitchFamily="18" charset="0"/>
                      </a:rPr>
                      <m:t> = 3,383,729/331,449,520 = 1,020 </m:t>
                    </m:r>
                    <m:r>
                      <a:rPr lang="en-US" i="1" smtClean="0">
                        <a:latin typeface="Cambria Math" panose="02040503050406030204" pitchFamily="18" charset="0"/>
                      </a:rPr>
                      <m:t>𝑝𝑒𝑟</m:t>
                    </m:r>
                    <m:r>
                      <a:rPr lang="en-US" i="1" smtClean="0">
                        <a:latin typeface="Cambria Math" panose="02040503050406030204" pitchFamily="18" charset="0"/>
                      </a:rPr>
                      <m:t> 100,000</m:t>
                    </m:r>
                  </m:oMath>
                </a14:m>
                <a:endParaRPr lang="en-US" dirty="0"/>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xfrm>
                <a:off x="1028660" y="1656523"/>
                <a:ext cx="11429554" cy="5221163"/>
              </a:xfrm>
              <a:blipFill>
                <a:blip r:embed="rId2"/>
                <a:stretch>
                  <a:fillRect l="-960" t="-1285" r="-1013"/>
                </a:stretch>
              </a:blipFill>
            </p:spPr>
            <p:txBody>
              <a:bodyPr/>
              <a:lstStyle/>
              <a:p>
                <a:r>
                  <a:rPr lang="en-US">
                    <a:noFill/>
                  </a:rPr>
                  <a:t> </a:t>
                </a:r>
              </a:p>
            </p:txBody>
          </p:sp>
        </mc:Fallback>
      </mc:AlternateContent>
    </p:spTree>
    <p:extLst>
      <p:ext uri="{BB962C8B-B14F-4D97-AF65-F5344CB8AC3E}">
        <p14:creationId xmlns:p14="http://schemas.microsoft.com/office/powerpoint/2010/main" val="89586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
          <p:cNvSpPr>
            <a:spLocks noGrp="1" noChangeArrowheads="1"/>
          </p:cNvSpPr>
          <p:nvPr>
            <p:ph type="title"/>
          </p:nvPr>
        </p:nvSpPr>
        <p:spPr>
          <a:xfrm>
            <a:off x="0" y="134482"/>
            <a:ext cx="13546138" cy="1113432"/>
          </a:xfrm>
        </p:spPr>
        <p:txBody>
          <a:bodyPr/>
          <a:lstStyle/>
          <a:p>
            <a:r>
              <a:rPr lang="en-US" altLang="en-US" dirty="0"/>
              <a:t>Reference Population</a:t>
            </a:r>
          </a:p>
        </p:txBody>
      </p:sp>
      <p:sp>
        <p:nvSpPr>
          <p:cNvPr id="44035" name="Rectangle 2"/>
          <p:cNvSpPr>
            <a:spLocks noGrp="1" noChangeArrowheads="1"/>
          </p:cNvSpPr>
          <p:nvPr>
            <p:ph idx="1"/>
          </p:nvPr>
        </p:nvSpPr>
        <p:spPr>
          <a:xfrm>
            <a:off x="1028660" y="1656523"/>
            <a:ext cx="11429554" cy="5221163"/>
          </a:xfrm>
        </p:spPr>
        <p:txBody>
          <a:bodyPr/>
          <a:lstStyle/>
          <a:p>
            <a:r>
              <a:rPr lang="en-US" altLang="en-US" dirty="0"/>
              <a:t>Population from which cases of a disease have been taken</a:t>
            </a:r>
          </a:p>
          <a:p>
            <a:r>
              <a:rPr lang="en-US" altLang="en-US" dirty="0"/>
              <a:t>Example: United States for calculation of the annual crude mortality rate in the U.S.</a:t>
            </a:r>
          </a:p>
        </p:txBody>
      </p:sp>
    </p:spTree>
    <p:extLst>
      <p:ext uri="{BB962C8B-B14F-4D97-AF65-F5344CB8AC3E}">
        <p14:creationId xmlns:p14="http://schemas.microsoft.com/office/powerpoint/2010/main" val="2456871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
          <p:cNvSpPr>
            <a:spLocks noGrp="1" noChangeArrowheads="1"/>
          </p:cNvSpPr>
          <p:nvPr>
            <p:ph type="title"/>
          </p:nvPr>
        </p:nvSpPr>
        <p:spPr>
          <a:xfrm>
            <a:off x="0" y="134482"/>
            <a:ext cx="13546138" cy="1113432"/>
          </a:xfrm>
        </p:spPr>
        <p:txBody>
          <a:bodyPr/>
          <a:lstStyle/>
          <a:p>
            <a:r>
              <a:rPr lang="en-US" altLang="en-US" dirty="0"/>
              <a:t>Case Fatality Rate (CFR)</a:t>
            </a:r>
          </a:p>
        </p:txBody>
      </p:sp>
      <mc:AlternateContent xmlns:mc="http://schemas.openxmlformats.org/markup-compatibility/2006" xmlns:a14="http://schemas.microsoft.com/office/drawing/2010/main">
        <mc:Choice Requires="a14">
          <p:sp>
            <p:nvSpPr>
              <p:cNvPr id="45059" name="Rectangle 2"/>
              <p:cNvSpPr>
                <a:spLocks noGrp="1" noChangeArrowheads="1"/>
              </p:cNvSpPr>
              <p:nvPr>
                <p:ph idx="1"/>
              </p:nvPr>
            </p:nvSpPr>
            <p:spPr>
              <a:xfrm>
                <a:off x="1028660" y="1656523"/>
                <a:ext cx="11429554" cy="5221163"/>
              </a:xfrm>
            </p:spPr>
            <p:txBody>
              <a:bodyPr/>
              <a:lstStyle/>
              <a:p>
                <a:r>
                  <a:rPr lang="en-US" altLang="en-US" dirty="0"/>
                  <a:t>Number of deaths due to a disease that occur among persons who are afflicted with that disease</a:t>
                </a:r>
              </a:p>
              <a:p>
                <a14:m>
                  <m:oMath xmlns:m="http://schemas.openxmlformats.org/officeDocument/2006/math">
                    <m:r>
                      <a:rPr lang="en-US" altLang="en-US" b="0" i="1" smtClean="0">
                        <a:latin typeface="Cambria Math" panose="02040503050406030204" pitchFamily="18" charset="0"/>
                      </a:rPr>
                      <m:t>𝐶𝐹𝑅</m:t>
                    </m:r>
                    <m:r>
                      <a:rPr lang="en-US" altLang="en-US" b="0" i="1" smtClean="0">
                        <a:latin typeface="Cambria Math" panose="02040503050406030204" pitchFamily="18" charset="0"/>
                      </a:rPr>
                      <m:t> </m:t>
                    </m:r>
                    <m:d>
                      <m:dPr>
                        <m:ctrlPr>
                          <a:rPr lang="en-US" altLang="en-US" b="0" i="1" smtClean="0">
                            <a:latin typeface="Cambria Math" panose="02040503050406030204" pitchFamily="18" charset="0"/>
                          </a:rPr>
                        </m:ctrlPr>
                      </m:dPr>
                      <m:e>
                        <m:r>
                          <a:rPr lang="en-US" altLang="en-US" b="0" i="1" smtClean="0">
                            <a:latin typeface="Cambria Math" panose="02040503050406030204" pitchFamily="18" charset="0"/>
                          </a:rPr>
                          <m:t>%</m:t>
                        </m:r>
                      </m:e>
                    </m:d>
                    <m:r>
                      <a:rPr lang="en-US" altLang="en-US" b="0" i="1" smtClean="0">
                        <a:latin typeface="Cambria Math" panose="02040503050406030204" pitchFamily="18" charset="0"/>
                      </a:rPr>
                      <m:t>= </m:t>
                    </m:r>
                    <m:f>
                      <m:fPr>
                        <m:ctrlPr>
                          <a:rPr lang="en-US" altLang="en-US" b="0" i="1" smtClean="0">
                            <a:latin typeface="Cambria Math" panose="02040503050406030204" pitchFamily="18" charset="0"/>
                          </a:rPr>
                        </m:ctrlPr>
                      </m:fPr>
                      <m:num>
                        <m:r>
                          <a:rPr lang="en-US" altLang="en-US" i="1">
                            <a:latin typeface="Cambria Math" panose="02040503050406030204" pitchFamily="18" charset="0"/>
                          </a:rPr>
                          <m:t>𝑁𝑢𝑚𝑏𝑒𝑟</m:t>
                        </m:r>
                        <m:r>
                          <a:rPr lang="en-US" altLang="en-US" i="1">
                            <a:latin typeface="Cambria Math" panose="02040503050406030204" pitchFamily="18" charset="0"/>
                          </a:rPr>
                          <m:t> </m:t>
                        </m:r>
                        <m:r>
                          <a:rPr lang="en-US" altLang="en-US" i="1">
                            <a:latin typeface="Cambria Math" panose="02040503050406030204" pitchFamily="18" charset="0"/>
                          </a:rPr>
                          <m:t>𝑜𝑓</m:t>
                        </m:r>
                        <m:r>
                          <a:rPr lang="en-US" altLang="en-US" i="1">
                            <a:latin typeface="Cambria Math" panose="02040503050406030204" pitchFamily="18" charset="0"/>
                          </a:rPr>
                          <m:t> </m:t>
                        </m:r>
                        <m:r>
                          <a:rPr lang="en-US" altLang="en-US" i="1">
                            <a:latin typeface="Cambria Math" panose="02040503050406030204" pitchFamily="18" charset="0"/>
                          </a:rPr>
                          <m:t>𝑑𝑒𝑎𝑡h𝑠</m:t>
                        </m:r>
                        <m:r>
                          <a:rPr lang="en-US" altLang="en-US" i="1">
                            <a:latin typeface="Cambria Math" panose="02040503050406030204" pitchFamily="18" charset="0"/>
                          </a:rPr>
                          <m:t> </m:t>
                        </m:r>
                        <m:r>
                          <a:rPr lang="en-US" altLang="en-US" i="1">
                            <a:latin typeface="Cambria Math" panose="02040503050406030204" pitchFamily="18" charset="0"/>
                          </a:rPr>
                          <m:t>𝑑𝑢𝑒</m:t>
                        </m:r>
                        <m:r>
                          <a:rPr lang="en-US" altLang="en-US" i="1">
                            <a:latin typeface="Cambria Math" panose="02040503050406030204" pitchFamily="18" charset="0"/>
                          </a:rPr>
                          <m:t> </m:t>
                        </m:r>
                        <m:r>
                          <a:rPr lang="en-US" altLang="en-US" i="1">
                            <a:latin typeface="Cambria Math" panose="02040503050406030204" pitchFamily="18" charset="0"/>
                          </a:rPr>
                          <m:t>𝑡𝑜</m:t>
                        </m:r>
                        <m:r>
                          <a:rPr lang="en-US" altLang="en-US" i="1">
                            <a:latin typeface="Cambria Math" panose="02040503050406030204" pitchFamily="18" charset="0"/>
                          </a:rPr>
                          <m:t> </m:t>
                        </m:r>
                        <m:r>
                          <a:rPr lang="en-US" altLang="en-US" i="1">
                            <a:latin typeface="Cambria Math" panose="02040503050406030204" pitchFamily="18" charset="0"/>
                          </a:rPr>
                          <m:t>𝑑𝑖𝑠𝑒𝑎𝑠𝑒</m:t>
                        </m:r>
                        <m:r>
                          <a:rPr lang="en-US" altLang="en-US" i="1">
                            <a:latin typeface="Cambria Math" panose="02040503050406030204" pitchFamily="18" charset="0"/>
                          </a:rPr>
                          <m:t> “</m:t>
                        </m:r>
                        <m:r>
                          <a:rPr lang="en-US" altLang="en-US" i="1">
                            <a:latin typeface="Cambria Math" panose="02040503050406030204" pitchFamily="18" charset="0"/>
                          </a:rPr>
                          <m:t>𝑋</m:t>
                        </m:r>
                        <m:r>
                          <a:rPr lang="en-US" altLang="en-US" i="1">
                            <a:latin typeface="Cambria Math" panose="02040503050406030204" pitchFamily="18" charset="0"/>
                          </a:rPr>
                          <m:t>”</m:t>
                        </m:r>
                      </m:num>
                      <m:den>
                        <m:r>
                          <a:rPr lang="en-US" altLang="en-US" i="1">
                            <a:latin typeface="Cambria Math" panose="02040503050406030204" pitchFamily="18" charset="0"/>
                          </a:rPr>
                          <m:t>𝑁𝑢𝑚𝑏𝑒𝑟</m:t>
                        </m:r>
                        <m:r>
                          <a:rPr lang="en-US" altLang="en-US" i="1">
                            <a:latin typeface="Cambria Math" panose="02040503050406030204" pitchFamily="18" charset="0"/>
                          </a:rPr>
                          <m:t> </m:t>
                        </m:r>
                        <m:r>
                          <a:rPr lang="en-US" altLang="en-US" i="1">
                            <a:latin typeface="Cambria Math" panose="02040503050406030204" pitchFamily="18" charset="0"/>
                          </a:rPr>
                          <m:t>𝑜𝑓</m:t>
                        </m:r>
                        <m:r>
                          <a:rPr lang="en-US" altLang="en-US" i="1">
                            <a:latin typeface="Cambria Math" panose="02040503050406030204" pitchFamily="18" charset="0"/>
                          </a:rPr>
                          <m:t> </m:t>
                        </m:r>
                        <m:r>
                          <a:rPr lang="en-US" altLang="en-US" i="1">
                            <a:latin typeface="Cambria Math" panose="02040503050406030204" pitchFamily="18" charset="0"/>
                          </a:rPr>
                          <m:t>𝑐𝑎𝑠𝑒𝑠</m:t>
                        </m:r>
                        <m:r>
                          <a:rPr lang="en-US" altLang="en-US" i="1">
                            <a:latin typeface="Cambria Math" panose="02040503050406030204" pitchFamily="18" charset="0"/>
                          </a:rPr>
                          <m:t> </m:t>
                        </m:r>
                        <m:r>
                          <a:rPr lang="en-US" altLang="en-US" i="1">
                            <a:latin typeface="Cambria Math" panose="02040503050406030204" pitchFamily="18" charset="0"/>
                          </a:rPr>
                          <m:t>𝑜𝑓</m:t>
                        </m:r>
                        <m:r>
                          <a:rPr lang="en-US" altLang="en-US" i="1">
                            <a:latin typeface="Cambria Math" panose="02040503050406030204" pitchFamily="18" charset="0"/>
                          </a:rPr>
                          <m:t>  </m:t>
                        </m:r>
                        <m:r>
                          <a:rPr lang="en-US" altLang="en-US" i="1">
                            <a:latin typeface="Cambria Math" panose="02040503050406030204" pitchFamily="18" charset="0"/>
                          </a:rPr>
                          <m:t>𝑑𝑖𝑠𝑒𝑎𝑠𝑒</m:t>
                        </m:r>
                        <m:r>
                          <a:rPr lang="en-US" altLang="en-US" i="1">
                            <a:latin typeface="Cambria Math" panose="02040503050406030204" pitchFamily="18" charset="0"/>
                          </a:rPr>
                          <m:t> “</m:t>
                        </m:r>
                        <m:r>
                          <a:rPr lang="en-US" altLang="en-US" i="1">
                            <a:latin typeface="Cambria Math" panose="02040503050406030204" pitchFamily="18" charset="0"/>
                          </a:rPr>
                          <m:t>𝑋</m:t>
                        </m:r>
                        <m:r>
                          <a:rPr lang="en-US" altLang="en-US" i="1">
                            <a:latin typeface="Cambria Math" panose="02040503050406030204" pitchFamily="18" charset="0"/>
                          </a:rPr>
                          <m:t>” </m:t>
                        </m:r>
                      </m:den>
                    </m:f>
                    <m:r>
                      <a:rPr lang="en-US" altLang="en-US" b="0" i="1" smtClean="0">
                        <a:latin typeface="Cambria Math" panose="02040503050406030204" pitchFamily="18" charset="0"/>
                      </a:rPr>
                      <m:t> </m:t>
                    </m:r>
                    <m:r>
                      <a:rPr lang="en-US" altLang="en-US" b="0" i="1" smtClean="0">
                        <a:latin typeface="Cambria Math" panose="02040503050406030204" pitchFamily="18" charset="0"/>
                      </a:rPr>
                      <m:t>𝑥</m:t>
                    </m:r>
                    <m:r>
                      <a:rPr lang="en-US" altLang="en-US" b="0" i="1" smtClean="0">
                        <a:latin typeface="Cambria Math" panose="02040503050406030204" pitchFamily="18" charset="0"/>
                      </a:rPr>
                      <m:t> 10</m:t>
                    </m:r>
                    <m:r>
                      <a:rPr lang="en-US" altLang="en-US" b="0" i="0" smtClean="0">
                        <a:latin typeface="Cambria Math" panose="02040503050406030204" pitchFamily="18" charset="0"/>
                      </a:rPr>
                      <m:t>0 </m:t>
                    </m:r>
                    <m:r>
                      <m:rPr>
                        <m:sty m:val="p"/>
                      </m:rPr>
                      <a:rPr lang="en-US" altLang="en-US" b="0" i="0" smtClean="0">
                        <a:latin typeface="Cambria Math" panose="02040503050406030204" pitchFamily="18" charset="0"/>
                      </a:rPr>
                      <m:t>during</m:t>
                    </m:r>
                    <m:r>
                      <a:rPr lang="en-US" altLang="en-US" b="0" i="0" smtClean="0">
                        <a:latin typeface="Cambria Math" panose="02040503050406030204" pitchFamily="18" charset="0"/>
                      </a:rPr>
                      <m:t> </m:t>
                    </m:r>
                    <m:r>
                      <m:rPr>
                        <m:sty m:val="p"/>
                      </m:rPr>
                      <a:rPr lang="en-US" altLang="en-US" b="0" i="0" smtClean="0">
                        <a:latin typeface="Cambria Math" panose="02040503050406030204" pitchFamily="18" charset="0"/>
                      </a:rPr>
                      <m:t>a</m:t>
                    </m:r>
                    <m:r>
                      <a:rPr lang="en-US" altLang="en-US" b="0" i="0" smtClean="0">
                        <a:latin typeface="Cambria Math" panose="02040503050406030204" pitchFamily="18" charset="0"/>
                      </a:rPr>
                      <m:t> </m:t>
                    </m:r>
                    <m:r>
                      <m:rPr>
                        <m:sty m:val="p"/>
                      </m:rPr>
                      <a:rPr lang="en-US" altLang="en-US" b="0" i="0" smtClean="0">
                        <a:latin typeface="Cambria Math" panose="02040503050406030204" pitchFamily="18" charset="0"/>
                      </a:rPr>
                      <m:t>time</m:t>
                    </m:r>
                    <m:r>
                      <a:rPr lang="en-US" altLang="en-US" b="0" i="0" smtClean="0">
                        <a:latin typeface="Cambria Math" panose="02040503050406030204" pitchFamily="18" charset="0"/>
                      </a:rPr>
                      <m:t> </m:t>
                    </m:r>
                    <m:r>
                      <m:rPr>
                        <m:sty m:val="p"/>
                      </m:rPr>
                      <a:rPr lang="en-US" altLang="en-US" b="0" i="0" smtClean="0">
                        <a:latin typeface="Cambria Math" panose="02040503050406030204" pitchFamily="18" charset="0"/>
                      </a:rPr>
                      <m:t>period</m:t>
                    </m:r>
                    <m:r>
                      <a:rPr lang="en-US" altLang="en-US" b="0" i="0" smtClean="0">
                        <a:latin typeface="Cambria Math" panose="02040503050406030204" pitchFamily="18" charset="0"/>
                      </a:rPr>
                      <m:t> </m:t>
                    </m:r>
                  </m:oMath>
                </a14:m>
                <a:endParaRPr lang="en-US" altLang="en-US" dirty="0"/>
              </a:p>
            </p:txBody>
          </p:sp>
        </mc:Choice>
        <mc:Fallback xmlns="">
          <p:sp>
            <p:nvSpPr>
              <p:cNvPr id="45059" name="Rectangle 2"/>
              <p:cNvSpPr>
                <a:spLocks noGrp="1" noRot="1" noChangeAspect="1" noMove="1" noResize="1" noEditPoints="1" noAdjustHandles="1" noChangeArrowheads="1" noChangeShapeType="1" noTextEdit="1"/>
              </p:cNvSpPr>
              <p:nvPr>
                <p:ph idx="1"/>
              </p:nvPr>
            </p:nvSpPr>
            <p:spPr>
              <a:xfrm>
                <a:off x="1028660" y="1656523"/>
                <a:ext cx="11429554" cy="5221163"/>
              </a:xfrm>
              <a:blipFill>
                <a:blip r:embed="rId2"/>
                <a:stretch>
                  <a:fillRect l="-999" t="-1214"/>
                </a:stretch>
              </a:blipFill>
            </p:spPr>
            <p:txBody>
              <a:bodyPr/>
              <a:lstStyle/>
              <a:p>
                <a:r>
                  <a:rPr lang="en-US">
                    <a:noFill/>
                  </a:rPr>
                  <a:t> </a:t>
                </a:r>
              </a:p>
            </p:txBody>
          </p:sp>
        </mc:Fallback>
      </mc:AlternateContent>
    </p:spTree>
    <p:extLst>
      <p:ext uri="{BB962C8B-B14F-4D97-AF65-F5344CB8AC3E}">
        <p14:creationId xmlns:p14="http://schemas.microsoft.com/office/powerpoint/2010/main" val="1001253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1"/>
          <p:cNvSpPr>
            <a:spLocks noGrp="1" noChangeArrowheads="1"/>
          </p:cNvSpPr>
          <p:nvPr>
            <p:ph type="title"/>
          </p:nvPr>
        </p:nvSpPr>
        <p:spPr>
          <a:xfrm>
            <a:off x="0" y="134482"/>
            <a:ext cx="13546138" cy="1113432"/>
          </a:xfrm>
        </p:spPr>
        <p:txBody>
          <a:bodyPr/>
          <a:lstStyle/>
          <a:p>
            <a:r>
              <a:rPr lang="en-US" dirty="0"/>
              <a:t>Proportional Mortality Ratio (PMR%)</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1028660" y="1656523"/>
                <a:ext cx="11429554" cy="5221163"/>
              </a:xfrm>
            </p:spPr>
            <p:txBody>
              <a:bodyPr/>
              <a:lstStyle/>
              <a:p>
                <a:r>
                  <a:rPr lang="en-US" altLang="en-US" dirty="0"/>
                  <a:t>Number of deaths within a population due to a specific disease or cause divided by the total number of deaths in population (multiplied by 100)</a:t>
                </a:r>
              </a:p>
              <a:p>
                <a14:m>
                  <m:oMath xmlns:m="http://schemas.openxmlformats.org/officeDocument/2006/math">
                    <m:r>
                      <a:rPr lang="en-US" b="0" i="1" smtClean="0">
                        <a:latin typeface="Cambria Math" panose="02040503050406030204" pitchFamily="18" charset="0"/>
                      </a:rPr>
                      <m:t>𝑃𝑅𝑀</m:t>
                    </m:r>
                    <m:r>
                      <a:rPr lang="en-US" b="0" i="1" smtClean="0">
                        <a:latin typeface="Cambria Math" panose="02040503050406030204" pitchFamily="18" charset="0"/>
                      </a:rPr>
                      <m:t> </m:t>
                    </m:r>
                    <m:d>
                      <m:dPr>
                        <m:ctrlPr>
                          <a:rPr lang="en-US" b="0" i="1" smtClean="0">
                            <a:latin typeface="Cambria Math" panose="02040503050406030204" pitchFamily="18" charset="0"/>
                          </a:rPr>
                        </m:ctrlPr>
                      </m:dPr>
                      <m:e>
                        <m:r>
                          <a:rPr lang="en-US" b="0" i="1" smtClean="0">
                            <a:latin typeface="Cambria Math" panose="02040503050406030204" pitchFamily="18" charset="0"/>
                          </a:rPr>
                          <m:t>%</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i="1">
                            <a:latin typeface="Cambria Math" panose="02040503050406030204" pitchFamily="18" charset="0"/>
                          </a:rPr>
                          <m:t>𝑀𝑜𝑟𝑡𝑎𝑙𝑖𝑡𝑦</m:t>
                        </m:r>
                        <m:r>
                          <a:rPr lang="en-US" i="1">
                            <a:latin typeface="Cambria Math" panose="02040503050406030204" pitchFamily="18" charset="0"/>
                          </a:rPr>
                          <m:t> </m:t>
                        </m:r>
                        <m:r>
                          <a:rPr lang="en-US" i="1">
                            <a:latin typeface="Cambria Math" panose="02040503050406030204" pitchFamily="18" charset="0"/>
                          </a:rPr>
                          <m:t>𝑑𝑢𝑒</m:t>
                        </m:r>
                        <m:r>
                          <a:rPr lang="en-US" i="1">
                            <a:latin typeface="Cambria Math" panose="02040503050406030204" pitchFamily="18" charset="0"/>
                          </a:rPr>
                          <m:t> </m:t>
                        </m:r>
                        <m:r>
                          <a:rPr lang="en-US" i="1">
                            <a:latin typeface="Cambria Math" panose="02040503050406030204" pitchFamily="18" charset="0"/>
                          </a:rPr>
                          <m:t>𝑡𝑜</m:t>
                        </m:r>
                        <m:r>
                          <a:rPr lang="en-US" i="1">
                            <a:latin typeface="Cambria Math" panose="02040503050406030204" pitchFamily="18" charset="0"/>
                          </a:rPr>
                          <m:t> </m:t>
                        </m:r>
                        <m:r>
                          <a:rPr lang="en-US" i="1">
                            <a:latin typeface="Cambria Math" panose="02040503050406030204" pitchFamily="18" charset="0"/>
                          </a:rPr>
                          <m:t>𝑎</m:t>
                        </m:r>
                        <m:r>
                          <a:rPr lang="en-US" i="1">
                            <a:latin typeface="Cambria Math" panose="02040503050406030204" pitchFamily="18" charset="0"/>
                          </a:rPr>
                          <m:t> </m:t>
                        </m:r>
                        <m:r>
                          <a:rPr lang="en-US" i="1">
                            <a:latin typeface="Cambria Math" panose="02040503050406030204" pitchFamily="18" charset="0"/>
                          </a:rPr>
                          <m:t>𝑠𝑝𝑒𝑐𝑖𝑓𝑖𝑐</m:t>
                        </m:r>
                        <m:r>
                          <a:rPr lang="en-US" i="1">
                            <a:latin typeface="Cambria Math" panose="02040503050406030204" pitchFamily="18" charset="0"/>
                          </a:rPr>
                          <m:t> </m:t>
                        </m:r>
                        <m:r>
                          <a:rPr lang="en-US" i="1">
                            <a:latin typeface="Cambria Math" panose="02040503050406030204" pitchFamily="18" charset="0"/>
                          </a:rPr>
                          <m:t>𝑐𝑎𝑢𝑠𝑒</m:t>
                        </m:r>
                        <m:r>
                          <a:rPr lang="en-US" i="1">
                            <a:latin typeface="Cambria Math" panose="02040503050406030204" pitchFamily="18" charset="0"/>
                          </a:rPr>
                          <m:t> </m:t>
                        </m:r>
                        <m:r>
                          <a:rPr lang="en-US" i="1">
                            <a:latin typeface="Cambria Math" panose="02040503050406030204" pitchFamily="18" charset="0"/>
                          </a:rPr>
                          <m:t>𝑑𝑢𝑟𝑖𝑛𝑔</m:t>
                        </m:r>
                        <m:r>
                          <a:rPr lang="en-US" i="1">
                            <a:latin typeface="Cambria Math" panose="02040503050406030204" pitchFamily="18" charset="0"/>
                          </a:rPr>
                          <m:t> </m:t>
                        </m:r>
                        <m:r>
                          <a:rPr lang="en-US" i="1">
                            <a:latin typeface="Cambria Math" panose="02040503050406030204" pitchFamily="18" charset="0"/>
                          </a:rPr>
                          <m:t>𝑎</m:t>
                        </m:r>
                        <m:r>
                          <a:rPr lang="en-US" i="1">
                            <a:latin typeface="Cambria Math" panose="02040503050406030204" pitchFamily="18" charset="0"/>
                          </a:rPr>
                          <m:t> </m:t>
                        </m:r>
                        <m:r>
                          <a:rPr lang="en-US" i="1">
                            <a:latin typeface="Cambria Math" panose="02040503050406030204" pitchFamily="18" charset="0"/>
                          </a:rPr>
                          <m:t>𝑡𝑖𝑚𝑒</m:t>
                        </m:r>
                        <m:r>
                          <a:rPr lang="en-US" i="1">
                            <a:latin typeface="Cambria Math" panose="02040503050406030204" pitchFamily="18" charset="0"/>
                          </a:rPr>
                          <m:t> </m:t>
                        </m:r>
                        <m:r>
                          <a:rPr lang="en-US" i="1">
                            <a:latin typeface="Cambria Math" panose="02040503050406030204" pitchFamily="18" charset="0"/>
                          </a:rPr>
                          <m:t>𝑝𝑒𝑟𝑖𝑜𝑑</m:t>
                        </m:r>
                        <m:r>
                          <a:rPr lang="en-US" i="1">
                            <a:latin typeface="Cambria Math" panose="02040503050406030204" pitchFamily="18" charset="0"/>
                          </a:rPr>
                          <m:t> </m:t>
                        </m:r>
                      </m:num>
                      <m:den>
                        <m:r>
                          <a:rPr lang="en-US" i="1">
                            <a:latin typeface="Cambria Math" panose="02040503050406030204" pitchFamily="18" charset="0"/>
                          </a:rPr>
                          <m:t>𝑀𝑜𝑟𝑡𝑎𝑙𝑖𝑡𝑦</m:t>
                        </m:r>
                        <m:r>
                          <a:rPr lang="en-US" i="1">
                            <a:latin typeface="Cambria Math" panose="02040503050406030204" pitchFamily="18" charset="0"/>
                          </a:rPr>
                          <m:t> </m:t>
                        </m:r>
                        <m:r>
                          <a:rPr lang="en-US" i="1">
                            <a:latin typeface="Cambria Math" panose="02040503050406030204" pitchFamily="18" charset="0"/>
                          </a:rPr>
                          <m:t>𝑑𝑢𝑒</m:t>
                        </m:r>
                        <m:r>
                          <a:rPr lang="en-US" i="1">
                            <a:latin typeface="Cambria Math" panose="02040503050406030204" pitchFamily="18" charset="0"/>
                          </a:rPr>
                          <m:t> </m:t>
                        </m:r>
                        <m:r>
                          <a:rPr lang="en-US" i="1">
                            <a:latin typeface="Cambria Math" panose="02040503050406030204" pitchFamily="18" charset="0"/>
                          </a:rPr>
                          <m:t>𝑡𝑜</m:t>
                        </m:r>
                        <m:r>
                          <a:rPr lang="en-US" i="1">
                            <a:latin typeface="Cambria Math" panose="02040503050406030204" pitchFamily="18" charset="0"/>
                          </a:rPr>
                          <m:t> </m:t>
                        </m:r>
                        <m:r>
                          <a:rPr lang="en-US" i="1">
                            <a:latin typeface="Cambria Math" panose="02040503050406030204" pitchFamily="18" charset="0"/>
                          </a:rPr>
                          <m:t>𝑎𝑙𝑙</m:t>
                        </m:r>
                        <m:r>
                          <a:rPr lang="en-US" i="1">
                            <a:latin typeface="Cambria Math" panose="02040503050406030204" pitchFamily="18" charset="0"/>
                          </a:rPr>
                          <m:t> </m:t>
                        </m:r>
                        <m:r>
                          <a:rPr lang="en-US" i="1">
                            <a:latin typeface="Cambria Math" panose="02040503050406030204" pitchFamily="18" charset="0"/>
                          </a:rPr>
                          <m:t>𝑐𝑎𝑢𝑠𝑒𝑠</m:t>
                        </m:r>
                        <m:r>
                          <a:rPr lang="en-US" i="1">
                            <a:latin typeface="Cambria Math" panose="02040503050406030204" pitchFamily="18" charset="0"/>
                          </a:rPr>
                          <m:t> </m:t>
                        </m:r>
                        <m:r>
                          <a:rPr lang="en-US" i="1">
                            <a:latin typeface="Cambria Math" panose="02040503050406030204" pitchFamily="18" charset="0"/>
                          </a:rPr>
                          <m:t>𝑑𝑢𝑟𝑖𝑛𝑔</m:t>
                        </m:r>
                        <m:r>
                          <a:rPr lang="en-US" i="1">
                            <a:latin typeface="Cambria Math" panose="02040503050406030204" pitchFamily="18" charset="0"/>
                          </a:rPr>
                          <m:t> </m:t>
                        </m:r>
                        <m:r>
                          <a:rPr lang="en-US" i="1">
                            <a:latin typeface="Cambria Math" panose="02040503050406030204" pitchFamily="18" charset="0"/>
                          </a:rPr>
                          <m:t>𝑡h𝑒</m:t>
                        </m:r>
                        <m:r>
                          <a:rPr lang="en-US" i="1">
                            <a:latin typeface="Cambria Math" panose="02040503050406030204" pitchFamily="18" charset="0"/>
                          </a:rPr>
                          <m:t> </m:t>
                        </m:r>
                        <m:r>
                          <a:rPr lang="en-US" i="1">
                            <a:latin typeface="Cambria Math" panose="02040503050406030204" pitchFamily="18" charset="0"/>
                          </a:rPr>
                          <m:t>𝑠𝑎𝑚𝑒</m:t>
                        </m:r>
                        <m:r>
                          <a:rPr lang="en-US" i="1">
                            <a:latin typeface="Cambria Math" panose="02040503050406030204" pitchFamily="18" charset="0"/>
                          </a:rPr>
                          <m:t> </m:t>
                        </m:r>
                        <m:r>
                          <a:rPr lang="en-US" i="1">
                            <a:latin typeface="Cambria Math" panose="02040503050406030204" pitchFamily="18" charset="0"/>
                          </a:rPr>
                          <m:t>𝑡𝑖𝑚𝑒</m:t>
                        </m:r>
                        <m:r>
                          <a:rPr lang="en-US" i="1">
                            <a:latin typeface="Cambria Math" panose="02040503050406030204" pitchFamily="18" charset="0"/>
                          </a:rPr>
                          <m:t> </m:t>
                        </m:r>
                        <m:r>
                          <a:rPr lang="en-US" i="1">
                            <a:latin typeface="Cambria Math" panose="02040503050406030204" pitchFamily="18" charset="0"/>
                          </a:rPr>
                          <m:t>𝑝𝑒𝑟𝑖𝑜𝑑</m:t>
                        </m:r>
                        <m:r>
                          <a:rPr lang="en-US" i="1">
                            <a:latin typeface="Cambria Math" panose="02040503050406030204" pitchFamily="18" charset="0"/>
                          </a:rPr>
                          <m:t> </m:t>
                        </m:r>
                      </m:den>
                    </m:f>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 100 </m:t>
                    </m:r>
                  </m:oMath>
                </a14:m>
                <a:endParaRPr lang="en-US" dirty="0"/>
              </a:p>
              <a:p>
                <a:pPr eaLnBrk="1" hangingPunct="1">
                  <a:spcBef>
                    <a:spcPct val="50000"/>
                  </a:spcBef>
                </a:pPr>
                <a:r>
                  <a:rPr lang="en-US" altLang="en-US" dirty="0">
                    <a:latin typeface="+mj-lt"/>
                  </a:rPr>
                  <a:t>Sample calculation: </a:t>
                </a:r>
              </a:p>
              <a:p>
                <a:pPr lvl="1">
                  <a:spcBef>
                    <a:spcPct val="50000"/>
                  </a:spcBef>
                </a:pPr>
                <a:r>
                  <a:rPr lang="en-US" altLang="en-US" dirty="0">
                    <a:latin typeface="+mj-lt"/>
                  </a:rPr>
                  <a:t>In the U.S., there were 696,962 deaths due to diseases of the heart in 2020 and 3,383,729 deaths due to all causes in that year. </a:t>
                </a:r>
              </a:p>
              <a:p>
                <a:pPr lvl="1">
                  <a:spcBef>
                    <a:spcPct val="50000"/>
                  </a:spcBef>
                </a:pPr>
                <a14:m>
                  <m:oMath xmlns:m="http://schemas.openxmlformats.org/officeDocument/2006/math">
                    <m:r>
                      <a:rPr lang="en-US" altLang="en-US" i="1" smtClean="0">
                        <a:latin typeface="Cambria Math" panose="02040503050406030204" pitchFamily="18" charset="0"/>
                      </a:rPr>
                      <m:t>𝑃𝑀𝑅</m:t>
                    </m:r>
                    <m:r>
                      <a:rPr lang="en-US" altLang="en-US" i="1" smtClean="0">
                        <a:latin typeface="Cambria Math" panose="02040503050406030204" pitchFamily="18" charset="0"/>
                      </a:rPr>
                      <m:t> = (696,962/3,383,729) × 100 = 20.6%</m:t>
                    </m:r>
                  </m:oMath>
                </a14:m>
                <a:endParaRPr lang="en-US" altLang="en-US" dirty="0">
                  <a:latin typeface="+mj-lt"/>
                </a:endParaRPr>
              </a:p>
              <a:p>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1028660" y="1656523"/>
                <a:ext cx="11429554" cy="5221163"/>
              </a:xfrm>
              <a:blipFill>
                <a:blip r:embed="rId2"/>
                <a:stretch>
                  <a:fillRect l="-999" t="-1214"/>
                </a:stretch>
              </a:blipFill>
            </p:spPr>
            <p:txBody>
              <a:bodyPr/>
              <a:lstStyle/>
              <a:p>
                <a:r>
                  <a:rPr lang="en-US">
                    <a:noFill/>
                  </a:rPr>
                  <a:t> </a:t>
                </a:r>
              </a:p>
            </p:txBody>
          </p:sp>
        </mc:Fallback>
      </mc:AlternateContent>
    </p:spTree>
    <p:extLst>
      <p:ext uri="{BB962C8B-B14F-4D97-AF65-F5344CB8AC3E}">
        <p14:creationId xmlns:p14="http://schemas.microsoft.com/office/powerpoint/2010/main" val="2776456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
          <p:cNvSpPr>
            <a:spLocks noGrp="1" noChangeArrowheads="1"/>
          </p:cNvSpPr>
          <p:nvPr>
            <p:ph type="title"/>
          </p:nvPr>
        </p:nvSpPr>
        <p:spPr>
          <a:xfrm>
            <a:off x="0" y="134482"/>
            <a:ext cx="13546138" cy="1113432"/>
          </a:xfrm>
        </p:spPr>
        <p:txBody>
          <a:bodyPr/>
          <a:lstStyle/>
          <a:p>
            <a:r>
              <a:rPr lang="en-US" altLang="en-US" dirty="0"/>
              <a:t>Specific Mortality Rates</a:t>
            </a:r>
          </a:p>
        </p:txBody>
      </p:sp>
      <p:sp>
        <p:nvSpPr>
          <p:cNvPr id="46083" name="Rectangle 2"/>
          <p:cNvSpPr>
            <a:spLocks noGrp="1" noChangeArrowheads="1"/>
          </p:cNvSpPr>
          <p:nvPr>
            <p:ph idx="1"/>
          </p:nvPr>
        </p:nvSpPr>
        <p:spPr>
          <a:xfrm>
            <a:off x="1028660" y="1656523"/>
            <a:ext cx="11429554" cy="5221163"/>
          </a:xfrm>
        </p:spPr>
        <p:txBody>
          <a:bodyPr/>
          <a:lstStyle/>
          <a:p>
            <a:r>
              <a:rPr lang="en-US" dirty="0"/>
              <a:t>Three examples of specific rates </a:t>
            </a:r>
          </a:p>
          <a:p>
            <a:pPr lvl="1"/>
            <a:r>
              <a:rPr lang="en-US" dirty="0"/>
              <a:t>Cause-specific mortality rates</a:t>
            </a:r>
          </a:p>
          <a:p>
            <a:pPr lvl="1"/>
            <a:r>
              <a:rPr lang="en-US" dirty="0"/>
              <a:t>Age-specific mortality rates</a:t>
            </a:r>
          </a:p>
          <a:p>
            <a:pPr lvl="1"/>
            <a:r>
              <a:rPr lang="en-US" dirty="0"/>
              <a:t>Sex-specific mortality rates</a:t>
            </a:r>
          </a:p>
          <a:p>
            <a:endParaRPr lang="en-US" dirty="0"/>
          </a:p>
        </p:txBody>
      </p:sp>
    </p:spTree>
    <p:extLst>
      <p:ext uri="{BB962C8B-B14F-4D97-AF65-F5344CB8AC3E}">
        <p14:creationId xmlns:p14="http://schemas.microsoft.com/office/powerpoint/2010/main" val="300729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
          <p:cNvSpPr>
            <a:spLocks noGrp="1" noChangeArrowheads="1"/>
          </p:cNvSpPr>
          <p:nvPr>
            <p:ph type="title"/>
          </p:nvPr>
        </p:nvSpPr>
        <p:spPr>
          <a:xfrm>
            <a:off x="0" y="134482"/>
            <a:ext cx="13546138" cy="1113432"/>
          </a:xfrm>
        </p:spPr>
        <p:txBody>
          <a:bodyPr/>
          <a:lstStyle/>
          <a:p>
            <a:r>
              <a:rPr lang="en-US" altLang="en-US" dirty="0"/>
              <a:t>Cause-Specific Mortality Rate</a:t>
            </a: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a:xfrm>
                <a:off x="1028660" y="1656523"/>
                <a:ext cx="11429554" cy="5221163"/>
              </a:xfrm>
            </p:spPr>
            <p:txBody>
              <a:bodyPr/>
              <a:lstStyle/>
              <a:p>
                <a:r>
                  <a:rPr lang="en-US" altLang="en-US" dirty="0"/>
                  <a:t>Measure that refers to mortality from a specific cause divided by population size at midpoint of time period times a multiplier</a:t>
                </a:r>
              </a:p>
              <a:p>
                <a14:m>
                  <m:oMath xmlns:m="http://schemas.openxmlformats.org/officeDocument/2006/math">
                    <m:r>
                      <a:rPr lang="en-US" altLang="en-US" b="0" i="1" smtClean="0">
                        <a:latin typeface="Cambria Math" panose="02040503050406030204" pitchFamily="18" charset="0"/>
                      </a:rPr>
                      <m:t>𝐶𝑎𝑢𝑠𝑒</m:t>
                    </m:r>
                    <m:r>
                      <a:rPr lang="en-US" altLang="en-US" b="0" i="1" smtClean="0">
                        <a:latin typeface="Cambria Math" panose="02040503050406030204" pitchFamily="18" charset="0"/>
                      </a:rPr>
                      <m:t>−</m:t>
                    </m:r>
                    <m:r>
                      <a:rPr lang="en-US" altLang="en-US" b="0" i="1" smtClean="0">
                        <a:latin typeface="Cambria Math" panose="02040503050406030204" pitchFamily="18" charset="0"/>
                      </a:rPr>
                      <m:t>𝑠𝑝𝑒𝑐𝑖𝑓𝑖𝑐</m:t>
                    </m:r>
                    <m:r>
                      <a:rPr lang="en-US" altLang="en-US" b="0" i="1" smtClean="0">
                        <a:latin typeface="Cambria Math" panose="02040503050406030204" pitchFamily="18" charset="0"/>
                      </a:rPr>
                      <m:t> </m:t>
                    </m:r>
                    <m:r>
                      <a:rPr lang="en-US" altLang="en-US" b="0" i="1" smtClean="0">
                        <a:latin typeface="Cambria Math" panose="02040503050406030204" pitchFamily="18" charset="0"/>
                      </a:rPr>
                      <m:t>𝑟𝑎𝑡𝑒</m:t>
                    </m:r>
                    <m:r>
                      <a:rPr lang="en-US" altLang="en-US" b="0" i="1" smtClean="0">
                        <a:latin typeface="Cambria Math" panose="02040503050406030204" pitchFamily="18" charset="0"/>
                      </a:rPr>
                      <m:t>= </m:t>
                    </m:r>
                    <m:f>
                      <m:fPr>
                        <m:ctrlPr>
                          <a:rPr lang="en-US" altLang="en-US" b="0" i="1" smtClean="0">
                            <a:latin typeface="Cambria Math" panose="02040503050406030204" pitchFamily="18" charset="0"/>
                          </a:rPr>
                        </m:ctrlPr>
                      </m:fPr>
                      <m:num>
                        <m:r>
                          <a:rPr lang="en-US" altLang="en-US" i="1">
                            <a:latin typeface="Cambria Math" panose="02040503050406030204" pitchFamily="18" charset="0"/>
                          </a:rPr>
                          <m:t>𝑀𝑜𝑟𝑡𝑎𝑙𝑖𝑡𝑦</m:t>
                        </m:r>
                        <m:r>
                          <a:rPr lang="en-US" altLang="en-US" i="1">
                            <a:latin typeface="Cambria Math" panose="02040503050406030204" pitchFamily="18" charset="0"/>
                          </a:rPr>
                          <m:t> </m:t>
                        </m:r>
                        <m:r>
                          <a:rPr lang="en-US" altLang="en-US" i="1">
                            <a:latin typeface="Cambria Math" panose="02040503050406030204" pitchFamily="18" charset="0"/>
                          </a:rPr>
                          <m:t>𝑓𝑟𝑜𝑚</m:t>
                        </m:r>
                        <m:r>
                          <a:rPr lang="en-US" altLang="en-US" i="1">
                            <a:latin typeface="Cambria Math" panose="02040503050406030204" pitchFamily="18" charset="0"/>
                          </a:rPr>
                          <m:t> </m:t>
                        </m:r>
                        <m:r>
                          <a:rPr lang="en-US" altLang="en-US" i="1">
                            <a:latin typeface="Cambria Math" panose="02040503050406030204" pitchFamily="18" charset="0"/>
                          </a:rPr>
                          <m:t>𝑎</m:t>
                        </m:r>
                        <m:r>
                          <a:rPr lang="en-US" altLang="en-US" i="1">
                            <a:latin typeface="Cambria Math" panose="02040503050406030204" pitchFamily="18" charset="0"/>
                          </a:rPr>
                          <m:t> </m:t>
                        </m:r>
                        <m:r>
                          <a:rPr lang="en-US" altLang="en-US" i="1">
                            <a:latin typeface="Cambria Math" panose="02040503050406030204" pitchFamily="18" charset="0"/>
                          </a:rPr>
                          <m:t>𝑠𝑝𝑒𝑐𝑖𝑓𝑖𝑐</m:t>
                        </m:r>
                        <m:r>
                          <a:rPr lang="en-US" altLang="en-US" i="1">
                            <a:latin typeface="Cambria Math" panose="02040503050406030204" pitchFamily="18" charset="0"/>
                          </a:rPr>
                          <m:t> </m:t>
                        </m:r>
                        <m:r>
                          <a:rPr lang="en-US" altLang="en-US" i="1">
                            <a:latin typeface="Cambria Math" panose="02040503050406030204" pitchFamily="18" charset="0"/>
                          </a:rPr>
                          <m:t>𝑐𝑎𝑢𝑠𝑒</m:t>
                        </m:r>
                        <m:r>
                          <a:rPr lang="en-US" altLang="en-US" i="1">
                            <a:latin typeface="Cambria Math" panose="02040503050406030204" pitchFamily="18" charset="0"/>
                          </a:rPr>
                          <m:t> </m:t>
                        </m:r>
                      </m:num>
                      <m:den>
                        <m:eqArr>
                          <m:eqArrPr>
                            <m:ctrlPr>
                              <a:rPr lang="en-US" altLang="en-US" i="1">
                                <a:latin typeface="Cambria Math" panose="02040503050406030204" pitchFamily="18" charset="0"/>
                              </a:rPr>
                            </m:ctrlPr>
                          </m:eqArrPr>
                          <m:e>
                            <m:r>
                              <a:rPr lang="en-US" altLang="en-US" i="1">
                                <a:latin typeface="Cambria Math" panose="02040503050406030204" pitchFamily="18" charset="0"/>
                              </a:rPr>
                              <m:t>𝑃𝑜𝑝𝑢𝑙𝑎𝑡𝑖𝑜𝑛</m:t>
                            </m:r>
                            <m:r>
                              <a:rPr lang="en-US" altLang="en-US" i="1">
                                <a:latin typeface="Cambria Math" panose="02040503050406030204" pitchFamily="18" charset="0"/>
                              </a:rPr>
                              <m:t> </m:t>
                            </m:r>
                            <m:r>
                              <a:rPr lang="en-US" altLang="en-US" i="1">
                                <a:latin typeface="Cambria Math" panose="02040503050406030204" pitchFamily="18" charset="0"/>
                              </a:rPr>
                              <m:t>𝑠𝑖𝑧𝑒</m:t>
                            </m:r>
                            <m:r>
                              <a:rPr lang="en-US" altLang="en-US" i="1">
                                <a:latin typeface="Cambria Math" panose="02040503050406030204" pitchFamily="18" charset="0"/>
                              </a:rPr>
                              <m:t> </m:t>
                            </m:r>
                            <m:r>
                              <a:rPr lang="en-US" altLang="en-US" i="1">
                                <a:latin typeface="Cambria Math" panose="02040503050406030204" pitchFamily="18" charset="0"/>
                              </a:rPr>
                              <m:t>𝑎𝑡</m:t>
                            </m:r>
                            <m:r>
                              <a:rPr lang="en-US" altLang="en-US" i="1">
                                <a:latin typeface="Cambria Math" panose="02040503050406030204" pitchFamily="18" charset="0"/>
                              </a:rPr>
                              <m:t> </m:t>
                            </m:r>
                            <m:r>
                              <a:rPr lang="en-US" altLang="en-US" i="1">
                                <a:latin typeface="Cambria Math" panose="02040503050406030204" pitchFamily="18" charset="0"/>
                              </a:rPr>
                              <m:t>𝑚𝑖𝑑𝑝𝑜𝑖𝑛𝑡</m:t>
                            </m:r>
                            <m:r>
                              <a:rPr lang="en-US" altLang="en-US" i="1">
                                <a:latin typeface="Cambria Math" panose="02040503050406030204" pitchFamily="18" charset="0"/>
                              </a:rPr>
                              <m:t> </m:t>
                            </m:r>
                          </m:e>
                          <m:e>
                            <m:r>
                              <a:rPr lang="en-US" altLang="en-US" i="1">
                                <a:latin typeface="Cambria Math" panose="02040503050406030204" pitchFamily="18" charset="0"/>
                              </a:rPr>
                              <m:t>𝑜𝑓</m:t>
                            </m:r>
                            <m:r>
                              <a:rPr lang="en-US" altLang="en-US" i="1">
                                <a:latin typeface="Cambria Math" panose="02040503050406030204" pitchFamily="18" charset="0"/>
                              </a:rPr>
                              <m:t> </m:t>
                            </m:r>
                            <m:r>
                              <a:rPr lang="en-US" altLang="en-US" i="1">
                                <a:latin typeface="Cambria Math" panose="02040503050406030204" pitchFamily="18" charset="0"/>
                              </a:rPr>
                              <m:t>𝑡𝑖𝑚𝑒</m:t>
                            </m:r>
                            <m:r>
                              <a:rPr lang="en-US" altLang="en-US" i="1">
                                <a:latin typeface="Cambria Math" panose="02040503050406030204" pitchFamily="18" charset="0"/>
                              </a:rPr>
                              <m:t> </m:t>
                            </m:r>
                            <m:r>
                              <a:rPr lang="en-US" altLang="en-US" i="1">
                                <a:latin typeface="Cambria Math" panose="02040503050406030204" pitchFamily="18" charset="0"/>
                              </a:rPr>
                              <m:t>𝑝𝑒𝑟𝑖𝑜𝑑</m:t>
                            </m:r>
                            <m:r>
                              <a:rPr lang="en-US" altLang="en-US" i="1">
                                <a:latin typeface="Cambria Math" panose="02040503050406030204" pitchFamily="18" charset="0"/>
                              </a:rPr>
                              <m:t> </m:t>
                            </m:r>
                          </m:e>
                        </m:eqArr>
                      </m:den>
                    </m:f>
                    <m:r>
                      <a:rPr lang="en-US" altLang="en-US" b="0" i="1" smtClean="0">
                        <a:latin typeface="Cambria Math" panose="02040503050406030204" pitchFamily="18" charset="0"/>
                      </a:rPr>
                      <m:t> </m:t>
                    </m:r>
                    <m:r>
                      <a:rPr lang="en-US" altLang="en-US" b="0" i="1" smtClean="0">
                        <a:latin typeface="Cambria Math" panose="02040503050406030204" pitchFamily="18" charset="0"/>
                      </a:rPr>
                      <m:t>𝑥</m:t>
                    </m:r>
                    <m:r>
                      <a:rPr lang="en-US" altLang="en-US" b="0" i="1" smtClean="0">
                        <a:latin typeface="Cambria Math" panose="02040503050406030204" pitchFamily="18" charset="0"/>
                      </a:rPr>
                      <m:t> 100,000</m:t>
                    </m:r>
                  </m:oMath>
                </a14:m>
                <a:endParaRPr lang="en-US" altLang="en-US" dirty="0"/>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xfrm>
                <a:off x="1028660" y="1656523"/>
                <a:ext cx="11429554" cy="5221163"/>
              </a:xfrm>
              <a:blipFill>
                <a:blip r:embed="rId2"/>
                <a:stretch>
                  <a:fillRect l="-999" t="-1214"/>
                </a:stretch>
              </a:blipFill>
            </p:spPr>
            <p:txBody>
              <a:bodyPr/>
              <a:lstStyle/>
              <a:p>
                <a:r>
                  <a:rPr lang="en-US">
                    <a:noFill/>
                  </a:rPr>
                  <a:t> </a:t>
                </a:r>
              </a:p>
            </p:txBody>
          </p:sp>
        </mc:Fallback>
      </mc:AlternateContent>
    </p:spTree>
    <p:extLst>
      <p:ext uri="{BB962C8B-B14F-4D97-AF65-F5344CB8AC3E}">
        <p14:creationId xmlns:p14="http://schemas.microsoft.com/office/powerpoint/2010/main" val="516889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1"/>
          <p:cNvSpPr>
            <a:spLocks noGrp="1" noChangeArrowheads="1"/>
          </p:cNvSpPr>
          <p:nvPr>
            <p:ph type="title"/>
          </p:nvPr>
        </p:nvSpPr>
        <p:spPr>
          <a:xfrm>
            <a:off x="0" y="134482"/>
            <a:ext cx="13546138" cy="1113432"/>
          </a:xfrm>
        </p:spPr>
        <p:txBody>
          <a:bodyPr/>
          <a:lstStyle/>
          <a:p>
            <a:r>
              <a:rPr lang="en-US" altLang="en-US" dirty="0"/>
              <a:t>Age-Specific Mortality Rate (R)</a:t>
            </a:r>
          </a:p>
        </p:txBody>
      </p:sp>
      <mc:AlternateContent xmlns:mc="http://schemas.openxmlformats.org/markup-compatibility/2006" xmlns:a14="http://schemas.microsoft.com/office/drawing/2010/main">
        <mc:Choice Requires="a14">
          <p:sp>
            <p:nvSpPr>
              <p:cNvPr id="50180" name="Content Placeholder 11"/>
              <p:cNvSpPr>
                <a:spLocks noGrp="1"/>
              </p:cNvSpPr>
              <p:nvPr>
                <p:ph idx="1"/>
              </p:nvPr>
            </p:nvSpPr>
            <p:spPr>
              <a:xfrm>
                <a:off x="1028660" y="1656523"/>
                <a:ext cx="11429554" cy="5221163"/>
              </a:xfrm>
            </p:spPr>
            <p:txBody>
              <a:bodyPr/>
              <a:lstStyle/>
              <a:p>
                <a:r>
                  <a:rPr lang="en-US" altLang="en-US" dirty="0"/>
                  <a:t>Number of deaths in specific age group of population during a specified time period</a:t>
                </a:r>
              </a:p>
              <a:p>
                <a:r>
                  <a:rPr lang="en-US" altLang="en-US" dirty="0"/>
                  <a:t>Sample calculation for the age group 15 to 24 years</a:t>
                </a:r>
              </a:p>
              <a:p>
                <a:pPr lvl="1"/>
                <a14:m>
                  <m:oMath xmlns:m="http://schemas.openxmlformats.org/officeDocument/2006/math">
                    <m:r>
                      <a:rPr lang="en-US" altLang="en-US" b="0" i="1" smtClean="0">
                        <a:latin typeface="Cambria Math" panose="02040503050406030204" pitchFamily="18" charset="0"/>
                      </a:rPr>
                      <m:t>𝑅</m:t>
                    </m:r>
                    <m:r>
                      <a:rPr lang="en-US" altLang="en-US" b="0" i="1" smtClean="0">
                        <a:latin typeface="Cambria Math" panose="02040503050406030204" pitchFamily="18" charset="0"/>
                      </a:rPr>
                      <m:t>= </m:t>
                    </m:r>
                    <m:f>
                      <m:fPr>
                        <m:ctrlPr>
                          <a:rPr lang="en-US" altLang="en-US" b="0" i="1" smtClean="0">
                            <a:latin typeface="Cambria Math" panose="02040503050406030204" pitchFamily="18" charset="0"/>
                          </a:rPr>
                        </m:ctrlPr>
                      </m:fPr>
                      <m:num>
                        <m:r>
                          <a:rPr lang="en-US" altLang="en-US" i="1">
                            <a:latin typeface="Cambria Math" panose="02040503050406030204" pitchFamily="18" charset="0"/>
                          </a:rPr>
                          <m:t>𝑁𝑢𝑚𝑏𝑒𝑟</m:t>
                        </m:r>
                        <m:r>
                          <a:rPr lang="en-US" altLang="en-US" i="1">
                            <a:latin typeface="Cambria Math" panose="02040503050406030204" pitchFamily="18" charset="0"/>
                          </a:rPr>
                          <m:t> </m:t>
                        </m:r>
                        <m:r>
                          <a:rPr lang="en-US" altLang="en-US" i="1">
                            <a:latin typeface="Cambria Math" panose="02040503050406030204" pitchFamily="18" charset="0"/>
                          </a:rPr>
                          <m:t>𝑜𝑓</m:t>
                        </m:r>
                        <m:r>
                          <a:rPr lang="en-US" altLang="en-US" i="1">
                            <a:latin typeface="Cambria Math" panose="02040503050406030204" pitchFamily="18" charset="0"/>
                          </a:rPr>
                          <m:t> </m:t>
                        </m:r>
                        <m:r>
                          <a:rPr lang="en-US" altLang="en-US" i="1">
                            <a:latin typeface="Cambria Math" panose="02040503050406030204" pitchFamily="18" charset="0"/>
                          </a:rPr>
                          <m:t>𝑑𝑒𝑎𝑡h𝑠</m:t>
                        </m:r>
                        <m:r>
                          <a:rPr lang="en-US" altLang="en-US" i="1">
                            <a:latin typeface="Cambria Math" panose="02040503050406030204" pitchFamily="18" charset="0"/>
                          </a:rPr>
                          <m:t> </m:t>
                        </m:r>
                        <m:r>
                          <a:rPr lang="en-US" altLang="en-US" i="1">
                            <a:latin typeface="Cambria Math" panose="02040503050406030204" pitchFamily="18" charset="0"/>
                          </a:rPr>
                          <m:t>𝑎𝑚𝑜𝑛𝑔</m:t>
                        </m:r>
                        <m:r>
                          <a:rPr lang="en-US" altLang="en-US" i="1">
                            <a:latin typeface="Cambria Math" panose="02040503050406030204" pitchFamily="18" charset="0"/>
                          </a:rPr>
                          <m:t> </m:t>
                        </m:r>
                        <m:r>
                          <a:rPr lang="en-US" altLang="en-US" i="1">
                            <a:latin typeface="Cambria Math" panose="02040503050406030204" pitchFamily="18" charset="0"/>
                          </a:rPr>
                          <m:t>𝑡h𝑜𝑠𝑒</m:t>
                        </m:r>
                        <m:r>
                          <a:rPr lang="en-US" altLang="en-US" i="1">
                            <a:latin typeface="Cambria Math" panose="02040503050406030204" pitchFamily="18" charset="0"/>
                          </a:rPr>
                          <m:t> </m:t>
                        </m:r>
                        <m:r>
                          <a:rPr lang="en-US" altLang="en-US" i="1">
                            <a:latin typeface="Cambria Math" panose="02040503050406030204" pitchFamily="18" charset="0"/>
                          </a:rPr>
                          <m:t>𝑎𝑔𝑒</m:t>
                        </m:r>
                        <m:r>
                          <a:rPr lang="en-US" altLang="en-US" i="1">
                            <a:latin typeface="Cambria Math" panose="02040503050406030204" pitchFamily="18" charset="0"/>
                          </a:rPr>
                          <m:t> 15–24 </m:t>
                        </m:r>
                        <m:r>
                          <a:rPr lang="en-US" altLang="en-US" i="1">
                            <a:latin typeface="Cambria Math" panose="02040503050406030204" pitchFamily="18" charset="0"/>
                          </a:rPr>
                          <m:t>𝑦𝑒𝑎𝑟𝑠</m:t>
                        </m:r>
                        <m:r>
                          <a:rPr lang="en-US" altLang="en-US" i="1">
                            <a:latin typeface="Cambria Math" panose="02040503050406030204" pitchFamily="18" charset="0"/>
                          </a:rPr>
                          <m:t> </m:t>
                        </m:r>
                      </m:num>
                      <m:den>
                        <m:r>
                          <a:rPr lang="en-US" altLang="en-US" i="1">
                            <a:latin typeface="Cambria Math" panose="02040503050406030204" pitchFamily="18" charset="0"/>
                          </a:rPr>
                          <m:t>𝑁𝑢𝑚𝑏𝑒𝑟</m:t>
                        </m:r>
                        <m:r>
                          <a:rPr lang="en-US" altLang="en-US" i="1">
                            <a:latin typeface="Cambria Math" panose="02040503050406030204" pitchFamily="18" charset="0"/>
                          </a:rPr>
                          <m:t> </m:t>
                        </m:r>
                        <m:r>
                          <a:rPr lang="en-US" altLang="en-US" i="1">
                            <a:latin typeface="Cambria Math" panose="02040503050406030204" pitchFamily="18" charset="0"/>
                          </a:rPr>
                          <m:t>𝑜𝑓</m:t>
                        </m:r>
                        <m:r>
                          <a:rPr lang="en-US" altLang="en-US" i="1">
                            <a:latin typeface="Cambria Math" panose="02040503050406030204" pitchFamily="18" charset="0"/>
                          </a:rPr>
                          <m:t> </m:t>
                        </m:r>
                        <m:r>
                          <a:rPr lang="en-US" altLang="en-US" i="1">
                            <a:latin typeface="Cambria Math" panose="02040503050406030204" pitchFamily="18" charset="0"/>
                          </a:rPr>
                          <m:t>𝑝𝑒𝑟𝑠𝑜𝑛𝑠</m:t>
                        </m:r>
                        <m:r>
                          <a:rPr lang="en-US" altLang="en-US" i="1">
                            <a:latin typeface="Cambria Math" panose="02040503050406030204" pitchFamily="18" charset="0"/>
                          </a:rPr>
                          <m:t> </m:t>
                        </m:r>
                        <m:r>
                          <a:rPr lang="en-US" altLang="en-US" i="1">
                            <a:latin typeface="Cambria Math" panose="02040503050406030204" pitchFamily="18" charset="0"/>
                          </a:rPr>
                          <m:t>𝑤h𝑜</m:t>
                        </m:r>
                        <m:r>
                          <a:rPr lang="en-US" altLang="en-US" i="1">
                            <a:latin typeface="Cambria Math" panose="02040503050406030204" pitchFamily="18" charset="0"/>
                          </a:rPr>
                          <m:t> </m:t>
                        </m:r>
                        <m:r>
                          <a:rPr lang="en-US" altLang="en-US" i="1">
                            <a:latin typeface="Cambria Math" panose="02040503050406030204" pitchFamily="18" charset="0"/>
                          </a:rPr>
                          <m:t>𝑎𝑟𝑒</m:t>
                        </m:r>
                        <m:r>
                          <a:rPr lang="en-US" altLang="en-US" i="1">
                            <a:latin typeface="Cambria Math" panose="02040503050406030204" pitchFamily="18" charset="0"/>
                          </a:rPr>
                          <m:t> </m:t>
                        </m:r>
                        <m:r>
                          <a:rPr lang="en-US" altLang="en-US" i="1">
                            <a:latin typeface="Cambria Math" panose="02040503050406030204" pitchFamily="18" charset="0"/>
                          </a:rPr>
                          <m:t>𝑎𝑔𝑒</m:t>
                        </m:r>
                        <m:r>
                          <a:rPr lang="en-US" altLang="en-US" i="1">
                            <a:latin typeface="Cambria Math" panose="02040503050406030204" pitchFamily="18" charset="0"/>
                          </a:rPr>
                          <m:t> 15–24 </m:t>
                        </m:r>
                        <m:r>
                          <a:rPr lang="en-US" altLang="en-US" i="1">
                            <a:latin typeface="Cambria Math" panose="02040503050406030204" pitchFamily="18" charset="0"/>
                          </a:rPr>
                          <m:t>𝑦𝑒𝑎𝑟𝑠</m:t>
                        </m:r>
                        <m:r>
                          <a:rPr lang="en-US" altLang="en-US" i="1">
                            <a:latin typeface="Cambria Math" panose="02040503050406030204" pitchFamily="18" charset="0"/>
                          </a:rPr>
                          <m:t> (</m:t>
                        </m:r>
                        <m:r>
                          <a:rPr lang="en-US" altLang="en-US" i="1">
                            <a:latin typeface="Cambria Math" panose="02040503050406030204" pitchFamily="18" charset="0"/>
                          </a:rPr>
                          <m:t>𝑑𝑢𝑟𝑖𝑛𝑔</m:t>
                        </m:r>
                        <m:r>
                          <a:rPr lang="en-US" altLang="en-US" i="1">
                            <a:latin typeface="Cambria Math" panose="02040503050406030204" pitchFamily="18" charset="0"/>
                          </a:rPr>
                          <m:t> </m:t>
                        </m:r>
                        <m:r>
                          <a:rPr lang="en-US" altLang="en-US" i="1">
                            <a:latin typeface="Cambria Math" panose="02040503050406030204" pitchFamily="18" charset="0"/>
                          </a:rPr>
                          <m:t>𝑡𝑖𝑚𝑒</m:t>
                        </m:r>
                        <m:r>
                          <a:rPr lang="en-US" altLang="en-US" i="1">
                            <a:latin typeface="Cambria Math" panose="02040503050406030204" pitchFamily="18" charset="0"/>
                          </a:rPr>
                          <m:t> </m:t>
                        </m:r>
                        <m:r>
                          <a:rPr lang="en-US" altLang="en-US" i="1">
                            <a:latin typeface="Cambria Math" panose="02040503050406030204" pitchFamily="18" charset="0"/>
                          </a:rPr>
                          <m:t>𝑝𝑒𝑟𝑖𝑜𝑑</m:t>
                        </m:r>
                        <m:r>
                          <a:rPr lang="en-US" altLang="en-US" i="1">
                            <a:latin typeface="Cambria Math" panose="02040503050406030204" pitchFamily="18" charset="0"/>
                          </a:rPr>
                          <m:t>) </m:t>
                        </m:r>
                      </m:den>
                    </m:f>
                    <m:r>
                      <a:rPr lang="en-US" altLang="en-US" b="0" i="1" smtClean="0">
                        <a:latin typeface="Cambria Math" panose="02040503050406030204" pitchFamily="18" charset="0"/>
                      </a:rPr>
                      <m:t> </m:t>
                    </m:r>
                    <m:r>
                      <a:rPr lang="en-US" altLang="en-US" b="0" i="1" smtClean="0">
                        <a:latin typeface="Cambria Math" panose="02040503050406030204" pitchFamily="18" charset="0"/>
                      </a:rPr>
                      <m:t>𝑥</m:t>
                    </m:r>
                    <m:r>
                      <a:rPr lang="en-US" altLang="en-US" b="0" i="1" smtClean="0">
                        <a:latin typeface="Cambria Math" panose="02040503050406030204" pitchFamily="18" charset="0"/>
                      </a:rPr>
                      <m:t> 100,000</m:t>
                    </m:r>
                  </m:oMath>
                </a14:m>
                <a:endParaRPr lang="en-US" altLang="en-US" dirty="0"/>
              </a:p>
              <a:p>
                <a:r>
                  <a:rPr lang="en-US" altLang="en-US" dirty="0"/>
                  <a:t>In the U.S. during 2020, there were 35,470 deaths in the age group 15–24 years, and there were 44,000,000 persons in the same age group. Age-specific mortality rate in this age group is (35,470/ 44,000,000) = 80.6 per 100,000.</a:t>
                </a:r>
              </a:p>
              <a:p>
                <a:endParaRPr lang="en-US" altLang="en-US" dirty="0"/>
              </a:p>
              <a:p>
                <a:endParaRPr lang="en-US" altLang="en-US" dirty="0"/>
              </a:p>
            </p:txBody>
          </p:sp>
        </mc:Choice>
        <mc:Fallback xmlns="">
          <p:sp>
            <p:nvSpPr>
              <p:cNvPr id="50180" name="Content Placeholder 11"/>
              <p:cNvSpPr>
                <a:spLocks noGrp="1" noRot="1" noChangeAspect="1" noMove="1" noResize="1" noEditPoints="1" noAdjustHandles="1" noChangeArrowheads="1" noChangeShapeType="1" noTextEdit="1"/>
              </p:cNvSpPr>
              <p:nvPr>
                <p:ph idx="1"/>
              </p:nvPr>
            </p:nvSpPr>
            <p:spPr>
              <a:xfrm>
                <a:off x="1028660" y="1656523"/>
                <a:ext cx="11429554" cy="5221163"/>
              </a:xfrm>
              <a:blipFill>
                <a:blip r:embed="rId3"/>
                <a:stretch>
                  <a:fillRect l="-999" t="-1214"/>
                </a:stretch>
              </a:blipFill>
            </p:spPr>
            <p:txBody>
              <a:bodyPr/>
              <a:lstStyle/>
              <a:p>
                <a:r>
                  <a:rPr lang="en-US">
                    <a:noFill/>
                  </a:rPr>
                  <a:t> </a:t>
                </a:r>
              </a:p>
            </p:txBody>
          </p:sp>
        </mc:Fallback>
      </mc:AlternateContent>
    </p:spTree>
    <p:extLst>
      <p:ext uri="{BB962C8B-B14F-4D97-AF65-F5344CB8AC3E}">
        <p14:creationId xmlns:p14="http://schemas.microsoft.com/office/powerpoint/2010/main" val="2776374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1"/>
          <p:cNvSpPr>
            <a:spLocks noGrp="1" noChangeArrowheads="1"/>
          </p:cNvSpPr>
          <p:nvPr>
            <p:ph type="title"/>
          </p:nvPr>
        </p:nvSpPr>
        <p:spPr>
          <a:xfrm>
            <a:off x="0" y="134482"/>
            <a:ext cx="13546138" cy="1113432"/>
          </a:xfrm>
        </p:spPr>
        <p:txBody>
          <a:bodyPr/>
          <a:lstStyle/>
          <a:p>
            <a:r>
              <a:rPr lang="en-US" altLang="en-US" dirty="0"/>
              <a:t>Sex-Specific Mortality Rate </a:t>
            </a:r>
          </a:p>
        </p:txBody>
      </p:sp>
      <p:sp>
        <p:nvSpPr>
          <p:cNvPr id="5" name="Content Placeholder 4"/>
          <p:cNvSpPr>
            <a:spLocks noGrp="1"/>
          </p:cNvSpPr>
          <p:nvPr>
            <p:ph idx="1"/>
          </p:nvPr>
        </p:nvSpPr>
        <p:spPr>
          <a:xfrm>
            <a:off x="1028660" y="1656523"/>
            <a:ext cx="11429554" cy="5221163"/>
          </a:xfrm>
        </p:spPr>
        <p:txBody>
          <a:bodyPr/>
          <a:lstStyle/>
          <a:p>
            <a:r>
              <a:rPr lang="en-US" altLang="en-US" dirty="0"/>
              <a:t>Number of deaths in a sex group divided by total number of persons within that sex group during a time period times a multiplier</a:t>
            </a:r>
          </a:p>
          <a:p>
            <a:r>
              <a:rPr lang="en-US" altLang="en-US" dirty="0"/>
              <a:t>Mortality in 2020</a:t>
            </a:r>
          </a:p>
          <a:p>
            <a:pPr lvl="1"/>
            <a:r>
              <a:rPr lang="en-US" altLang="en-US" dirty="0"/>
              <a:t>Number of deaths among males was 1,691,900.</a:t>
            </a:r>
          </a:p>
          <a:p>
            <a:pPr lvl="1"/>
            <a:r>
              <a:rPr lang="en-US" altLang="en-US" dirty="0"/>
              <a:t>Estimated number of males in the population as of July 1, 2020, was 164,382,008.</a:t>
            </a:r>
          </a:p>
          <a:p>
            <a:pPr lvl="1"/>
            <a:r>
              <a:rPr lang="en-US" altLang="en-US" dirty="0"/>
              <a:t>Sex-specific mortality rate for males in 2020 per 100,000 was 1,691,900/164,382,008 × 100,000 = 1,031 per 100,000</a:t>
            </a:r>
          </a:p>
          <a:p>
            <a:endParaRPr lang="en-US" altLang="en-US" dirty="0"/>
          </a:p>
          <a:p>
            <a:endParaRPr lang="en-US" dirty="0"/>
          </a:p>
        </p:txBody>
      </p:sp>
    </p:spTree>
    <p:extLst>
      <p:ext uri="{BB962C8B-B14F-4D97-AF65-F5344CB8AC3E}">
        <p14:creationId xmlns:p14="http://schemas.microsoft.com/office/powerpoint/2010/main" val="3206736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1"/>
          <p:cNvSpPr>
            <a:spLocks noGrp="1" noChangeArrowheads="1"/>
          </p:cNvSpPr>
          <p:nvPr>
            <p:ph type="title"/>
          </p:nvPr>
        </p:nvSpPr>
        <p:spPr>
          <a:xfrm>
            <a:off x="0" y="134482"/>
            <a:ext cx="13546138" cy="1113432"/>
          </a:xfrm>
        </p:spPr>
        <p:txBody>
          <a:bodyPr/>
          <a:lstStyle/>
          <a:p>
            <a:r>
              <a:rPr lang="en-US" altLang="en-US" dirty="0"/>
              <a:t>Adjusted Mortality Rates</a:t>
            </a:r>
          </a:p>
        </p:txBody>
      </p:sp>
      <p:sp>
        <p:nvSpPr>
          <p:cNvPr id="52227" name="Rectangle 2"/>
          <p:cNvSpPr>
            <a:spLocks noGrp="1" noChangeArrowheads="1"/>
          </p:cNvSpPr>
          <p:nvPr>
            <p:ph idx="1"/>
          </p:nvPr>
        </p:nvSpPr>
        <p:spPr>
          <a:xfrm>
            <a:off x="1028660" y="1656523"/>
            <a:ext cx="11429554" cy="5221163"/>
          </a:xfrm>
        </p:spPr>
        <p:txBody>
          <a:bodyPr/>
          <a:lstStyle/>
          <a:p>
            <a:r>
              <a:rPr lang="en-US" altLang="en-US" dirty="0"/>
              <a:t>Comparing mortality rates between populations can be difficult due to differences in age and other factors. </a:t>
            </a:r>
          </a:p>
          <a:p>
            <a:r>
              <a:rPr lang="en-US" altLang="en-US" dirty="0"/>
              <a:t>Statistical procedures can be used to adjust mortality rates to permit fair comparisons across populations by removing effect of differences in composition of populations.</a:t>
            </a:r>
          </a:p>
          <a:p>
            <a:pPr lvl="1"/>
            <a:r>
              <a:rPr lang="en-US" altLang="en-US" dirty="0"/>
              <a:t>Direct age adjustment</a:t>
            </a:r>
          </a:p>
          <a:p>
            <a:pPr lvl="1"/>
            <a:r>
              <a:rPr lang="en-US" altLang="en-US" dirty="0"/>
              <a:t>Indirect age adjustment</a:t>
            </a:r>
          </a:p>
        </p:txBody>
      </p:sp>
    </p:spTree>
    <p:extLst>
      <p:ext uri="{BB962C8B-B14F-4D97-AF65-F5344CB8AC3E}">
        <p14:creationId xmlns:p14="http://schemas.microsoft.com/office/powerpoint/2010/main" val="1182232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0" y="134482"/>
            <a:ext cx="13546138" cy="1113432"/>
          </a:xfrm>
        </p:spPr>
        <p:txBody>
          <a:bodyPr>
            <a:normAutofit/>
          </a:bodyPr>
          <a:lstStyle/>
          <a:p>
            <a:r>
              <a:rPr lang="en-US" altLang="en-US" dirty="0"/>
              <a:t>Figure 3-12 Age-adjusted death rates, by sex and race and ethnicity: United States, 2019 and 2020</a:t>
            </a:r>
          </a:p>
        </p:txBody>
      </p:sp>
      <p:pic>
        <p:nvPicPr>
          <p:cNvPr id="3" name="Picture 2" descr="The bar graph plots the deaths per 100,000 U S standard population versus the total, Hispanic, and non-Hispanic in 2019 and 2020. The data inferred from the graph is as follows: Total 2019, 715.2, 2020, 835.4; Male: 2019, 633.2, 2020, 903.8; Female: 2019, 430.7, 2020, 570.1; Black male: 2019, 1,092.8, 2020, 1,399.9; Black female: 2019, 724.9, 2020, 905.2; White male: 2019, 868.8, 2020, 985.0; White female: 627.4, 2020, 703.1." title="Figure 3.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93174" y="1524000"/>
            <a:ext cx="8359790" cy="5554359"/>
          </a:xfrm>
          <a:prstGeom prst="rect">
            <a:avLst/>
          </a:prstGeom>
        </p:spPr>
      </p:pic>
    </p:spTree>
    <p:extLst>
      <p:ext uri="{BB962C8B-B14F-4D97-AF65-F5344CB8AC3E}">
        <p14:creationId xmlns:p14="http://schemas.microsoft.com/office/powerpoint/2010/main" val="2045326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0" y="134482"/>
            <a:ext cx="13546138" cy="1113432"/>
          </a:xfrm>
        </p:spPr>
        <p:txBody>
          <a:bodyPr/>
          <a:lstStyle/>
          <a:p>
            <a:r>
              <a:rPr lang="en-US" altLang="en-US" dirty="0"/>
              <a:t>Natality and Mortality Linked to Natality</a:t>
            </a:r>
          </a:p>
        </p:txBody>
      </p:sp>
      <p:sp>
        <p:nvSpPr>
          <p:cNvPr id="32771" name="Content Placeholder 2"/>
          <p:cNvSpPr>
            <a:spLocks noGrp="1"/>
          </p:cNvSpPr>
          <p:nvPr>
            <p:ph idx="1"/>
          </p:nvPr>
        </p:nvSpPr>
        <p:spPr>
          <a:xfrm>
            <a:off x="1028660" y="1656523"/>
            <a:ext cx="11429554" cy="5221163"/>
          </a:xfrm>
        </p:spPr>
        <p:txBody>
          <a:bodyPr/>
          <a:lstStyle/>
          <a:p>
            <a:r>
              <a:rPr lang="en-US" altLang="en-US" dirty="0"/>
              <a:t>Maternal mortality rate</a:t>
            </a:r>
          </a:p>
          <a:p>
            <a:r>
              <a:rPr lang="en-US" altLang="en-US" dirty="0"/>
              <a:t>Infant mortality rate</a:t>
            </a:r>
          </a:p>
          <a:p>
            <a:r>
              <a:rPr lang="en-US" altLang="en-US" dirty="0"/>
              <a:t>Fetal mortality</a:t>
            </a:r>
          </a:p>
          <a:p>
            <a:pPr lvl="1"/>
            <a:r>
              <a:rPr lang="en-US" altLang="en-US" dirty="0"/>
              <a:t>Fetal death rate</a:t>
            </a:r>
          </a:p>
          <a:p>
            <a:pPr lvl="1"/>
            <a:r>
              <a:rPr lang="en-US" altLang="en-US" dirty="0"/>
              <a:t>Late fetal death rate</a:t>
            </a:r>
          </a:p>
          <a:p>
            <a:r>
              <a:rPr lang="en-US" altLang="en-US" dirty="0"/>
              <a:t>Birth rate (e.g., crude birth rate)</a:t>
            </a:r>
          </a:p>
          <a:p>
            <a:r>
              <a:rPr lang="en-US" altLang="en-US" dirty="0"/>
              <a:t>General fertility rate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0" y="134482"/>
            <a:ext cx="13546138" cy="1113432"/>
          </a:xfrm>
        </p:spPr>
        <p:txBody>
          <a:bodyPr/>
          <a:lstStyle/>
          <a:p>
            <a:r>
              <a:rPr lang="en-US" altLang="en-US" dirty="0"/>
              <a:t>Maternal Mortality</a:t>
            </a:r>
          </a:p>
        </p:txBody>
      </p:sp>
      <p:sp>
        <p:nvSpPr>
          <p:cNvPr id="33795" name="Content Placeholder 2"/>
          <p:cNvSpPr>
            <a:spLocks noGrp="1"/>
          </p:cNvSpPr>
          <p:nvPr>
            <p:ph idx="1"/>
          </p:nvPr>
        </p:nvSpPr>
        <p:spPr>
          <a:xfrm>
            <a:off x="1028660" y="1656523"/>
            <a:ext cx="11429554" cy="5221163"/>
          </a:xfrm>
        </p:spPr>
        <p:txBody>
          <a:bodyPr/>
          <a:lstStyle/>
          <a:p>
            <a:r>
              <a:rPr lang="en-US" altLang="en-US" dirty="0"/>
              <a:t>Encompasses maternal deaths that result from causes associated with pregnancy</a:t>
            </a:r>
          </a:p>
          <a:p>
            <a:r>
              <a:rPr lang="en-US" altLang="en-US" dirty="0"/>
              <a:t>Measure is maternal mortality rate.</a:t>
            </a:r>
          </a:p>
          <a:p>
            <a:r>
              <a:rPr lang="en-US" altLang="en-US" dirty="0"/>
              <a:t>Maternal mortality rates have been increasing in the United States and show significant disparities by race.</a:t>
            </a:r>
          </a:p>
          <a:p>
            <a:pPr lvl="1"/>
            <a:endParaRPr lang="en-US" altLang="en-US" dirty="0"/>
          </a:p>
          <a:p>
            <a:pPr lvl="1"/>
            <a:endParaRPr lang="en-US" altLang="en-US" dirty="0"/>
          </a:p>
          <a:p>
            <a:endParaRPr lang="en-US"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48C420F-9A29-6259-CFC7-2923141C58BF}"/>
              </a:ext>
            </a:extLst>
          </p:cNvPr>
          <p:cNvSpPr>
            <a:spLocks noGrp="1"/>
          </p:cNvSpPr>
          <p:nvPr>
            <p:ph type="title"/>
          </p:nvPr>
        </p:nvSpPr>
        <p:spPr/>
        <p:txBody>
          <a:bodyPr/>
          <a:lstStyle/>
          <a:p>
            <a:r>
              <a:rPr lang="en-US" altLang="en-US" dirty="0"/>
              <a:t>Maternal Mortality Rate</a:t>
            </a:r>
            <a:endParaRPr lang="en-US"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128A8276-C54E-0E3C-8ACE-FA75B089CE20}"/>
                  </a:ext>
                </a:extLst>
              </p:cNvPr>
              <p:cNvSpPr>
                <a:spLocks noGrp="1"/>
              </p:cNvSpPr>
              <p:nvPr>
                <p:ph idx="1"/>
              </p:nvPr>
            </p:nvSpPr>
            <p:spPr/>
            <p:txBody>
              <a:bodyPr/>
              <a:lstStyle/>
              <a:p>
                <a14:m>
                  <m:oMath xmlns:m="http://schemas.openxmlformats.org/officeDocument/2006/math">
                    <m:r>
                      <a:rPr lang="en-US" sz="2400" i="1" smtClean="0">
                        <a:latin typeface="Cambria Math" panose="02040503050406030204" pitchFamily="18" charset="0"/>
                      </a:rPr>
                      <m:t>𝑀𝑎𝑡𝑒𝑟𝑛𝑎𝑙</m:t>
                    </m:r>
                    <m:r>
                      <a:rPr lang="en-US" sz="2400" i="1" smtClean="0">
                        <a:latin typeface="Cambria Math" panose="02040503050406030204" pitchFamily="18" charset="0"/>
                      </a:rPr>
                      <m:t> </m:t>
                    </m:r>
                    <m:r>
                      <a:rPr lang="en-US" sz="2400" i="1" smtClean="0">
                        <a:latin typeface="Cambria Math" panose="02040503050406030204" pitchFamily="18" charset="0"/>
                      </a:rPr>
                      <m:t>𝑚𝑜𝑟𝑡𝑎𝑙𝑖𝑡𝑦</m:t>
                    </m:r>
                    <m:r>
                      <a:rPr lang="en-US" sz="2400" i="1" smtClean="0">
                        <a:latin typeface="Cambria Math" panose="02040503050406030204" pitchFamily="18" charset="0"/>
                      </a:rPr>
                      <m:t> </m:t>
                    </m:r>
                    <m:r>
                      <a:rPr lang="en-US" sz="2400" i="1" smtClean="0">
                        <a:latin typeface="Cambria Math" panose="02040503050406030204" pitchFamily="18" charset="0"/>
                      </a:rPr>
                      <m:t>𝑟𝑎𝑡𝑒</m:t>
                    </m:r>
                    <m:r>
                      <a:rPr lang="en-US" sz="2400" i="1" smtClean="0">
                        <a:latin typeface="Cambria Math" panose="02040503050406030204" pitchFamily="18" charset="0"/>
                      </a:rPr>
                      <m:t> </m:t>
                    </m:r>
                    <m:d>
                      <m:dPr>
                        <m:ctrlPr>
                          <a:rPr lang="en-US" sz="2400" i="1">
                            <a:latin typeface="Cambria Math" panose="02040503050406030204" pitchFamily="18" charset="0"/>
                          </a:rPr>
                        </m:ctrlPr>
                      </m:dPr>
                      <m:e>
                        <m:eqArr>
                          <m:eqArrPr>
                            <m:ctrlPr>
                              <a:rPr lang="en-US" sz="2400" i="1">
                                <a:latin typeface="Cambria Math" panose="02040503050406030204" pitchFamily="18" charset="0"/>
                              </a:rPr>
                            </m:ctrlPr>
                          </m:eqArrPr>
                          <m:e>
                            <m:r>
                              <a:rPr lang="en-US" sz="2400" i="1">
                                <a:latin typeface="Cambria Math" panose="02040503050406030204" pitchFamily="18" charset="0"/>
                              </a:rPr>
                              <m:t>𝑝𝑒𝑟</m:t>
                            </m:r>
                            <m:r>
                              <a:rPr lang="en-US" sz="2400" i="1">
                                <a:latin typeface="Cambria Math" panose="02040503050406030204" pitchFamily="18" charset="0"/>
                              </a:rPr>
                              <m:t> 100,000 </m:t>
                            </m:r>
                            <m:r>
                              <a:rPr lang="en-US" sz="2400" i="1">
                                <a:latin typeface="Cambria Math" panose="02040503050406030204" pitchFamily="18" charset="0"/>
                              </a:rPr>
                              <m:t>𝑙𝑖𝑣𝑒</m:t>
                            </m:r>
                            <m:r>
                              <a:rPr lang="en-US" sz="2400" i="1">
                                <a:latin typeface="Cambria Math" panose="02040503050406030204" pitchFamily="18" charset="0"/>
                              </a:rPr>
                              <m:t> </m:t>
                            </m:r>
                            <m:r>
                              <a:rPr lang="en-US" sz="2400" i="1">
                                <a:latin typeface="Cambria Math" panose="02040503050406030204" pitchFamily="18" charset="0"/>
                              </a:rPr>
                              <m:t>𝑏𝑖𝑟𝑡h𝑠</m:t>
                            </m:r>
                            <m:r>
                              <a:rPr lang="en-US" sz="2400" i="1">
                                <a:latin typeface="Cambria Math" panose="02040503050406030204" pitchFamily="18" charset="0"/>
                              </a:rPr>
                              <m:t>, </m:t>
                            </m:r>
                          </m:e>
                          <m:e>
                            <m:r>
                              <a:rPr lang="en-US" sz="2400" i="1">
                                <a:latin typeface="Cambria Math" panose="02040503050406030204" pitchFamily="18" charset="0"/>
                              </a:rPr>
                              <m:t>𝑖𝑛𝑐𝑙𝑢𝑑𝑖𝑛𝑔</m:t>
                            </m:r>
                            <m:r>
                              <a:rPr lang="en-US" sz="2400" i="1">
                                <a:latin typeface="Cambria Math" panose="02040503050406030204" pitchFamily="18" charset="0"/>
                              </a:rPr>
                              <m:t> </m:t>
                            </m:r>
                            <m:r>
                              <a:rPr lang="en-US" sz="2400" i="1">
                                <a:latin typeface="Cambria Math" panose="02040503050406030204" pitchFamily="18" charset="0"/>
                              </a:rPr>
                              <m:t>𝑚𝑢𝑙𝑡𝑖𝑝𝑙𝑒</m:t>
                            </m:r>
                            <m:r>
                              <a:rPr lang="en-US" sz="2400" i="1">
                                <a:latin typeface="Cambria Math" panose="02040503050406030204" pitchFamily="18" charset="0"/>
                              </a:rPr>
                              <m:t> </m:t>
                            </m:r>
                            <m:r>
                              <a:rPr lang="en-US" sz="2400" i="1">
                                <a:latin typeface="Cambria Math" panose="02040503050406030204" pitchFamily="18" charset="0"/>
                              </a:rPr>
                              <m:t>𝑏𝑖𝑟𝑡h𝑠</m:t>
                            </m:r>
                          </m:e>
                        </m:eqArr>
                      </m:e>
                    </m:d>
                    <m:r>
                      <a:rPr lang="en-US" sz="2400" i="1">
                        <a:latin typeface="Cambria Math" panose="02040503050406030204" pitchFamily="18" charset="0"/>
                      </a:rPr>
                      <m:t>=</m:t>
                    </m:r>
                    <m:f>
                      <m:fPr>
                        <m:ctrlPr>
                          <a:rPr lang="en-US" sz="2400" i="1" smtClean="0">
                            <a:latin typeface="Cambria Math" panose="02040503050406030204" pitchFamily="18" charset="0"/>
                          </a:rPr>
                        </m:ctrlPr>
                      </m:fPr>
                      <m:num>
                        <m:eqArr>
                          <m:eqArrPr>
                            <m:ctrlPr>
                              <a:rPr lang="en-US" sz="2400" i="1">
                                <a:latin typeface="Cambria Math" panose="02040503050406030204" pitchFamily="18" charset="0"/>
                              </a:rPr>
                            </m:ctrlPr>
                          </m:eqArrPr>
                          <m:e>
                            <m:r>
                              <a:rPr lang="en-US" sz="2400" i="1">
                                <a:latin typeface="Cambria Math" panose="02040503050406030204" pitchFamily="18" charset="0"/>
                              </a:rPr>
                              <m:t>𝑁𝑢𝑚𝑏𝑒𝑟</m:t>
                            </m:r>
                            <m:r>
                              <a:rPr lang="en-US" sz="2400" i="1">
                                <a:latin typeface="Cambria Math" panose="02040503050406030204" pitchFamily="18" charset="0"/>
                              </a:rPr>
                              <m:t> </m:t>
                            </m:r>
                            <m:r>
                              <a:rPr lang="en-US" sz="2400" i="1">
                                <a:latin typeface="Cambria Math" panose="02040503050406030204" pitchFamily="18" charset="0"/>
                              </a:rPr>
                              <m:t>𝑜𝑓</m:t>
                            </m:r>
                            <m:r>
                              <a:rPr lang="en-US" sz="2400" i="1">
                                <a:latin typeface="Cambria Math" panose="02040503050406030204" pitchFamily="18" charset="0"/>
                              </a:rPr>
                              <m:t> </m:t>
                            </m:r>
                            <m:r>
                              <a:rPr lang="en-US" sz="2400" i="1">
                                <a:latin typeface="Cambria Math" panose="02040503050406030204" pitchFamily="18" charset="0"/>
                              </a:rPr>
                              <m:t>𝑑𝑒𝑎𝑡h𝑠</m:t>
                            </m:r>
                            <m:r>
                              <a:rPr lang="en-US" sz="2400" i="1">
                                <a:latin typeface="Cambria Math" panose="02040503050406030204" pitchFamily="18" charset="0"/>
                              </a:rPr>
                              <m:t> </m:t>
                            </m:r>
                            <m:r>
                              <a:rPr lang="en-US" sz="2400" i="1">
                                <a:latin typeface="Cambria Math" panose="02040503050406030204" pitchFamily="18" charset="0"/>
                              </a:rPr>
                              <m:t>𝑎𝑠𝑠𝑖𝑔𝑛𝑒𝑑</m:t>
                            </m:r>
                            <m:r>
                              <a:rPr lang="en-US" sz="2400" i="1">
                                <a:latin typeface="Cambria Math" panose="02040503050406030204" pitchFamily="18" charset="0"/>
                              </a:rPr>
                              <m:t> </m:t>
                            </m:r>
                          </m:e>
                          <m:e>
                            <m:r>
                              <a:rPr lang="en-US" sz="2400" i="1">
                                <a:latin typeface="Cambria Math" panose="02040503050406030204" pitchFamily="18" charset="0"/>
                              </a:rPr>
                              <m:t>𝑡𝑜</m:t>
                            </m:r>
                            <m:r>
                              <a:rPr lang="en-US" sz="2400" i="1">
                                <a:latin typeface="Cambria Math" panose="02040503050406030204" pitchFamily="18" charset="0"/>
                              </a:rPr>
                              <m:t> </m:t>
                            </m:r>
                            <m:r>
                              <a:rPr lang="en-US" sz="2400" i="1">
                                <a:latin typeface="Cambria Math" panose="02040503050406030204" pitchFamily="18" charset="0"/>
                              </a:rPr>
                              <m:t>𝑐𝑎𝑢𝑠𝑒𝑠</m:t>
                            </m:r>
                            <m:r>
                              <a:rPr lang="en-US" sz="2400" i="1">
                                <a:latin typeface="Cambria Math" panose="02040503050406030204" pitchFamily="18" charset="0"/>
                              </a:rPr>
                              <m:t> </m:t>
                            </m:r>
                            <m:r>
                              <a:rPr lang="en-US" sz="2400" i="1">
                                <a:latin typeface="Cambria Math" panose="02040503050406030204" pitchFamily="18" charset="0"/>
                              </a:rPr>
                              <m:t>𝑟𝑒𝑙𝑎𝑡𝑒𝑑</m:t>
                            </m:r>
                            <m:r>
                              <a:rPr lang="en-US" sz="2400" i="1">
                                <a:latin typeface="Cambria Math" panose="02040503050406030204" pitchFamily="18" charset="0"/>
                              </a:rPr>
                              <m:t> </m:t>
                            </m:r>
                            <m:r>
                              <a:rPr lang="en-US" sz="2400" i="1">
                                <a:latin typeface="Cambria Math" panose="02040503050406030204" pitchFamily="18" charset="0"/>
                              </a:rPr>
                              <m:t>𝑡𝑜</m:t>
                            </m:r>
                            <m:r>
                              <a:rPr lang="en-US" sz="2400" i="1">
                                <a:latin typeface="Cambria Math" panose="02040503050406030204" pitchFamily="18" charset="0"/>
                              </a:rPr>
                              <m:t> </m:t>
                            </m:r>
                            <m:r>
                              <a:rPr lang="en-US" sz="2400" i="1">
                                <a:latin typeface="Cambria Math" panose="02040503050406030204" pitchFamily="18" charset="0"/>
                              </a:rPr>
                              <m:t>𝑐h𝑖𝑙𝑑𝑏𝑖𝑟𝑡h</m:t>
                            </m:r>
                            <m:r>
                              <a:rPr lang="en-US" sz="2400" i="1">
                                <a:latin typeface="Cambria Math" panose="02040503050406030204" pitchFamily="18" charset="0"/>
                              </a:rPr>
                              <m:t> </m:t>
                            </m:r>
                          </m:e>
                        </m:eqArr>
                      </m:num>
                      <m:den>
                        <m:r>
                          <a:rPr lang="en-US" sz="2400" i="1">
                            <a:latin typeface="Cambria Math" panose="02040503050406030204" pitchFamily="18" charset="0"/>
                          </a:rPr>
                          <m:t>𝑁𝑢𝑚𝑏𝑒𝑟</m:t>
                        </m:r>
                        <m:r>
                          <a:rPr lang="en-US" sz="2400" i="1">
                            <a:latin typeface="Cambria Math" panose="02040503050406030204" pitchFamily="18" charset="0"/>
                          </a:rPr>
                          <m:t> </m:t>
                        </m:r>
                        <m:r>
                          <a:rPr lang="en-US" sz="2400" i="1">
                            <a:latin typeface="Cambria Math" panose="02040503050406030204" pitchFamily="18" charset="0"/>
                          </a:rPr>
                          <m:t>𝑜𝑓</m:t>
                        </m:r>
                        <m:r>
                          <a:rPr lang="en-US" sz="2400" i="1">
                            <a:latin typeface="Cambria Math" panose="02040503050406030204" pitchFamily="18" charset="0"/>
                          </a:rPr>
                          <m:t> </m:t>
                        </m:r>
                        <m:r>
                          <a:rPr lang="en-US" sz="2400" i="1">
                            <a:latin typeface="Cambria Math" panose="02040503050406030204" pitchFamily="18" charset="0"/>
                          </a:rPr>
                          <m:t>𝑙𝑖𝑣𝑒</m:t>
                        </m:r>
                        <m:r>
                          <a:rPr lang="en-US" sz="2400" i="1">
                            <a:latin typeface="Cambria Math" panose="02040503050406030204" pitchFamily="18" charset="0"/>
                          </a:rPr>
                          <m:t> </m:t>
                        </m:r>
                        <m:r>
                          <a:rPr lang="en-US" sz="2400" i="1">
                            <a:latin typeface="Cambria Math" panose="02040503050406030204" pitchFamily="18" charset="0"/>
                          </a:rPr>
                          <m:t>𝑏𝑖𝑟𝑡h𝑠</m:t>
                        </m:r>
                        <m:r>
                          <a:rPr lang="en-US" sz="2400" i="1">
                            <a:latin typeface="Cambria Math" panose="02040503050406030204" pitchFamily="18" charset="0"/>
                          </a:rPr>
                          <m:t> </m:t>
                        </m:r>
                      </m:den>
                    </m:f>
                    <m:r>
                      <a:rPr lang="en-US" sz="2400" i="1">
                        <a:latin typeface="Cambria Math" panose="02040503050406030204" pitchFamily="18" charset="0"/>
                      </a:rPr>
                      <m:t> </m:t>
                    </m:r>
                    <m:r>
                      <a:rPr lang="en-US" sz="2400" i="1">
                        <a:latin typeface="Cambria Math" panose="02040503050406030204" pitchFamily="18" charset="0"/>
                      </a:rPr>
                      <m:t>𝑥</m:t>
                    </m:r>
                    <m:r>
                      <a:rPr lang="en-US" sz="2400" i="1">
                        <a:latin typeface="Cambria Math" panose="02040503050406030204" pitchFamily="18" charset="0"/>
                      </a:rPr>
                      <m:t>100,000 </m:t>
                    </m:r>
                    <m:r>
                      <a:rPr lang="en-US" sz="2400" i="1">
                        <a:latin typeface="Cambria Math" panose="02040503050406030204" pitchFamily="18" charset="0"/>
                      </a:rPr>
                      <m:t>𝑙𝑖𝑣𝑒</m:t>
                    </m:r>
                    <m:r>
                      <a:rPr lang="en-US" sz="2400" i="1">
                        <a:latin typeface="Cambria Math" panose="02040503050406030204" pitchFamily="18" charset="0"/>
                      </a:rPr>
                      <m:t> </m:t>
                    </m:r>
                    <m:r>
                      <a:rPr lang="en-US" sz="2400" i="1">
                        <a:latin typeface="Cambria Math" panose="02040503050406030204" pitchFamily="18" charset="0"/>
                      </a:rPr>
                      <m:t>𝑏𝑖𝑟𝑡h𝑠</m:t>
                    </m:r>
                    <m:r>
                      <a:rPr lang="en-US" sz="2400" i="1">
                        <a:latin typeface="Cambria Math" panose="02040503050406030204" pitchFamily="18" charset="0"/>
                      </a:rPr>
                      <m:t>(</m:t>
                    </m:r>
                    <m:r>
                      <a:rPr lang="en-US" sz="2400" i="1">
                        <a:latin typeface="Cambria Math" panose="02040503050406030204" pitchFamily="18" charset="0"/>
                      </a:rPr>
                      <m:t>𝑑𝑢𝑟𝑖𝑛𝑔</m:t>
                    </m:r>
                    <m:r>
                      <a:rPr lang="en-US" sz="2400" i="1">
                        <a:latin typeface="Cambria Math" panose="02040503050406030204" pitchFamily="18" charset="0"/>
                      </a:rPr>
                      <m:t> </m:t>
                    </m:r>
                    <m:r>
                      <a:rPr lang="en-US" sz="2400" i="1">
                        <a:latin typeface="Cambria Math" panose="02040503050406030204" pitchFamily="18" charset="0"/>
                      </a:rPr>
                      <m:t>𝑎</m:t>
                    </m:r>
                    <m:r>
                      <a:rPr lang="en-US" sz="2400" i="1">
                        <a:latin typeface="Cambria Math" panose="02040503050406030204" pitchFamily="18" charset="0"/>
                      </a:rPr>
                      <m:t> </m:t>
                    </m:r>
                    <m:r>
                      <a:rPr lang="en-US" sz="2400" i="1">
                        <a:latin typeface="Cambria Math" panose="02040503050406030204" pitchFamily="18" charset="0"/>
                      </a:rPr>
                      <m:t>𝑦𝑒𝑎𝑟</m:t>
                    </m:r>
                    <m:r>
                      <a:rPr lang="en-US" sz="2400" i="1">
                        <a:latin typeface="Cambria Math" panose="02040503050406030204" pitchFamily="18" charset="0"/>
                      </a:rPr>
                      <m:t>)</m:t>
                    </m:r>
                  </m:oMath>
                </a14:m>
                <a:endParaRPr dirty="0"/>
              </a:p>
            </p:txBody>
          </p:sp>
        </mc:Choice>
        <mc:Fallback xmlns="">
          <p:sp>
            <p:nvSpPr>
              <p:cNvPr id="4" name="Content Placeholder 3">
                <a:extLst>
                  <a:ext uri="{FF2B5EF4-FFF2-40B4-BE49-F238E27FC236}">
                    <a16:creationId xmlns:a16="http://schemas.microsoft.com/office/drawing/2014/main" id="{128A8276-C54E-0E3C-8ACE-FA75B089CE20}"/>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
        <p:nvSpPr>
          <p:cNvPr id="34820" name="Text Box 5"/>
          <p:cNvSpPr txBox="1">
            <a:spLocks noChangeArrowheads="1"/>
          </p:cNvSpPr>
          <p:nvPr/>
        </p:nvSpPr>
        <p:spPr bwMode="auto">
          <a:xfrm>
            <a:off x="1145075" y="2971834"/>
            <a:ext cx="11965049" cy="389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3300">
                <a:solidFill>
                  <a:schemeClr val="tx1"/>
                </a:solidFill>
                <a:latin typeface="Times New Roman" pitchFamily="18" charset="0"/>
              </a:defRPr>
            </a:lvl1pPr>
            <a:lvl2pPr marL="742950" indent="-285750" eaLnBrk="0" hangingPunct="0">
              <a:defRPr sz="3300">
                <a:solidFill>
                  <a:schemeClr val="tx1"/>
                </a:solidFill>
                <a:latin typeface="Times New Roman" pitchFamily="18" charset="0"/>
              </a:defRPr>
            </a:lvl2pPr>
            <a:lvl3pPr marL="1143000" indent="-228600" eaLnBrk="0" hangingPunct="0">
              <a:defRPr sz="3300">
                <a:solidFill>
                  <a:schemeClr val="tx1"/>
                </a:solidFill>
                <a:latin typeface="Times New Roman" pitchFamily="18" charset="0"/>
              </a:defRPr>
            </a:lvl3pPr>
            <a:lvl4pPr marL="1600200" indent="-228600" eaLnBrk="0" hangingPunct="0">
              <a:defRPr sz="3300">
                <a:solidFill>
                  <a:schemeClr val="tx1"/>
                </a:solidFill>
                <a:latin typeface="Times New Roman" pitchFamily="18" charset="0"/>
              </a:defRPr>
            </a:lvl4pPr>
            <a:lvl5pPr marL="2057400" indent="-228600" eaLnBrk="0" hangingPunct="0">
              <a:defRPr sz="3300">
                <a:solidFill>
                  <a:schemeClr val="tx1"/>
                </a:solidFill>
                <a:latin typeface="Times New Roman" pitchFamily="18" charset="0"/>
              </a:defRPr>
            </a:lvl5pPr>
            <a:lvl6pPr marL="2514600" indent="-228600" eaLnBrk="0" fontAlgn="base" hangingPunct="0">
              <a:spcBef>
                <a:spcPct val="0"/>
              </a:spcBef>
              <a:spcAft>
                <a:spcPct val="0"/>
              </a:spcAft>
              <a:defRPr sz="3300">
                <a:solidFill>
                  <a:schemeClr val="tx1"/>
                </a:solidFill>
                <a:latin typeface="Times New Roman" pitchFamily="18" charset="0"/>
              </a:defRPr>
            </a:lvl6pPr>
            <a:lvl7pPr marL="2971800" indent="-228600" eaLnBrk="0" fontAlgn="base" hangingPunct="0">
              <a:spcBef>
                <a:spcPct val="0"/>
              </a:spcBef>
              <a:spcAft>
                <a:spcPct val="0"/>
              </a:spcAft>
              <a:defRPr sz="3300">
                <a:solidFill>
                  <a:schemeClr val="tx1"/>
                </a:solidFill>
                <a:latin typeface="Times New Roman" pitchFamily="18" charset="0"/>
              </a:defRPr>
            </a:lvl7pPr>
            <a:lvl8pPr marL="3429000" indent="-228600" eaLnBrk="0" fontAlgn="base" hangingPunct="0">
              <a:spcBef>
                <a:spcPct val="0"/>
              </a:spcBef>
              <a:spcAft>
                <a:spcPct val="0"/>
              </a:spcAft>
              <a:defRPr sz="3300">
                <a:solidFill>
                  <a:schemeClr val="tx1"/>
                </a:solidFill>
                <a:latin typeface="Times New Roman" pitchFamily="18" charset="0"/>
              </a:defRPr>
            </a:lvl8pPr>
            <a:lvl9pPr marL="3886200" indent="-228600" eaLnBrk="0" fontAlgn="base" hangingPunct="0">
              <a:spcBef>
                <a:spcPct val="0"/>
              </a:spcBef>
              <a:spcAft>
                <a:spcPct val="0"/>
              </a:spcAft>
              <a:defRPr sz="3300">
                <a:solidFill>
                  <a:schemeClr val="tx1"/>
                </a:solidFill>
                <a:latin typeface="Times New Roman" pitchFamily="18" charset="0"/>
              </a:defRPr>
            </a:lvl9pPr>
          </a:lstStyle>
          <a:p>
            <a:pPr eaLnBrk="1" hangingPunct="1">
              <a:lnSpc>
                <a:spcPct val="95000"/>
              </a:lnSpc>
            </a:pPr>
            <a:endParaRPr lang="en-US" altLang="en-US" sz="2667" dirty="0">
              <a:solidFill>
                <a:srgbClr val="000000"/>
              </a:solidFill>
              <a:latin typeface="+mj-lt"/>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0" y="134482"/>
            <a:ext cx="13546138" cy="1113432"/>
          </a:xfrm>
        </p:spPr>
        <p:txBody>
          <a:bodyPr/>
          <a:lstStyle/>
          <a:p>
            <a:r>
              <a:rPr lang="en-US" altLang="en-US" dirty="0"/>
              <a:t>Infant Mortality Rate</a:t>
            </a:r>
          </a:p>
        </p:txBody>
      </p:sp>
      <p:sp>
        <p:nvSpPr>
          <p:cNvPr id="35843" name="Content Placeholder 2"/>
          <p:cNvSpPr>
            <a:spLocks noGrp="1"/>
          </p:cNvSpPr>
          <p:nvPr>
            <p:ph idx="1"/>
          </p:nvPr>
        </p:nvSpPr>
        <p:spPr>
          <a:xfrm>
            <a:off x="1028660" y="1656523"/>
            <a:ext cx="11429554" cy="5221163"/>
          </a:xfrm>
        </p:spPr>
        <p:txBody>
          <a:bodyPr/>
          <a:lstStyle/>
          <a:p>
            <a:r>
              <a:rPr lang="en-US" altLang="en-US" dirty="0"/>
              <a:t>Number of infant deaths among infants aged 0–365 days during a year divided by the number of live births during the same year (expressed as rate per 1,000 live births)</a:t>
            </a:r>
          </a:p>
          <a:p>
            <a:r>
              <a:rPr lang="en-US" altLang="en-US" dirty="0"/>
              <a:t>Related to inadequate health care and poor environmental conditions</a:t>
            </a:r>
          </a:p>
          <a:p>
            <a:r>
              <a:rPr lang="en-US" altLang="en-US" dirty="0"/>
              <a:t>Substantial racial and ethnic variations</a:t>
            </a:r>
          </a:p>
          <a:p>
            <a:endParaRPr lang="en-US"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A447F810-B218-C1BC-35B1-60402D68B843}"/>
                  </a:ext>
                </a:extLst>
              </p:cNvPr>
              <p:cNvSpPr>
                <a:spLocks noGrp="1"/>
              </p:cNvSpPr>
              <p:nvPr>
                <p:ph idx="1"/>
              </p:nvPr>
            </p:nvSpPr>
            <p:spPr/>
            <p:txBody>
              <a:bodyPr/>
              <a:lstStyle/>
              <a:p>
                <a14:m>
                  <m:oMath xmlns:m="http://schemas.openxmlformats.org/officeDocument/2006/math">
                    <m:r>
                      <a:rPr lang="en-US" sz="2400" b="0" i="1" smtClean="0">
                        <a:latin typeface="Cambria Math" panose="02040503050406030204" pitchFamily="18" charset="0"/>
                      </a:rPr>
                      <m:t>𝐼𝑛𝑓𝑎𝑛𝑡</m:t>
                    </m:r>
                    <m:r>
                      <a:rPr lang="en-US" sz="2400" b="0" i="1" smtClean="0">
                        <a:latin typeface="Cambria Math" panose="02040503050406030204" pitchFamily="18" charset="0"/>
                      </a:rPr>
                      <m:t> </m:t>
                    </m:r>
                    <m:r>
                      <a:rPr lang="en-US" sz="2400" b="0" i="1" smtClean="0">
                        <a:latin typeface="Cambria Math" panose="02040503050406030204" pitchFamily="18" charset="0"/>
                      </a:rPr>
                      <m:t>𝑀𝑜𝑟𝑡𝑎𝑙𝑖𝑡𝑦</m:t>
                    </m:r>
                    <m:r>
                      <a:rPr lang="en-US" sz="2400" b="0" i="1" smtClean="0">
                        <a:latin typeface="Cambria Math" panose="02040503050406030204" pitchFamily="18" charset="0"/>
                      </a:rPr>
                      <m:t> </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𝐼</m:t>
                        </m:r>
                      </m:e>
                    </m:d>
                    <m:r>
                      <a:rPr lang="en-US" sz="2400" b="0" i="1" smtClean="0">
                        <a:latin typeface="Cambria Math" panose="02040503050406030204" pitchFamily="18" charset="0"/>
                      </a:rPr>
                      <m:t>= </m:t>
                    </m:r>
                    <m:f>
                      <m:fPr>
                        <m:ctrlPr>
                          <a:rPr lang="en-US" sz="2400" b="0" i="1" smtClean="0">
                            <a:latin typeface="Cambria Math" panose="02040503050406030204" pitchFamily="18" charset="0"/>
                          </a:rPr>
                        </m:ctrlPr>
                      </m:fPr>
                      <m:num>
                        <m:eqArr>
                          <m:eqArrPr>
                            <m:ctrlPr>
                              <a:rPr lang="en-US" sz="2400" i="1">
                                <a:latin typeface="Cambria Math" panose="02040503050406030204" pitchFamily="18" charset="0"/>
                              </a:rPr>
                            </m:ctrlPr>
                          </m:eqArrPr>
                          <m:e>
                            <m:r>
                              <a:rPr lang="en-US" sz="2400" i="1">
                                <a:latin typeface="Cambria Math" panose="02040503050406030204" pitchFamily="18" charset="0"/>
                              </a:rPr>
                              <m:t>𝑁𝑢𝑚𝑏𝑒𝑟</m:t>
                            </m:r>
                            <m:r>
                              <a:rPr lang="en-US" sz="2400" i="1">
                                <a:latin typeface="Cambria Math" panose="02040503050406030204" pitchFamily="18" charset="0"/>
                              </a:rPr>
                              <m:t> </m:t>
                            </m:r>
                            <m:r>
                              <a:rPr lang="en-US" sz="2400" i="1">
                                <a:latin typeface="Cambria Math" panose="02040503050406030204" pitchFamily="18" charset="0"/>
                              </a:rPr>
                              <m:t>𝑜𝑓</m:t>
                            </m:r>
                            <m:r>
                              <a:rPr lang="en-US" sz="2400" i="1">
                                <a:latin typeface="Cambria Math" panose="02040503050406030204" pitchFamily="18" charset="0"/>
                              </a:rPr>
                              <m:t> </m:t>
                            </m:r>
                            <m:r>
                              <a:rPr lang="en-US" sz="2400" i="1">
                                <a:latin typeface="Cambria Math" panose="02040503050406030204" pitchFamily="18" charset="0"/>
                              </a:rPr>
                              <m:t>𝑖𝑛𝑓𝑎𝑛𝑡</m:t>
                            </m:r>
                            <m:r>
                              <a:rPr lang="en-US" sz="2400" i="1">
                                <a:latin typeface="Cambria Math" panose="02040503050406030204" pitchFamily="18" charset="0"/>
                              </a:rPr>
                              <m:t> </m:t>
                            </m:r>
                            <m:r>
                              <a:rPr lang="en-US" sz="2400" i="1">
                                <a:latin typeface="Cambria Math" panose="02040503050406030204" pitchFamily="18" charset="0"/>
                              </a:rPr>
                              <m:t>𝑑𝑒𝑎𝑡h𝑠</m:t>
                            </m:r>
                            <m:r>
                              <a:rPr lang="en-US" sz="2400" i="1">
                                <a:latin typeface="Cambria Math" panose="02040503050406030204" pitchFamily="18" charset="0"/>
                              </a:rPr>
                              <m:t> </m:t>
                            </m:r>
                            <m:r>
                              <a:rPr lang="en-US" sz="2400" i="1">
                                <a:latin typeface="Cambria Math" panose="02040503050406030204" pitchFamily="18" charset="0"/>
                              </a:rPr>
                              <m:t>𝑎𝑚𝑜𝑛𝑔</m:t>
                            </m:r>
                            <m:r>
                              <a:rPr lang="en-US" sz="2400" i="1">
                                <a:latin typeface="Cambria Math" panose="02040503050406030204" pitchFamily="18" charset="0"/>
                              </a:rPr>
                              <m:t> </m:t>
                            </m:r>
                          </m:e>
                          <m:e>
                            <m:r>
                              <a:rPr lang="en-US" sz="2400" i="1">
                                <a:latin typeface="Cambria Math" panose="02040503050406030204" pitchFamily="18" charset="0"/>
                              </a:rPr>
                              <m:t>𝑖𝑛𝑓𝑎𝑛𝑡𝑠</m:t>
                            </m:r>
                            <m:r>
                              <a:rPr lang="en-US" sz="2400" i="1">
                                <a:latin typeface="Cambria Math" panose="02040503050406030204" pitchFamily="18" charset="0"/>
                              </a:rPr>
                              <m:t> </m:t>
                            </m:r>
                            <m:r>
                              <a:rPr lang="en-US" sz="2400" i="1">
                                <a:latin typeface="Cambria Math" panose="02040503050406030204" pitchFamily="18" charset="0"/>
                              </a:rPr>
                              <m:t>𝑎𝑔𝑒</m:t>
                            </m:r>
                            <m:r>
                              <a:rPr lang="en-US" sz="2400" i="1">
                                <a:latin typeface="Cambria Math" panose="02040503050406030204" pitchFamily="18" charset="0"/>
                              </a:rPr>
                              <m:t> 0–365 </m:t>
                            </m:r>
                            <m:r>
                              <a:rPr lang="en-US" sz="2400" i="1">
                                <a:latin typeface="Cambria Math" panose="02040503050406030204" pitchFamily="18" charset="0"/>
                              </a:rPr>
                              <m:t>𝑑𝑎𝑦𝑠</m:t>
                            </m:r>
                            <m:r>
                              <a:rPr lang="en-US" sz="2400" i="1">
                                <a:latin typeface="Cambria Math" panose="02040503050406030204" pitchFamily="18" charset="0"/>
                              </a:rPr>
                              <m:t> </m:t>
                            </m:r>
                            <m:r>
                              <a:rPr lang="en-US" sz="2400" i="1">
                                <a:latin typeface="Cambria Math" panose="02040503050406030204" pitchFamily="18" charset="0"/>
                              </a:rPr>
                              <m:t>𝑑𝑢𝑟𝑖𝑛𝑔</m:t>
                            </m:r>
                            <m:r>
                              <a:rPr lang="en-US" sz="2400" i="1">
                                <a:latin typeface="Cambria Math" panose="02040503050406030204" pitchFamily="18" charset="0"/>
                              </a:rPr>
                              <m:t> </m:t>
                            </m:r>
                            <m:r>
                              <a:rPr lang="en-US" sz="2400" i="1">
                                <a:latin typeface="Cambria Math" panose="02040503050406030204" pitchFamily="18" charset="0"/>
                              </a:rPr>
                              <m:t>𝑡h𝑒</m:t>
                            </m:r>
                            <m:r>
                              <a:rPr lang="en-US" sz="2400" i="1">
                                <a:latin typeface="Cambria Math" panose="02040503050406030204" pitchFamily="18" charset="0"/>
                              </a:rPr>
                              <m:t> </m:t>
                            </m:r>
                            <m:r>
                              <a:rPr lang="en-US" sz="2400" i="1">
                                <a:latin typeface="Cambria Math" panose="02040503050406030204" pitchFamily="18" charset="0"/>
                              </a:rPr>
                              <m:t>𝑦𝑒𝑎𝑟</m:t>
                            </m:r>
                            <m:r>
                              <a:rPr lang="en-US" sz="2400" i="1">
                                <a:latin typeface="Cambria Math" panose="02040503050406030204" pitchFamily="18" charset="0"/>
                              </a:rPr>
                              <m:t> </m:t>
                            </m:r>
                          </m:e>
                        </m:eqArr>
                      </m:num>
                      <m:den>
                        <m:r>
                          <a:rPr lang="en-US" sz="2400" i="1">
                            <a:latin typeface="Cambria Math" panose="02040503050406030204" pitchFamily="18" charset="0"/>
                          </a:rPr>
                          <m:t>𝑁𝑢𝑚𝑏𝑒𝑟</m:t>
                        </m:r>
                        <m:r>
                          <a:rPr lang="en-US" sz="2400" i="1">
                            <a:latin typeface="Cambria Math" panose="02040503050406030204" pitchFamily="18" charset="0"/>
                          </a:rPr>
                          <m:t> </m:t>
                        </m:r>
                        <m:r>
                          <a:rPr lang="en-US" sz="2400" i="1">
                            <a:latin typeface="Cambria Math" panose="02040503050406030204" pitchFamily="18" charset="0"/>
                          </a:rPr>
                          <m:t>𝑜𝑓</m:t>
                        </m:r>
                        <m:r>
                          <a:rPr lang="en-US" sz="2400" i="1">
                            <a:latin typeface="Cambria Math" panose="02040503050406030204" pitchFamily="18" charset="0"/>
                          </a:rPr>
                          <m:t> </m:t>
                        </m:r>
                        <m:r>
                          <a:rPr lang="en-US" sz="2400" i="1">
                            <a:latin typeface="Cambria Math" panose="02040503050406030204" pitchFamily="18" charset="0"/>
                          </a:rPr>
                          <m:t>𝑙𝑖𝑣𝑒</m:t>
                        </m:r>
                        <m:r>
                          <a:rPr lang="en-US" sz="2400" i="1">
                            <a:latin typeface="Cambria Math" panose="02040503050406030204" pitchFamily="18" charset="0"/>
                          </a:rPr>
                          <m:t> </m:t>
                        </m:r>
                        <m:r>
                          <a:rPr lang="en-US" sz="2400" i="1">
                            <a:latin typeface="Cambria Math" panose="02040503050406030204" pitchFamily="18" charset="0"/>
                          </a:rPr>
                          <m:t>𝑏𝑖𝑟𝑡h𝑠</m:t>
                        </m:r>
                        <m:r>
                          <a:rPr lang="en-US" sz="2400" i="1">
                            <a:latin typeface="Cambria Math" panose="02040503050406030204" pitchFamily="18" charset="0"/>
                          </a:rPr>
                          <m:t> </m:t>
                        </m:r>
                        <m:r>
                          <a:rPr lang="en-US" sz="2400" i="1">
                            <a:latin typeface="Cambria Math" panose="02040503050406030204" pitchFamily="18" charset="0"/>
                          </a:rPr>
                          <m:t>𝑑𝑢𝑟𝑖𝑛𝑔</m:t>
                        </m:r>
                        <m:r>
                          <a:rPr lang="en-US" sz="2400" i="1">
                            <a:latin typeface="Cambria Math" panose="02040503050406030204" pitchFamily="18" charset="0"/>
                          </a:rPr>
                          <m:t> </m:t>
                        </m:r>
                        <m:r>
                          <a:rPr lang="en-US" sz="2400" i="1">
                            <a:latin typeface="Cambria Math" panose="02040503050406030204" pitchFamily="18" charset="0"/>
                          </a:rPr>
                          <m:t>𝑡h𝑒</m:t>
                        </m:r>
                        <m:r>
                          <a:rPr lang="en-US" sz="2400" i="1">
                            <a:latin typeface="Cambria Math" panose="02040503050406030204" pitchFamily="18" charset="0"/>
                          </a:rPr>
                          <m:t> </m:t>
                        </m:r>
                        <m:r>
                          <a:rPr lang="en-US" sz="2400" i="1">
                            <a:latin typeface="Cambria Math" panose="02040503050406030204" pitchFamily="18" charset="0"/>
                          </a:rPr>
                          <m:t>𝑦𝑒𝑎𝑟</m:t>
                        </m:r>
                        <m:r>
                          <a:rPr lang="en-US" sz="2400" i="1">
                            <a:latin typeface="Cambria Math" panose="02040503050406030204" pitchFamily="18" charset="0"/>
                          </a:rPr>
                          <m:t> </m:t>
                        </m:r>
                      </m:den>
                    </m:f>
                    <m:r>
                      <a:rPr lang="en-US" sz="2400" b="0" i="1" smtClean="0">
                        <a:latin typeface="Cambria Math" panose="02040503050406030204" pitchFamily="18" charset="0"/>
                      </a:rPr>
                      <m:t> </m:t>
                    </m:r>
                    <m:r>
                      <a:rPr lang="en-US" sz="2400" b="0" i="1" smtClean="0">
                        <a:latin typeface="Cambria Math" panose="02040503050406030204" pitchFamily="18" charset="0"/>
                      </a:rPr>
                      <m:t>𝑥</m:t>
                    </m:r>
                    <m:r>
                      <a:rPr lang="en-US" sz="2400" b="0" i="1" smtClean="0">
                        <a:latin typeface="Cambria Math" panose="02040503050406030204" pitchFamily="18" charset="0"/>
                      </a:rPr>
                      <m:t> 1,000 </m:t>
                    </m:r>
                    <m:r>
                      <a:rPr lang="en-US" sz="2400" b="0" i="1" smtClean="0">
                        <a:latin typeface="Cambria Math" panose="02040503050406030204" pitchFamily="18" charset="0"/>
                      </a:rPr>
                      <m:t>𝑙𝑖𝑣𝑒</m:t>
                    </m:r>
                    <m:r>
                      <a:rPr lang="en-US" sz="2400" b="0" i="1" smtClean="0">
                        <a:latin typeface="Cambria Math" panose="02040503050406030204" pitchFamily="18" charset="0"/>
                      </a:rPr>
                      <m:t> </m:t>
                    </m:r>
                    <m:r>
                      <a:rPr lang="en-US" sz="2400" b="0" i="1" smtClean="0">
                        <a:latin typeface="Cambria Math" panose="02040503050406030204" pitchFamily="18" charset="0"/>
                      </a:rPr>
                      <m:t>𝑏𝑖𝑟𝑡h𝑠</m:t>
                    </m:r>
                  </m:oMath>
                </a14:m>
                <a:endParaRPr lang="en-US" sz="2400" dirty="0"/>
              </a:p>
              <a:p>
                <a:r>
                  <a:rPr lang="en-US" sz="2400" dirty="0"/>
                  <a:t>Sample calculation: In the U.S. during 2020, there were 19,582 deaths among infants under 1 year of age and 3,613,647 live births. The infant mortality rate was (19,582/3,613,647) × 1,000 = 5.42 per 1,000 live births.</a:t>
                </a:r>
              </a:p>
              <a:p>
                <a:endParaRPr lang="en-US" sz="2400" dirty="0"/>
              </a:p>
            </p:txBody>
          </p:sp>
        </mc:Choice>
        <mc:Fallback xmlns="">
          <p:sp>
            <p:nvSpPr>
              <p:cNvPr id="4" name="Content Placeholder 3">
                <a:extLst>
                  <a:ext uri="{FF2B5EF4-FFF2-40B4-BE49-F238E27FC236}">
                    <a16:creationId xmlns:a16="http://schemas.microsoft.com/office/drawing/2014/main" id="{A447F810-B218-C1BC-35B1-60402D68B843}"/>
                  </a:ext>
                </a:extLst>
              </p:cNvPr>
              <p:cNvSpPr>
                <a:spLocks noGrp="1" noRot="1" noChangeAspect="1" noMove="1" noResize="1" noEditPoints="1" noAdjustHandles="1" noChangeArrowheads="1" noChangeShapeType="1" noTextEdit="1"/>
              </p:cNvSpPr>
              <p:nvPr>
                <p:ph idx="1"/>
              </p:nvPr>
            </p:nvSpPr>
            <p:spPr>
              <a:blipFill>
                <a:blip r:embed="rId2"/>
                <a:stretch>
                  <a:fillRect l="-747"/>
                </a:stretch>
              </a:blipFill>
            </p:spPr>
            <p:txBody>
              <a:bodyPr/>
              <a:lstStyle/>
              <a:p>
                <a:r>
                  <a:rPr lang="en-US">
                    <a:noFill/>
                  </a:rPr>
                  <a:t> </a:t>
                </a:r>
              </a:p>
            </p:txBody>
          </p:sp>
        </mc:Fallback>
      </mc:AlternateContent>
      <p:sp>
        <p:nvSpPr>
          <p:cNvPr id="8" name="Title 7">
            <a:extLst>
              <a:ext uri="{FF2B5EF4-FFF2-40B4-BE49-F238E27FC236}">
                <a16:creationId xmlns:a16="http://schemas.microsoft.com/office/drawing/2014/main" id="{8B393391-5286-F14B-AA41-3AE4970B6811}"/>
              </a:ext>
            </a:extLst>
          </p:cNvPr>
          <p:cNvSpPr>
            <a:spLocks noGrp="1"/>
          </p:cNvSpPr>
          <p:nvPr>
            <p:ph type="title"/>
          </p:nvPr>
        </p:nvSpPr>
        <p:spPr/>
        <p:txBody>
          <a:bodyPr/>
          <a:lstStyle/>
          <a:p>
            <a:r>
              <a:rPr lang="en-US" altLang="en-US" dirty="0"/>
              <a:t>Infant Mortality Rate (Formula)</a:t>
            </a: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0" y="134482"/>
            <a:ext cx="13546138" cy="1113432"/>
          </a:xfrm>
        </p:spPr>
        <p:txBody>
          <a:bodyPr/>
          <a:lstStyle/>
          <a:p>
            <a:r>
              <a:rPr lang="en-US" altLang="en-US" dirty="0"/>
              <a:t>Fetal Mortality (1 of 2)</a:t>
            </a:r>
          </a:p>
        </p:txBody>
      </p:sp>
      <p:sp>
        <p:nvSpPr>
          <p:cNvPr id="38915" name="Content Placeholder 2"/>
          <p:cNvSpPr>
            <a:spLocks noGrp="1"/>
          </p:cNvSpPr>
          <p:nvPr>
            <p:ph idx="1"/>
          </p:nvPr>
        </p:nvSpPr>
        <p:spPr>
          <a:xfrm>
            <a:off x="1028660" y="1656523"/>
            <a:ext cx="11429554" cy="5221163"/>
          </a:xfrm>
        </p:spPr>
        <p:txBody>
          <a:bodyPr/>
          <a:lstStyle/>
          <a:p>
            <a:r>
              <a:rPr lang="en-US" altLang="en-US" dirty="0"/>
              <a:t>Death of the fetus when it is in the uterus and before it has been delivered</a:t>
            </a:r>
          </a:p>
          <a:p>
            <a:r>
              <a:rPr lang="en-US" altLang="en-US" dirty="0"/>
              <a:t>Two measures</a:t>
            </a:r>
          </a:p>
          <a:p>
            <a:pPr lvl="1"/>
            <a:r>
              <a:rPr lang="en-US" altLang="en-US" dirty="0"/>
              <a:t>Fetal death rate</a:t>
            </a:r>
          </a:p>
          <a:p>
            <a:pPr lvl="1"/>
            <a:r>
              <a:rPr lang="en-US" altLang="en-US" dirty="0"/>
              <a:t>Late fetal death rate</a:t>
            </a:r>
          </a:p>
          <a:p>
            <a:endParaRPr lang="en-US"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1"/>
          <p:cNvSpPr>
            <a:spLocks noGrp="1" noChangeArrowheads="1"/>
          </p:cNvSpPr>
          <p:nvPr>
            <p:ph type="title"/>
          </p:nvPr>
        </p:nvSpPr>
        <p:spPr>
          <a:xfrm>
            <a:off x="0" y="134482"/>
            <a:ext cx="13546138" cy="1113432"/>
          </a:xfrm>
        </p:spPr>
        <p:txBody>
          <a:bodyPr/>
          <a:lstStyle/>
          <a:p>
            <a:r>
              <a:rPr lang="en-US" altLang="en-US" dirty="0"/>
              <a:t>Fetal Mortality (2 of 2)</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BC22F4F8-BF45-044E-7D5B-151E5A42DFF3}"/>
                  </a:ext>
                </a:extLst>
              </p:cNvPr>
              <p:cNvSpPr>
                <a:spLocks noGrp="1"/>
              </p:cNvSpPr>
              <p:nvPr>
                <p:ph idx="1"/>
              </p:nvPr>
            </p:nvSpPr>
            <p:spPr/>
            <p:txBody>
              <a:bodyPr/>
              <a:lstStyle/>
              <a:p>
                <a:r>
                  <a:rPr lang="en-US" dirty="0"/>
                  <a:t>Fetal death rate (per 1,000 live births plus fetal deaths) = </a:t>
                </a:r>
              </a:p>
              <a:p>
                <a14:m>
                  <m:oMath xmlns:m="http://schemas.openxmlformats.org/officeDocument/2006/math">
                    <m:f>
                      <m:fPr>
                        <m:ctrlPr>
                          <a:rPr lang="en-US" sz="2400" i="1">
                            <a:latin typeface="Cambria Math" panose="02040503050406030204" pitchFamily="18" charset="0"/>
                          </a:rPr>
                        </m:ctrlPr>
                      </m:fPr>
                      <m:num>
                        <m:eqArr>
                          <m:eqArrPr>
                            <m:ctrlPr>
                              <a:rPr lang="en-IN" sz="2400" i="1">
                                <a:latin typeface="Cambria Math" panose="02040503050406030204" pitchFamily="18" charset="0"/>
                              </a:rPr>
                            </m:ctrlPr>
                          </m:eqArrPr>
                          <m:e>
                            <m:r>
                              <m:rPr>
                                <m:nor/>
                              </m:rPr>
                              <a:rPr lang="en-IN" sz="2400" i="1">
                                <a:latin typeface="Cambria Math" panose="02040503050406030204" pitchFamily="18" charset="0"/>
                              </a:rPr>
                              <m:t>Number</m:t>
                            </m:r>
                            <m:r>
                              <m:rPr>
                                <m:nor/>
                              </m:rPr>
                              <a:rPr lang="en-IN" sz="2400" i="1">
                                <a:latin typeface="Cambria Math" panose="02040503050406030204" pitchFamily="18" charset="0"/>
                              </a:rPr>
                              <m:t> </m:t>
                            </m:r>
                            <m:r>
                              <m:rPr>
                                <m:nor/>
                              </m:rPr>
                              <a:rPr lang="en-IN" sz="2400" i="1">
                                <a:latin typeface="Cambria Math" panose="02040503050406030204" pitchFamily="18" charset="0"/>
                              </a:rPr>
                              <m:t>of</m:t>
                            </m:r>
                            <m:r>
                              <m:rPr>
                                <m:nor/>
                              </m:rPr>
                              <a:rPr lang="en-IN" sz="2400" i="1">
                                <a:latin typeface="Cambria Math" panose="02040503050406030204" pitchFamily="18" charset="0"/>
                              </a:rPr>
                              <m:t> </m:t>
                            </m:r>
                            <m:r>
                              <m:rPr>
                                <m:nor/>
                              </m:rPr>
                              <a:rPr lang="en-IN" sz="2400" i="1">
                                <a:latin typeface="Cambria Math" panose="02040503050406030204" pitchFamily="18" charset="0"/>
                              </a:rPr>
                              <m:t>fetal</m:t>
                            </m:r>
                            <m:r>
                              <m:rPr>
                                <m:nor/>
                              </m:rPr>
                              <a:rPr lang="en-IN" sz="2400" i="1">
                                <a:latin typeface="Cambria Math" panose="02040503050406030204" pitchFamily="18" charset="0"/>
                              </a:rPr>
                              <m:t> </m:t>
                            </m:r>
                            <m:r>
                              <m:rPr>
                                <m:nor/>
                              </m:rPr>
                              <a:rPr lang="en-IN" sz="2400" i="1">
                                <a:latin typeface="Cambria Math" panose="02040503050406030204" pitchFamily="18" charset="0"/>
                              </a:rPr>
                              <m:t>deaths</m:t>
                            </m:r>
                            <m:r>
                              <m:rPr>
                                <m:nor/>
                              </m:rPr>
                              <a:rPr lang="en-IN" sz="2400" i="1">
                                <a:latin typeface="Cambria Math" panose="02040503050406030204" pitchFamily="18" charset="0"/>
                              </a:rPr>
                              <m:t> </m:t>
                            </m:r>
                          </m:e>
                          <m:e>
                            <m:r>
                              <m:rPr>
                                <m:nor/>
                              </m:rPr>
                              <a:rPr lang="en-IN" sz="2400" i="1">
                                <a:latin typeface="Cambria Math" panose="02040503050406030204" pitchFamily="18" charset="0"/>
                              </a:rPr>
                              <m:t>after</m:t>
                            </m:r>
                            <m:r>
                              <m:rPr>
                                <m:nor/>
                              </m:rPr>
                              <a:rPr lang="en-IN" sz="2400" i="1">
                                <a:latin typeface="Cambria Math" panose="02040503050406030204" pitchFamily="18" charset="0"/>
                              </a:rPr>
                              <m:t> 20 </m:t>
                            </m:r>
                            <m:r>
                              <m:rPr>
                                <m:nor/>
                              </m:rPr>
                              <a:rPr lang="en-IN" sz="2400" i="1">
                                <a:latin typeface="Cambria Math" panose="02040503050406030204" pitchFamily="18" charset="0"/>
                              </a:rPr>
                              <m:t>weeks</m:t>
                            </m:r>
                            <m:r>
                              <m:rPr>
                                <m:nor/>
                              </m:rPr>
                              <a:rPr lang="en-IN" sz="2400" i="1">
                                <a:latin typeface="Cambria Math" panose="02040503050406030204" pitchFamily="18" charset="0"/>
                              </a:rPr>
                              <m:t> </m:t>
                            </m:r>
                            <m:r>
                              <m:rPr>
                                <m:nor/>
                              </m:rPr>
                              <a:rPr lang="en-IN" sz="2400" i="1">
                                <a:latin typeface="Cambria Math" panose="02040503050406030204" pitchFamily="18" charset="0"/>
                              </a:rPr>
                              <m:t>or</m:t>
                            </m:r>
                            <m:r>
                              <m:rPr>
                                <m:nor/>
                              </m:rPr>
                              <a:rPr lang="en-IN" sz="2400" i="1">
                                <a:latin typeface="Cambria Math" panose="02040503050406030204" pitchFamily="18" charset="0"/>
                              </a:rPr>
                              <m:t> </m:t>
                            </m:r>
                            <m:r>
                              <m:rPr>
                                <m:nor/>
                              </m:rPr>
                              <a:rPr lang="en-IN" sz="2400" i="1">
                                <a:latin typeface="Cambria Math" panose="02040503050406030204" pitchFamily="18" charset="0"/>
                              </a:rPr>
                              <m:t>more</m:t>
                            </m:r>
                            <m:r>
                              <m:rPr>
                                <m:nor/>
                              </m:rPr>
                              <a:rPr lang="en-IN" sz="2400" i="1">
                                <a:latin typeface="Cambria Math" panose="02040503050406030204" pitchFamily="18" charset="0"/>
                              </a:rPr>
                              <m:t> </m:t>
                            </m:r>
                            <m:r>
                              <m:rPr>
                                <m:nor/>
                              </m:rPr>
                              <a:rPr lang="en-IN" sz="2400" i="1">
                                <a:latin typeface="Cambria Math" panose="02040503050406030204" pitchFamily="18" charset="0"/>
                              </a:rPr>
                              <m:t>gestation</m:t>
                            </m:r>
                          </m:e>
                        </m:eqArr>
                      </m:num>
                      <m:den>
                        <m:eqArr>
                          <m:eqArrPr>
                            <m:ctrlPr>
                              <a:rPr lang="en-IN" sz="2400" i="1">
                                <a:latin typeface="Cambria Math" panose="02040503050406030204" pitchFamily="18" charset="0"/>
                              </a:rPr>
                            </m:ctrlPr>
                          </m:eqArrPr>
                          <m:e>
                            <m:r>
                              <m:rPr>
                                <m:nor/>
                              </m:rPr>
                              <a:rPr lang="en-IN" sz="2400" i="1">
                                <a:latin typeface="Cambria Math" panose="02040503050406030204" pitchFamily="18" charset="0"/>
                              </a:rPr>
                              <m:t>Number</m:t>
                            </m:r>
                            <m:r>
                              <m:rPr>
                                <m:nor/>
                              </m:rPr>
                              <a:rPr lang="en-IN" sz="2400" i="1">
                                <a:latin typeface="Cambria Math" panose="02040503050406030204" pitchFamily="18" charset="0"/>
                              </a:rPr>
                              <m:t> </m:t>
                            </m:r>
                            <m:r>
                              <m:rPr>
                                <m:nor/>
                              </m:rPr>
                              <a:rPr lang="en-IN" sz="2400" i="1">
                                <a:latin typeface="Cambria Math" panose="02040503050406030204" pitchFamily="18" charset="0"/>
                              </a:rPr>
                              <m:t>of</m:t>
                            </m:r>
                            <m:r>
                              <m:rPr>
                                <m:nor/>
                              </m:rPr>
                              <a:rPr lang="en-IN" sz="2400" i="1">
                                <a:latin typeface="Cambria Math" panose="02040503050406030204" pitchFamily="18" charset="0"/>
                              </a:rPr>
                              <m:t> </m:t>
                            </m:r>
                            <m:r>
                              <m:rPr>
                                <m:nor/>
                              </m:rPr>
                              <a:rPr lang="en-IN" sz="2400" i="1">
                                <a:latin typeface="Cambria Math" panose="02040503050406030204" pitchFamily="18" charset="0"/>
                              </a:rPr>
                              <m:t>live</m:t>
                            </m:r>
                            <m:r>
                              <m:rPr>
                                <m:nor/>
                              </m:rPr>
                              <a:rPr lang="en-IN" sz="2400" i="1">
                                <a:latin typeface="Cambria Math" panose="02040503050406030204" pitchFamily="18" charset="0"/>
                              </a:rPr>
                              <m:t> </m:t>
                            </m:r>
                            <m:r>
                              <m:rPr>
                                <m:nor/>
                              </m:rPr>
                              <a:rPr lang="en-IN" sz="2400" i="1">
                                <a:latin typeface="Cambria Math" panose="02040503050406030204" pitchFamily="18" charset="0"/>
                              </a:rPr>
                              <m:t>birth</m:t>
                            </m:r>
                            <m:r>
                              <m:rPr>
                                <m:nor/>
                              </m:rPr>
                              <a:rPr lang="en-IN" sz="2400" i="1">
                                <a:latin typeface="Cambria Math" panose="02040503050406030204" pitchFamily="18" charset="0"/>
                              </a:rPr>
                              <m:t> + </m:t>
                            </m:r>
                            <m:r>
                              <m:rPr>
                                <m:nor/>
                              </m:rPr>
                              <a:rPr lang="en-IN" sz="2400" i="1">
                                <a:latin typeface="Cambria Math" panose="02040503050406030204" pitchFamily="18" charset="0"/>
                              </a:rPr>
                              <m:t>number</m:t>
                            </m:r>
                            <m:r>
                              <m:rPr>
                                <m:nor/>
                              </m:rPr>
                              <a:rPr lang="en-IN" sz="2400" i="1">
                                <a:latin typeface="Cambria Math" panose="02040503050406030204" pitchFamily="18" charset="0"/>
                              </a:rPr>
                              <m:t> </m:t>
                            </m:r>
                            <m:r>
                              <m:rPr>
                                <m:nor/>
                              </m:rPr>
                              <a:rPr lang="en-IN" sz="2400" i="1">
                                <a:latin typeface="Cambria Math" panose="02040503050406030204" pitchFamily="18" charset="0"/>
                              </a:rPr>
                              <m:t>of</m:t>
                            </m:r>
                            <m:r>
                              <m:rPr>
                                <m:nor/>
                              </m:rPr>
                              <a:rPr lang="en-IN" sz="2400" i="1">
                                <a:latin typeface="Cambria Math" panose="02040503050406030204" pitchFamily="18" charset="0"/>
                              </a:rPr>
                              <m:t> </m:t>
                            </m:r>
                            <m:r>
                              <m:rPr>
                                <m:nor/>
                              </m:rPr>
                              <a:rPr lang="en-IN" sz="2400" i="1">
                                <a:latin typeface="Cambria Math" panose="02040503050406030204" pitchFamily="18" charset="0"/>
                              </a:rPr>
                              <m:t>fetal</m:t>
                            </m:r>
                            <m:r>
                              <m:rPr>
                                <m:nor/>
                              </m:rPr>
                              <a:rPr lang="en-IN" sz="2400" i="1">
                                <a:latin typeface="Cambria Math" panose="02040503050406030204" pitchFamily="18" charset="0"/>
                              </a:rPr>
                              <m:t> </m:t>
                            </m:r>
                            <m:r>
                              <m:rPr>
                                <m:nor/>
                              </m:rPr>
                              <a:rPr lang="en-IN" sz="2400" i="1">
                                <a:latin typeface="Cambria Math" panose="02040503050406030204" pitchFamily="18" charset="0"/>
                              </a:rPr>
                              <m:t>deaths</m:t>
                            </m:r>
                            <m:r>
                              <m:rPr>
                                <m:nor/>
                              </m:rPr>
                              <a:rPr lang="en-IN" sz="2400" i="1">
                                <a:latin typeface="Cambria Math" panose="02040503050406030204" pitchFamily="18" charset="0"/>
                              </a:rPr>
                              <m:t> </m:t>
                            </m:r>
                          </m:e>
                          <m:e>
                            <m:r>
                              <m:rPr>
                                <m:nor/>
                              </m:rPr>
                              <a:rPr lang="en-IN" sz="2400" i="1">
                                <a:latin typeface="Cambria Math" panose="02040503050406030204" pitchFamily="18" charset="0"/>
                              </a:rPr>
                              <m:t>after</m:t>
                            </m:r>
                            <m:r>
                              <m:rPr>
                                <m:nor/>
                              </m:rPr>
                              <a:rPr lang="en-IN" sz="2400" i="1">
                                <a:latin typeface="Cambria Math" panose="02040503050406030204" pitchFamily="18" charset="0"/>
                              </a:rPr>
                              <m:t> 20 </m:t>
                            </m:r>
                            <m:r>
                              <m:rPr>
                                <m:nor/>
                              </m:rPr>
                              <a:rPr lang="en-IN" sz="2400" i="1">
                                <a:latin typeface="Cambria Math" panose="02040503050406030204" pitchFamily="18" charset="0"/>
                              </a:rPr>
                              <m:t>weeks</m:t>
                            </m:r>
                            <m:r>
                              <m:rPr>
                                <m:nor/>
                              </m:rPr>
                              <a:rPr lang="en-IN" sz="2400" i="1">
                                <a:latin typeface="Cambria Math" panose="02040503050406030204" pitchFamily="18" charset="0"/>
                              </a:rPr>
                              <m:t> </m:t>
                            </m:r>
                            <m:r>
                              <m:rPr>
                                <m:nor/>
                              </m:rPr>
                              <a:rPr lang="en-IN" sz="2400" i="1">
                                <a:latin typeface="Cambria Math" panose="02040503050406030204" pitchFamily="18" charset="0"/>
                              </a:rPr>
                              <m:t>or</m:t>
                            </m:r>
                            <m:r>
                              <m:rPr>
                                <m:nor/>
                              </m:rPr>
                              <a:rPr lang="en-IN" sz="2400" i="1">
                                <a:latin typeface="Cambria Math" panose="02040503050406030204" pitchFamily="18" charset="0"/>
                              </a:rPr>
                              <m:t> </m:t>
                            </m:r>
                            <m:r>
                              <m:rPr>
                                <m:nor/>
                              </m:rPr>
                              <a:rPr lang="en-IN" sz="2400" i="1">
                                <a:latin typeface="Cambria Math" panose="02040503050406030204" pitchFamily="18" charset="0"/>
                              </a:rPr>
                              <m:t>more</m:t>
                            </m:r>
                            <m:r>
                              <m:rPr>
                                <m:nor/>
                              </m:rPr>
                              <a:rPr lang="en-IN" sz="2400" i="1">
                                <a:latin typeface="Cambria Math" panose="02040503050406030204" pitchFamily="18" charset="0"/>
                              </a:rPr>
                              <m:t> </m:t>
                            </m:r>
                            <m:r>
                              <m:rPr>
                                <m:nor/>
                              </m:rPr>
                              <a:rPr lang="en-IN" sz="2400" i="1">
                                <a:latin typeface="Cambria Math" panose="02040503050406030204" pitchFamily="18" charset="0"/>
                              </a:rPr>
                              <m:t>gestation</m:t>
                            </m:r>
                          </m:e>
                        </m:eqArr>
                      </m:den>
                    </m:f>
                    <m:r>
                      <a:rPr lang="en-IN" sz="2400" i="1">
                        <a:latin typeface="Cambria Math" panose="02040503050406030204" pitchFamily="18" charset="0"/>
                      </a:rPr>
                      <m:t>×1,000</m:t>
                    </m:r>
                  </m:oMath>
                </a14:m>
                <a:endParaRPr lang="en-US" sz="2400" i="1" dirty="0">
                  <a:latin typeface="Cambria Math" panose="02040503050406030204" pitchFamily="18" charset="0"/>
                </a:endParaRPr>
              </a:p>
              <a:p>
                <a:r>
                  <a:rPr lang="en-US" dirty="0"/>
                  <a:t>Late fetal death rate (per 1,000 live births plus late fetal deaths) = </a:t>
                </a:r>
              </a:p>
              <a:p>
                <a14:m>
                  <m:oMath xmlns:m="http://schemas.openxmlformats.org/officeDocument/2006/math">
                    <m:f>
                      <m:fPr>
                        <m:ctrlPr>
                          <a:rPr lang="en-US" sz="2400" i="1">
                            <a:latin typeface="Cambria Math" panose="02040503050406030204" pitchFamily="18" charset="0"/>
                          </a:rPr>
                        </m:ctrlPr>
                      </m:fPr>
                      <m:num>
                        <m:eqArr>
                          <m:eqArrPr>
                            <m:ctrlPr>
                              <a:rPr lang="en-IN" sz="2400" i="1">
                                <a:latin typeface="Cambria Math" panose="02040503050406030204" pitchFamily="18" charset="0"/>
                              </a:rPr>
                            </m:ctrlPr>
                          </m:eqArrPr>
                          <m:e>
                            <m:r>
                              <m:rPr>
                                <m:nor/>
                              </m:rPr>
                              <a:rPr lang="en-IN" sz="2400" i="1">
                                <a:latin typeface="Cambria Math" panose="02040503050406030204" pitchFamily="18" charset="0"/>
                              </a:rPr>
                              <m:t>Number</m:t>
                            </m:r>
                            <m:r>
                              <m:rPr>
                                <m:nor/>
                              </m:rPr>
                              <a:rPr lang="en-IN" sz="2400" i="1">
                                <a:latin typeface="Cambria Math" panose="02040503050406030204" pitchFamily="18" charset="0"/>
                              </a:rPr>
                              <m:t> </m:t>
                            </m:r>
                            <m:r>
                              <m:rPr>
                                <m:nor/>
                              </m:rPr>
                              <a:rPr lang="en-IN" sz="2400" i="1">
                                <a:latin typeface="Cambria Math" panose="02040503050406030204" pitchFamily="18" charset="0"/>
                              </a:rPr>
                              <m:t>of</m:t>
                            </m:r>
                            <m:r>
                              <m:rPr>
                                <m:nor/>
                              </m:rPr>
                              <a:rPr lang="en-IN" sz="2400" i="1">
                                <a:latin typeface="Cambria Math" panose="02040503050406030204" pitchFamily="18" charset="0"/>
                              </a:rPr>
                              <m:t> </m:t>
                            </m:r>
                            <m:r>
                              <m:rPr>
                                <m:nor/>
                              </m:rPr>
                              <a:rPr lang="en-IN" sz="2400" i="1">
                                <a:latin typeface="Cambria Math" panose="02040503050406030204" pitchFamily="18" charset="0"/>
                              </a:rPr>
                              <m:t>fetal</m:t>
                            </m:r>
                            <m:r>
                              <m:rPr>
                                <m:nor/>
                              </m:rPr>
                              <a:rPr lang="en-IN" sz="2400" i="1">
                                <a:latin typeface="Cambria Math" panose="02040503050406030204" pitchFamily="18" charset="0"/>
                              </a:rPr>
                              <m:t> </m:t>
                            </m:r>
                            <m:r>
                              <m:rPr>
                                <m:nor/>
                              </m:rPr>
                              <a:rPr lang="en-IN" sz="2400" i="1">
                                <a:latin typeface="Cambria Math" panose="02040503050406030204" pitchFamily="18" charset="0"/>
                              </a:rPr>
                              <m:t>deaths</m:t>
                            </m:r>
                            <m:r>
                              <m:rPr>
                                <m:nor/>
                              </m:rPr>
                              <a:rPr lang="en-IN" sz="2400" i="1">
                                <a:latin typeface="Cambria Math" panose="02040503050406030204" pitchFamily="18" charset="0"/>
                              </a:rPr>
                              <m:t> </m:t>
                            </m:r>
                          </m:e>
                          <m:e>
                            <m:r>
                              <m:rPr>
                                <m:nor/>
                              </m:rPr>
                              <a:rPr lang="en-IN" sz="2400" i="1">
                                <a:latin typeface="Cambria Math" panose="02040503050406030204" pitchFamily="18" charset="0"/>
                              </a:rPr>
                              <m:t>after</m:t>
                            </m:r>
                            <m:r>
                              <m:rPr>
                                <m:nor/>
                              </m:rPr>
                              <a:rPr lang="en-IN" sz="2400" i="1">
                                <a:latin typeface="Cambria Math" panose="02040503050406030204" pitchFamily="18" charset="0"/>
                              </a:rPr>
                              <m:t> 28 </m:t>
                            </m:r>
                            <m:r>
                              <m:rPr>
                                <m:nor/>
                              </m:rPr>
                              <a:rPr lang="en-IN" sz="2400" i="1">
                                <a:latin typeface="Cambria Math" panose="02040503050406030204" pitchFamily="18" charset="0"/>
                              </a:rPr>
                              <m:t>weeks</m:t>
                            </m:r>
                            <m:r>
                              <m:rPr>
                                <m:nor/>
                              </m:rPr>
                              <a:rPr lang="en-IN" sz="2400" i="1">
                                <a:latin typeface="Cambria Math" panose="02040503050406030204" pitchFamily="18" charset="0"/>
                              </a:rPr>
                              <m:t> </m:t>
                            </m:r>
                            <m:r>
                              <m:rPr>
                                <m:nor/>
                              </m:rPr>
                              <a:rPr lang="en-IN" sz="2400" i="1">
                                <a:latin typeface="Cambria Math" panose="02040503050406030204" pitchFamily="18" charset="0"/>
                              </a:rPr>
                              <m:t>or</m:t>
                            </m:r>
                            <m:r>
                              <m:rPr>
                                <m:nor/>
                              </m:rPr>
                              <a:rPr lang="en-IN" sz="2400" i="1">
                                <a:latin typeface="Cambria Math" panose="02040503050406030204" pitchFamily="18" charset="0"/>
                              </a:rPr>
                              <m:t> </m:t>
                            </m:r>
                            <m:r>
                              <m:rPr>
                                <m:nor/>
                              </m:rPr>
                              <a:rPr lang="en-IN" sz="2400" i="1">
                                <a:latin typeface="Cambria Math" panose="02040503050406030204" pitchFamily="18" charset="0"/>
                              </a:rPr>
                              <m:t>more</m:t>
                            </m:r>
                            <m:r>
                              <m:rPr>
                                <m:nor/>
                              </m:rPr>
                              <a:rPr lang="en-IN" sz="2400" i="1">
                                <a:latin typeface="Cambria Math" panose="02040503050406030204" pitchFamily="18" charset="0"/>
                              </a:rPr>
                              <m:t> </m:t>
                            </m:r>
                            <m:r>
                              <m:rPr>
                                <m:nor/>
                              </m:rPr>
                              <a:rPr lang="en-IN" sz="2400" i="1">
                                <a:latin typeface="Cambria Math" panose="02040503050406030204" pitchFamily="18" charset="0"/>
                              </a:rPr>
                              <m:t>gestation</m:t>
                            </m:r>
                          </m:e>
                        </m:eqArr>
                      </m:num>
                      <m:den>
                        <m:eqArr>
                          <m:eqArrPr>
                            <m:ctrlPr>
                              <a:rPr lang="en-IN" sz="2400" i="1">
                                <a:latin typeface="Cambria Math" panose="02040503050406030204" pitchFamily="18" charset="0"/>
                              </a:rPr>
                            </m:ctrlPr>
                          </m:eqArrPr>
                          <m:e>
                            <m:r>
                              <m:rPr>
                                <m:nor/>
                              </m:rPr>
                              <a:rPr lang="en-IN" sz="2400" i="1">
                                <a:latin typeface="Cambria Math" panose="02040503050406030204" pitchFamily="18" charset="0"/>
                              </a:rPr>
                              <m:t>Number</m:t>
                            </m:r>
                            <m:r>
                              <m:rPr>
                                <m:nor/>
                              </m:rPr>
                              <a:rPr lang="en-IN" sz="2400" i="1">
                                <a:latin typeface="Cambria Math" panose="02040503050406030204" pitchFamily="18" charset="0"/>
                              </a:rPr>
                              <m:t> </m:t>
                            </m:r>
                            <m:r>
                              <m:rPr>
                                <m:nor/>
                              </m:rPr>
                              <a:rPr lang="en-IN" sz="2400" i="1">
                                <a:latin typeface="Cambria Math" panose="02040503050406030204" pitchFamily="18" charset="0"/>
                              </a:rPr>
                              <m:t>of</m:t>
                            </m:r>
                            <m:r>
                              <m:rPr>
                                <m:nor/>
                              </m:rPr>
                              <a:rPr lang="en-IN" sz="2400" i="1">
                                <a:latin typeface="Cambria Math" panose="02040503050406030204" pitchFamily="18" charset="0"/>
                              </a:rPr>
                              <m:t> </m:t>
                            </m:r>
                            <m:r>
                              <m:rPr>
                                <m:nor/>
                              </m:rPr>
                              <a:rPr lang="en-IN" sz="2400" i="1">
                                <a:latin typeface="Cambria Math" panose="02040503050406030204" pitchFamily="18" charset="0"/>
                              </a:rPr>
                              <m:t>live</m:t>
                            </m:r>
                            <m:r>
                              <m:rPr>
                                <m:nor/>
                              </m:rPr>
                              <a:rPr lang="en-IN" sz="2400" i="1">
                                <a:latin typeface="Cambria Math" panose="02040503050406030204" pitchFamily="18" charset="0"/>
                              </a:rPr>
                              <m:t> </m:t>
                            </m:r>
                            <m:r>
                              <m:rPr>
                                <m:nor/>
                              </m:rPr>
                              <a:rPr lang="en-IN" sz="2400" i="1">
                                <a:latin typeface="Cambria Math" panose="02040503050406030204" pitchFamily="18" charset="0"/>
                              </a:rPr>
                              <m:t>birth</m:t>
                            </m:r>
                            <m:r>
                              <m:rPr>
                                <m:nor/>
                              </m:rPr>
                              <a:rPr lang="en-IN" sz="2400" i="1">
                                <a:latin typeface="Cambria Math" panose="02040503050406030204" pitchFamily="18" charset="0"/>
                              </a:rPr>
                              <m:t> + </m:t>
                            </m:r>
                            <m:r>
                              <m:rPr>
                                <m:nor/>
                              </m:rPr>
                              <a:rPr lang="en-IN" sz="2400" i="1">
                                <a:latin typeface="Cambria Math" panose="02040503050406030204" pitchFamily="18" charset="0"/>
                              </a:rPr>
                              <m:t>number</m:t>
                            </m:r>
                            <m:r>
                              <m:rPr>
                                <m:nor/>
                              </m:rPr>
                              <a:rPr lang="en-IN" sz="2400" i="1">
                                <a:latin typeface="Cambria Math" panose="02040503050406030204" pitchFamily="18" charset="0"/>
                              </a:rPr>
                              <m:t> </m:t>
                            </m:r>
                            <m:r>
                              <m:rPr>
                                <m:nor/>
                              </m:rPr>
                              <a:rPr lang="en-IN" sz="2400" i="1">
                                <a:latin typeface="Cambria Math" panose="02040503050406030204" pitchFamily="18" charset="0"/>
                              </a:rPr>
                              <m:t>of</m:t>
                            </m:r>
                            <m:r>
                              <m:rPr>
                                <m:nor/>
                              </m:rPr>
                              <a:rPr lang="en-IN" sz="2400" i="1">
                                <a:latin typeface="Cambria Math" panose="02040503050406030204" pitchFamily="18" charset="0"/>
                              </a:rPr>
                              <m:t> </m:t>
                            </m:r>
                            <m:r>
                              <m:rPr>
                                <m:nor/>
                              </m:rPr>
                              <a:rPr lang="en-IN" sz="2400" i="1">
                                <a:latin typeface="Cambria Math" panose="02040503050406030204" pitchFamily="18" charset="0"/>
                              </a:rPr>
                              <m:t>fetal</m:t>
                            </m:r>
                            <m:r>
                              <m:rPr>
                                <m:nor/>
                              </m:rPr>
                              <a:rPr lang="en-IN" sz="2400" i="1">
                                <a:latin typeface="Cambria Math" panose="02040503050406030204" pitchFamily="18" charset="0"/>
                              </a:rPr>
                              <m:t> </m:t>
                            </m:r>
                            <m:r>
                              <m:rPr>
                                <m:nor/>
                              </m:rPr>
                              <a:rPr lang="en-IN" sz="2400" i="1">
                                <a:latin typeface="Cambria Math" panose="02040503050406030204" pitchFamily="18" charset="0"/>
                              </a:rPr>
                              <m:t>deaths</m:t>
                            </m:r>
                            <m:r>
                              <m:rPr>
                                <m:nor/>
                              </m:rPr>
                              <a:rPr lang="en-IN" sz="2400" i="1">
                                <a:latin typeface="Cambria Math" panose="02040503050406030204" pitchFamily="18" charset="0"/>
                              </a:rPr>
                              <m:t> </m:t>
                            </m:r>
                          </m:e>
                          <m:e>
                            <m:r>
                              <m:rPr>
                                <m:nor/>
                              </m:rPr>
                              <a:rPr lang="en-IN" sz="2400" i="1">
                                <a:latin typeface="Cambria Math" panose="02040503050406030204" pitchFamily="18" charset="0"/>
                              </a:rPr>
                              <m:t>after</m:t>
                            </m:r>
                            <m:r>
                              <m:rPr>
                                <m:nor/>
                              </m:rPr>
                              <a:rPr lang="en-IN" sz="2400" i="1">
                                <a:latin typeface="Cambria Math" panose="02040503050406030204" pitchFamily="18" charset="0"/>
                              </a:rPr>
                              <m:t> 28 </m:t>
                            </m:r>
                            <m:r>
                              <m:rPr>
                                <m:nor/>
                              </m:rPr>
                              <a:rPr lang="en-IN" sz="2400" i="1">
                                <a:latin typeface="Cambria Math" panose="02040503050406030204" pitchFamily="18" charset="0"/>
                              </a:rPr>
                              <m:t>weeks</m:t>
                            </m:r>
                            <m:r>
                              <m:rPr>
                                <m:nor/>
                              </m:rPr>
                              <a:rPr lang="en-IN" sz="2400" i="1">
                                <a:latin typeface="Cambria Math" panose="02040503050406030204" pitchFamily="18" charset="0"/>
                              </a:rPr>
                              <m:t> </m:t>
                            </m:r>
                            <m:r>
                              <m:rPr>
                                <m:nor/>
                              </m:rPr>
                              <a:rPr lang="en-IN" sz="2400" i="1">
                                <a:latin typeface="Cambria Math" panose="02040503050406030204" pitchFamily="18" charset="0"/>
                              </a:rPr>
                              <m:t>or</m:t>
                            </m:r>
                            <m:r>
                              <m:rPr>
                                <m:nor/>
                              </m:rPr>
                              <a:rPr lang="en-IN" sz="2400" i="1">
                                <a:latin typeface="Cambria Math" panose="02040503050406030204" pitchFamily="18" charset="0"/>
                              </a:rPr>
                              <m:t> </m:t>
                            </m:r>
                            <m:r>
                              <m:rPr>
                                <m:nor/>
                              </m:rPr>
                              <a:rPr lang="en-IN" sz="2400" i="1">
                                <a:latin typeface="Cambria Math" panose="02040503050406030204" pitchFamily="18" charset="0"/>
                              </a:rPr>
                              <m:t>more</m:t>
                            </m:r>
                            <m:r>
                              <m:rPr>
                                <m:nor/>
                              </m:rPr>
                              <a:rPr lang="en-IN" sz="2400" i="1">
                                <a:latin typeface="Cambria Math" panose="02040503050406030204" pitchFamily="18" charset="0"/>
                              </a:rPr>
                              <m:t> </m:t>
                            </m:r>
                            <m:r>
                              <m:rPr>
                                <m:nor/>
                              </m:rPr>
                              <a:rPr lang="en-IN" sz="2400" i="1">
                                <a:latin typeface="Cambria Math" panose="02040503050406030204" pitchFamily="18" charset="0"/>
                              </a:rPr>
                              <m:t>gestation</m:t>
                            </m:r>
                          </m:e>
                        </m:eqArr>
                      </m:den>
                    </m:f>
                    <m:r>
                      <a:rPr lang="en-IN" sz="2400" i="1">
                        <a:latin typeface="Cambria Math" panose="02040503050406030204" pitchFamily="18" charset="0"/>
                      </a:rPr>
                      <m:t>×1,000</m:t>
                    </m:r>
                  </m:oMath>
                </a14:m>
                <a:endParaRPr lang="en-US" sz="2400" i="1" dirty="0">
                  <a:latin typeface="Cambria Math" panose="02040503050406030204" pitchFamily="18" charset="0"/>
                </a:endParaRPr>
              </a:p>
            </p:txBody>
          </p:sp>
        </mc:Choice>
        <mc:Fallback xmlns="">
          <p:sp>
            <p:nvSpPr>
              <p:cNvPr id="4" name="Content Placeholder 3">
                <a:extLst>
                  <a:ext uri="{FF2B5EF4-FFF2-40B4-BE49-F238E27FC236}">
                    <a16:creationId xmlns:a16="http://schemas.microsoft.com/office/drawing/2014/main" id="{BC22F4F8-BF45-044E-7D5B-151E5A42DFF3}"/>
                  </a:ext>
                </a:extLst>
              </p:cNvPr>
              <p:cNvSpPr>
                <a:spLocks noGrp="1" noRot="1" noChangeAspect="1" noMove="1" noResize="1" noEditPoints="1" noAdjustHandles="1" noChangeArrowheads="1" noChangeShapeType="1" noTextEdit="1"/>
              </p:cNvSpPr>
              <p:nvPr>
                <p:ph idx="1"/>
              </p:nvPr>
            </p:nvSpPr>
            <p:spPr>
              <a:blipFill>
                <a:blip r:embed="rId2"/>
                <a:stretch>
                  <a:fillRect l="-960" t="-1285"/>
                </a:stretch>
              </a:blipFill>
            </p:spPr>
            <p:txBody>
              <a:bodyPr/>
              <a:lstStyle/>
              <a:p>
                <a:r>
                  <a:rPr 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a:xfrm>
            <a:off x="0" y="134482"/>
            <a:ext cx="13546138" cy="1113432"/>
          </a:xfrm>
        </p:spPr>
        <p:txBody>
          <a:bodyPr/>
          <a:lstStyle/>
          <a:p>
            <a:r>
              <a:rPr lang="en-US" altLang="en-US" dirty="0"/>
              <a:t>Crude Birth Rate (1 of 2)</a:t>
            </a:r>
          </a:p>
        </p:txBody>
      </p:sp>
      <p:sp>
        <p:nvSpPr>
          <p:cNvPr id="40963" name="Content Placeholder 2"/>
          <p:cNvSpPr>
            <a:spLocks noGrp="1"/>
          </p:cNvSpPr>
          <p:nvPr>
            <p:ph idx="1"/>
          </p:nvPr>
        </p:nvSpPr>
        <p:spPr>
          <a:xfrm>
            <a:off x="1028660" y="1656523"/>
            <a:ext cx="11429554" cy="5221163"/>
          </a:xfrm>
        </p:spPr>
        <p:txBody>
          <a:bodyPr/>
          <a:lstStyle/>
          <a:p>
            <a:r>
              <a:rPr lang="en-US" altLang="en-US" dirty="0"/>
              <a:t>Number of live births during a specified period such as a year per the resident population during the midpoint of the year</a:t>
            </a:r>
          </a:p>
          <a:p>
            <a:r>
              <a:rPr lang="en-US" altLang="en-US" dirty="0"/>
              <a:t>Affects size of the population</a:t>
            </a:r>
          </a:p>
          <a:p>
            <a:endParaRPr lang="en-US"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950DAB8F-79FB-2F51-F0B1-220F67A4D131}"/>
                  </a:ext>
                </a:extLst>
              </p:cNvPr>
              <p:cNvSpPr>
                <a:spLocks noGrp="1"/>
              </p:cNvSpPr>
              <p:nvPr>
                <p:ph idx="1"/>
              </p:nvPr>
            </p:nvSpPr>
            <p:spPr/>
            <p:txBody>
              <a:bodyPr/>
              <a:lstStyle/>
              <a:p>
                <a14:m>
                  <m:oMath xmlns:m="http://schemas.openxmlformats.org/officeDocument/2006/math">
                    <m:r>
                      <a:rPr lang="en-US" b="0" i="1" smtClean="0">
                        <a:effectLst/>
                        <a:latin typeface="Cambria Math" panose="02040503050406030204" pitchFamily="18" charset="0"/>
                        <a:cs typeface="Times New Roman" panose="02020603050405020304" pitchFamily="18" charset="0"/>
                      </a:rPr>
                      <m:t>𝐶𝑟𝑢𝑑𝑒</m:t>
                    </m:r>
                    <m:r>
                      <a:rPr lang="en-US" b="0" i="1" smtClean="0">
                        <a:effectLst/>
                        <a:latin typeface="Cambria Math" panose="02040503050406030204" pitchFamily="18" charset="0"/>
                        <a:cs typeface="Times New Roman" panose="02020603050405020304" pitchFamily="18" charset="0"/>
                      </a:rPr>
                      <m:t> </m:t>
                    </m:r>
                    <m:r>
                      <a:rPr lang="en-US" b="0" i="1" smtClean="0">
                        <a:effectLst/>
                        <a:latin typeface="Cambria Math" panose="02040503050406030204" pitchFamily="18" charset="0"/>
                        <a:cs typeface="Times New Roman" panose="02020603050405020304" pitchFamily="18" charset="0"/>
                      </a:rPr>
                      <m:t>𝑏𝑖𝑟𝑡h</m:t>
                    </m:r>
                    <m:r>
                      <a:rPr lang="en-US" b="0" i="1" smtClean="0">
                        <a:effectLst/>
                        <a:latin typeface="Cambria Math" panose="02040503050406030204" pitchFamily="18" charset="0"/>
                        <a:cs typeface="Times New Roman" panose="02020603050405020304" pitchFamily="18" charset="0"/>
                      </a:rPr>
                      <m:t> </m:t>
                    </m:r>
                    <m:r>
                      <a:rPr lang="en-US" b="0" i="1" smtClean="0">
                        <a:effectLst/>
                        <a:latin typeface="Cambria Math" panose="02040503050406030204" pitchFamily="18" charset="0"/>
                        <a:cs typeface="Times New Roman" panose="02020603050405020304" pitchFamily="18" charset="0"/>
                      </a:rPr>
                      <m:t>𝑟𝑎𝑡𝑒</m:t>
                    </m:r>
                    <m:r>
                      <a:rPr lang="en-US" b="0" i="1" smtClean="0">
                        <a:effectLst/>
                        <a:latin typeface="Cambria Math" panose="02040503050406030204" pitchFamily="18" charset="0"/>
                        <a:cs typeface="Times New Roman" panose="02020603050405020304" pitchFamily="18" charset="0"/>
                      </a:rPr>
                      <m:t>=</m:t>
                    </m:r>
                    <m:f>
                      <m:fPr>
                        <m:ctrlPr>
                          <a:rPr lang="en-US" i="1" smtClean="0">
                            <a:effectLst/>
                            <a:latin typeface="Cambria Math" panose="02040503050406030204" pitchFamily="18" charset="0"/>
                            <a:cs typeface="Times New Roman" panose="02020603050405020304" pitchFamily="18" charset="0"/>
                          </a:rPr>
                        </m:ctrlPr>
                      </m:fPr>
                      <m:num>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𝑁𝑢𝑚𝑏𝑒𝑟</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𝑜𝑓</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𝑙𝑖𝑣𝑒</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𝑏𝑖𝑟𝑡h𝑠</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𝑤𝑖𝑡h𝑖𝑛</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𝑎</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𝑔𝑖𝑣𝑒𝑛</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𝑝𝑒𝑟𝑖𝑜𝑑</m:t>
                        </m:r>
                      </m:num>
                      <m:den>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𝑃𝑜𝑝𝑢𝑙𝑎𝑡𝑖𝑜𝑛</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𝑠𝑖𝑧𝑒</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𝑎𝑡</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𝑡h𝑒</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𝑚𝑖𝑑𝑑𝑙𝑒</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𝑜𝑓</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𝑡h𝑎𝑡</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𝑝𝑒𝑟𝑖𝑜𝑑</m:t>
                        </m:r>
                      </m:den>
                    </m:f>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×1,000 </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𝑝𝑜𝑝𝑢𝑙𝑎𝑡𝑖𝑜𝑛</m:t>
                    </m:r>
                  </m:oMath>
                </a14:m>
                <a:endParaRPr lang="en-US" dirty="0"/>
              </a:p>
              <a:p>
                <a:r>
                  <a:rPr lang="en-US" dirty="0"/>
                  <a:t>Sample calculation: 3,613,647 babies were born in the U.S. during 2020, when the U.S. population was 331,449,520. Birth rate was 3,613,647/331,449,520 = 10.9 per 1,000.</a:t>
                </a:r>
              </a:p>
              <a:p>
                <a:endParaRPr lang="en-US" dirty="0"/>
              </a:p>
            </p:txBody>
          </p:sp>
        </mc:Choice>
        <mc:Fallback xmlns="">
          <p:sp>
            <p:nvSpPr>
              <p:cNvPr id="4" name="Content Placeholder 3">
                <a:extLst>
                  <a:ext uri="{FF2B5EF4-FFF2-40B4-BE49-F238E27FC236}">
                    <a16:creationId xmlns:a16="http://schemas.microsoft.com/office/drawing/2014/main" id="{950DAB8F-79FB-2F51-F0B1-220F67A4D131}"/>
                  </a:ext>
                </a:extLst>
              </p:cNvPr>
              <p:cNvSpPr>
                <a:spLocks noGrp="1" noRot="1" noChangeAspect="1" noMove="1" noResize="1" noEditPoints="1" noAdjustHandles="1" noChangeArrowheads="1" noChangeShapeType="1" noTextEdit="1"/>
              </p:cNvSpPr>
              <p:nvPr>
                <p:ph idx="1"/>
              </p:nvPr>
            </p:nvSpPr>
            <p:spPr>
              <a:blipFill>
                <a:blip r:embed="rId2"/>
                <a:stretch>
                  <a:fillRect l="-999"/>
                </a:stretch>
              </a:blipFill>
            </p:spPr>
            <p:txBody>
              <a:bodyPr/>
              <a:lstStyle/>
              <a:p>
                <a:r>
                  <a:rPr lang="en-US">
                    <a:noFill/>
                  </a:rPr>
                  <a:t> </a:t>
                </a:r>
              </a:p>
            </p:txBody>
          </p:sp>
        </mc:Fallback>
      </mc:AlternateContent>
      <p:sp>
        <p:nvSpPr>
          <p:cNvPr id="6" name="Title 5">
            <a:extLst>
              <a:ext uri="{FF2B5EF4-FFF2-40B4-BE49-F238E27FC236}">
                <a16:creationId xmlns:a16="http://schemas.microsoft.com/office/drawing/2014/main" id="{6C29A998-1BEE-75BA-70A9-FB409E82A4EF}"/>
              </a:ext>
            </a:extLst>
          </p:cNvPr>
          <p:cNvSpPr>
            <a:spLocks noGrp="1"/>
          </p:cNvSpPr>
          <p:nvPr>
            <p:ph type="title"/>
          </p:nvPr>
        </p:nvSpPr>
        <p:spPr/>
        <p:txBody>
          <a:bodyPr/>
          <a:lstStyle/>
          <a:p>
            <a:r>
              <a:rPr lang="en-US" altLang="en-US" dirty="0"/>
              <a:t>Crude Birth Rate (2 of 2)</a:t>
            </a: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a:xfrm>
            <a:off x="0" y="134482"/>
            <a:ext cx="13546138" cy="1113432"/>
          </a:xfrm>
        </p:spPr>
        <p:txBody>
          <a:bodyPr/>
          <a:lstStyle/>
          <a:p>
            <a:r>
              <a:rPr lang="en-US" altLang="en-US" dirty="0"/>
              <a:t>General Fertility Rate (1 of 2)</a:t>
            </a:r>
          </a:p>
        </p:txBody>
      </p:sp>
      <p:sp>
        <p:nvSpPr>
          <p:cNvPr id="43011" name="Content Placeholder 2"/>
          <p:cNvSpPr>
            <a:spLocks noGrp="1"/>
          </p:cNvSpPr>
          <p:nvPr>
            <p:ph idx="1"/>
          </p:nvPr>
        </p:nvSpPr>
        <p:spPr>
          <a:xfrm>
            <a:off x="1028660" y="1656523"/>
            <a:ext cx="11429554" cy="5221163"/>
          </a:xfrm>
        </p:spPr>
        <p:txBody>
          <a:bodyPr/>
          <a:lstStyle/>
          <a:p>
            <a:r>
              <a:rPr lang="en-US" altLang="en-US" dirty="0"/>
              <a:t>Number of live births reported in an area during a given time interval divided by number of women age 15–44 years in the area</a:t>
            </a:r>
          </a:p>
          <a:p>
            <a:r>
              <a:rPr lang="en-US" altLang="en-US" dirty="0"/>
              <a:t>Expressed as rate per 1,000 women age 15–44 years</a:t>
            </a:r>
          </a:p>
          <a:p>
            <a:endParaRPr lang="en-US"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F9BDAA54-7CD3-3D0D-883F-0064EA952691}"/>
                  </a:ext>
                </a:extLst>
              </p:cNvPr>
              <p:cNvSpPr>
                <a:spLocks noGrp="1"/>
              </p:cNvSpPr>
              <p:nvPr>
                <p:ph idx="1"/>
              </p:nvPr>
            </p:nvSpPr>
            <p:spPr/>
            <p:txBody>
              <a:bodyPr/>
              <a:lstStyle/>
              <a:p>
                <a:r>
                  <a:rPr lang="en-US" dirty="0"/>
                  <a:t>General Fertility Rate = </a:t>
                </a:r>
              </a:p>
              <a:p>
                <a14:m>
                  <m:oMath xmlns:m="http://schemas.openxmlformats.org/officeDocument/2006/math">
                    <m:f>
                      <m:fPr>
                        <m:ctrlPr>
                          <a:rPr lang="en-US" i="1" smtClean="0">
                            <a:effectLst/>
                            <a:latin typeface="Cambria Math" panose="02040503050406030204" pitchFamily="18" charset="0"/>
                            <a:cs typeface="Times New Roman" panose="02020603050405020304" pitchFamily="18" charset="0"/>
                          </a:rPr>
                        </m:ctrlPr>
                      </m:fPr>
                      <m:num>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𝑁𝑢𝑚𝑏𝑒𝑟</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𝑜𝑓</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𝑙𝑖𝑣𝑒</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𝑏𝑖𝑟𝑡h𝑠</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𝑤𝑖𝑡h𝑖𝑛</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𝑎</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𝑦𝑒𝑎𝑟</m:t>
                        </m:r>
                      </m:num>
                      <m:den>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𝑁𝑢𝑚𝑏𝑒𝑟</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𝑜𝑓</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𝑤𝑜𝑚𝑒𝑛</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𝑎𝑔𝑒</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 15 </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𝑡𝑜</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 44 </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𝑦𝑒𝑎𝑟𝑠</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m:t>
                        </m:r>
                      </m:den>
                    </m:f>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×1,000 </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𝑤𝑜𝑚𝑒𝑛</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𝑎𝑔𝑒</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 15 </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𝑡𝑜</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 44 </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𝑦𝑒𝑎𝑟𝑠</m:t>
                    </m:r>
                  </m:oMath>
                </a14:m>
                <a:endParaRPr lang="en-US" dirty="0"/>
              </a:p>
              <a:p>
                <a:r>
                  <a:rPr lang="en-US" dirty="0"/>
                  <a:t>Sample calculation: During 2020, there were 64,543,832 women age 15 to 44 in the U.S. There were 3,613,647 live births. The general fertility rate was 3,613,647/64,543,832 = 56.0 per 1,000 women age 15 to 44.</a:t>
                </a:r>
              </a:p>
              <a:p>
                <a:endParaRPr lang="en-US" dirty="0"/>
              </a:p>
            </p:txBody>
          </p:sp>
        </mc:Choice>
        <mc:Fallback xmlns="">
          <p:sp>
            <p:nvSpPr>
              <p:cNvPr id="4" name="Content Placeholder 3">
                <a:extLst>
                  <a:ext uri="{FF2B5EF4-FFF2-40B4-BE49-F238E27FC236}">
                    <a16:creationId xmlns:a16="http://schemas.microsoft.com/office/drawing/2014/main" id="{F9BDAA54-7CD3-3D0D-883F-0064EA952691}"/>
                  </a:ext>
                </a:extLst>
              </p:cNvPr>
              <p:cNvSpPr>
                <a:spLocks noGrp="1" noRot="1" noChangeAspect="1" noMove="1" noResize="1" noEditPoints="1" noAdjustHandles="1" noChangeArrowheads="1" noChangeShapeType="1" noTextEdit="1"/>
              </p:cNvSpPr>
              <p:nvPr>
                <p:ph idx="1"/>
              </p:nvPr>
            </p:nvSpPr>
            <p:spPr>
              <a:blipFill>
                <a:blip r:embed="rId2"/>
                <a:stretch>
                  <a:fillRect l="-960" t="-1285"/>
                </a:stretch>
              </a:blipFill>
            </p:spPr>
            <p:txBody>
              <a:bodyPr/>
              <a:lstStyle/>
              <a:p>
                <a:r>
                  <a:rPr lang="en-US">
                    <a:noFill/>
                  </a:rPr>
                  <a:t> </a:t>
                </a:r>
              </a:p>
            </p:txBody>
          </p:sp>
        </mc:Fallback>
      </mc:AlternateContent>
      <p:sp>
        <p:nvSpPr>
          <p:cNvPr id="6" name="Title 5">
            <a:extLst>
              <a:ext uri="{FF2B5EF4-FFF2-40B4-BE49-F238E27FC236}">
                <a16:creationId xmlns:a16="http://schemas.microsoft.com/office/drawing/2014/main" id="{F6935846-F956-F0F0-3135-CB4844E2F6C1}"/>
              </a:ext>
            </a:extLst>
          </p:cNvPr>
          <p:cNvSpPr>
            <a:spLocks noGrp="1"/>
          </p:cNvSpPr>
          <p:nvPr>
            <p:ph type="title"/>
          </p:nvPr>
        </p:nvSpPr>
        <p:spPr/>
        <p:txBody>
          <a:bodyPr/>
          <a:lstStyle/>
          <a:p>
            <a:r>
              <a:rPr lang="en-US" altLang="en-US" dirty="0"/>
              <a:t>General Fertility Rate (2 of 2)</a:t>
            </a: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a:xfrm>
            <a:off x="0" y="134482"/>
            <a:ext cx="13546138" cy="1113432"/>
          </a:xfrm>
        </p:spPr>
        <p:txBody>
          <a:bodyPr/>
          <a:lstStyle/>
          <a:p>
            <a:r>
              <a:rPr lang="en-US" altLang="en-US" dirty="0"/>
              <a:t>Conclusion (1 of 2)</a:t>
            </a:r>
          </a:p>
        </p:txBody>
      </p:sp>
      <p:sp>
        <p:nvSpPr>
          <p:cNvPr id="3" name="Content Placeholder 2"/>
          <p:cNvSpPr>
            <a:spLocks noGrp="1"/>
          </p:cNvSpPr>
          <p:nvPr>
            <p:ph idx="1"/>
          </p:nvPr>
        </p:nvSpPr>
        <p:spPr>
          <a:xfrm>
            <a:off x="1028660" y="1656523"/>
            <a:ext cx="11429554" cy="5221163"/>
          </a:xfrm>
        </p:spPr>
        <p:txBody>
          <a:bodyPr/>
          <a:lstStyle/>
          <a:p>
            <a:r>
              <a:rPr lang="en-US" dirty="0"/>
              <a:t>Ratios used in epidemiologic measures</a:t>
            </a:r>
          </a:p>
          <a:p>
            <a:pPr lvl="1"/>
            <a:r>
              <a:rPr lang="en-US" dirty="0"/>
              <a:t>Rate</a:t>
            </a:r>
          </a:p>
          <a:p>
            <a:pPr lvl="1"/>
            <a:r>
              <a:rPr lang="en-US" dirty="0"/>
              <a:t>Proportion</a:t>
            </a:r>
          </a:p>
          <a:p>
            <a:pPr lvl="1"/>
            <a:r>
              <a:rPr lang="en-US" dirty="0"/>
              <a:t>Percentage</a:t>
            </a:r>
          </a:p>
          <a:p>
            <a:r>
              <a:rPr lang="en-US" dirty="0"/>
              <a:t>Epidemiologic measures</a:t>
            </a:r>
          </a:p>
          <a:p>
            <a:pPr lvl="1"/>
            <a:r>
              <a:rPr lang="en-US" dirty="0"/>
              <a:t>Morbidity</a:t>
            </a:r>
          </a:p>
          <a:p>
            <a:pPr lvl="2"/>
            <a:r>
              <a:rPr lang="en-US" dirty="0"/>
              <a:t>Count</a:t>
            </a:r>
          </a:p>
          <a:p>
            <a:pPr lvl="2"/>
            <a:r>
              <a:rPr lang="en-US" dirty="0"/>
              <a:t>Incidence</a:t>
            </a:r>
          </a:p>
          <a:p>
            <a:pPr lvl="2"/>
            <a:r>
              <a:rPr lang="en-US" dirty="0"/>
              <a:t>Prevalence</a:t>
            </a:r>
          </a:p>
          <a:p>
            <a:pPr lvl="1"/>
            <a:r>
              <a:rPr lang="en-US" dirty="0"/>
              <a:t>Mortality	</a:t>
            </a:r>
          </a:p>
          <a:p>
            <a:pPr lvl="2"/>
            <a:r>
              <a:rPr lang="en-US" dirty="0"/>
              <a:t>Crude mortality rate</a:t>
            </a:r>
          </a:p>
          <a:p>
            <a:pPr lvl="2"/>
            <a:r>
              <a:rPr lang="en-US" dirty="0"/>
              <a:t>Case fatality rate</a:t>
            </a:r>
          </a:p>
          <a:p>
            <a:pPr lvl="2"/>
            <a:r>
              <a:rPr lang="en-US" dirty="0"/>
              <a:t>Proportional mortality ratio</a:t>
            </a:r>
          </a:p>
        </p:txBody>
      </p:sp>
    </p:spTree>
    <p:extLst>
      <p:ext uri="{BB962C8B-B14F-4D97-AF65-F5344CB8AC3E}">
        <p14:creationId xmlns:p14="http://schemas.microsoft.com/office/powerpoint/2010/main" val="554111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a:xfrm>
            <a:off x="0" y="134482"/>
            <a:ext cx="13546138" cy="1113432"/>
          </a:xfrm>
        </p:spPr>
        <p:txBody>
          <a:bodyPr/>
          <a:lstStyle/>
          <a:p>
            <a:r>
              <a:rPr lang="en-US" altLang="en-US" dirty="0"/>
              <a:t>Conclusion (2 of 2)</a:t>
            </a:r>
          </a:p>
        </p:txBody>
      </p:sp>
      <p:sp>
        <p:nvSpPr>
          <p:cNvPr id="3" name="Content Placeholder 2"/>
          <p:cNvSpPr>
            <a:spLocks noGrp="1"/>
          </p:cNvSpPr>
          <p:nvPr>
            <p:ph idx="1"/>
          </p:nvPr>
        </p:nvSpPr>
        <p:spPr>
          <a:xfrm>
            <a:off x="1028660" y="1656523"/>
            <a:ext cx="11429554" cy="5221163"/>
          </a:xfrm>
        </p:spPr>
        <p:txBody>
          <a:bodyPr/>
          <a:lstStyle/>
          <a:p>
            <a:r>
              <a:rPr lang="en-US" dirty="0"/>
              <a:t>Epidemiologic measures are helpful in:</a:t>
            </a:r>
          </a:p>
          <a:p>
            <a:pPr lvl="1"/>
            <a:r>
              <a:rPr lang="en-US" dirty="0"/>
              <a:t>Making descriptive statements about morbidity and mortality</a:t>
            </a:r>
          </a:p>
          <a:p>
            <a:pPr lvl="1"/>
            <a:r>
              <a:rPr lang="en-US" dirty="0"/>
              <a:t>Demonstrating risk of adverse health outcomes</a:t>
            </a:r>
          </a:p>
        </p:txBody>
      </p:sp>
    </p:spTree>
    <p:extLst>
      <p:ext uri="{BB962C8B-B14F-4D97-AF65-F5344CB8AC3E}">
        <p14:creationId xmlns:p14="http://schemas.microsoft.com/office/powerpoint/2010/main" val="1518471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Educational subjects 16x9">
  <a:themeElements>
    <a:clrScheme name="JBLPSG PPT 1">
      <a:dk1>
        <a:srgbClr val="3C4743"/>
      </a:dk1>
      <a:lt1>
        <a:srgbClr val="E1E1E1"/>
      </a:lt1>
      <a:dk2>
        <a:srgbClr val="000000"/>
      </a:dk2>
      <a:lt2>
        <a:srgbClr val="FFFFFF"/>
      </a:lt2>
      <a:accent1>
        <a:srgbClr val="FFC324"/>
      </a:accent1>
      <a:accent2>
        <a:srgbClr val="F05123"/>
      </a:accent2>
      <a:accent3>
        <a:srgbClr val="418AC9"/>
      </a:accent3>
      <a:accent4>
        <a:srgbClr val="B7B7B7"/>
      </a:accent4>
      <a:accent5>
        <a:srgbClr val="00B18A"/>
      </a:accent5>
      <a:accent6>
        <a:srgbClr val="7BABBF"/>
      </a:accent6>
      <a:hlink>
        <a:srgbClr val="004B91"/>
      </a:hlink>
      <a:folHlink>
        <a:srgbClr val="5C284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0001127.potx" id="{6B18C398-4F76-4BDC-B8A4-D02A96E0AA82}" vid="{FBF1AC64-E511-41D2-AA23-0E693E79CD7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2305</TotalTime>
  <Words>2569</Words>
  <Application>Microsoft Office PowerPoint</Application>
  <PresentationFormat>Custom</PresentationFormat>
  <Paragraphs>268</Paragraphs>
  <Slides>57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57</vt:i4>
      </vt:variant>
    </vt:vector>
  </HeadingPairs>
  <TitlesOfParts>
    <vt:vector size="63" baseType="lpstr">
      <vt:lpstr>Arial</vt:lpstr>
      <vt:lpstr>Calibri</vt:lpstr>
      <vt:lpstr>Cambria Math</vt:lpstr>
      <vt:lpstr>Times New Roman</vt:lpstr>
      <vt:lpstr>Wingdings</vt:lpstr>
      <vt:lpstr>Educational subjects 16x9</vt:lpstr>
      <vt:lpstr>Epidemiologic Measurements Used to Describe Disease Occurrence</vt:lpstr>
      <vt:lpstr>Learning Objectives</vt:lpstr>
      <vt:lpstr>Introduction</vt:lpstr>
      <vt:lpstr>Mathematical Terms Used in Epidemiology</vt:lpstr>
      <vt:lpstr>Figure 3-1 Definitions of mathematical terms that are used in epidemiology</vt:lpstr>
      <vt:lpstr>Ratio</vt:lpstr>
      <vt:lpstr>Example of a Ratio Calculation</vt:lpstr>
      <vt:lpstr>Proportion</vt:lpstr>
      <vt:lpstr>Example of a Proportion</vt:lpstr>
      <vt:lpstr>Percentage</vt:lpstr>
      <vt:lpstr>Rate</vt:lpstr>
      <vt:lpstr>General Information Regarding Epidemiologic Measures </vt:lpstr>
      <vt:lpstr>Types of Epidemiologic Measures</vt:lpstr>
      <vt:lpstr>Count</vt:lpstr>
      <vt:lpstr>Incidence</vt:lpstr>
      <vt:lpstr>Incidence Proportion</vt:lpstr>
      <vt:lpstr>Calculation of Cumulative Incidence: Female Lawyers and Heart Attack</vt:lpstr>
      <vt:lpstr>Incidence Rate </vt:lpstr>
      <vt:lpstr>Population at Risk</vt:lpstr>
      <vt:lpstr>Incidence Rate Formula </vt:lpstr>
      <vt:lpstr>Calculation of Incidence Rate:  Incidence Rate of HIV Infection</vt:lpstr>
      <vt:lpstr>Prevalence</vt:lpstr>
      <vt:lpstr>Point Prevalence</vt:lpstr>
      <vt:lpstr>Period Prevalence</vt:lpstr>
      <vt:lpstr>Lifetime Prevalence</vt:lpstr>
      <vt:lpstr>Interrelationships Between Incidence and Prevalence  (1 of 2)</vt:lpstr>
      <vt:lpstr>Interrelationships Between Incidence and Prevalence  (2 of 2)</vt:lpstr>
      <vt:lpstr>Figure 3-8 Factors influencing observed prevalence</vt:lpstr>
      <vt:lpstr>Measures of Disease Occurrence</vt:lpstr>
      <vt:lpstr>Figure 3-10 Life Expectancy at birth in the United States by Race, 1990–2017</vt:lpstr>
      <vt:lpstr>Epidemiologic Measures Related to Mortality</vt:lpstr>
      <vt:lpstr>Three Categories of Mortality Rates</vt:lpstr>
      <vt:lpstr>Crude Mortality Rate (1 of 2)</vt:lpstr>
      <vt:lpstr>Crude Mortality Rate (2 of 2)</vt:lpstr>
      <vt:lpstr>Crude Mortality Rate Calculation</vt:lpstr>
      <vt:lpstr>Reference Population</vt:lpstr>
      <vt:lpstr>Case Fatality Rate (CFR)</vt:lpstr>
      <vt:lpstr>Proportional Mortality Ratio (PMR%)</vt:lpstr>
      <vt:lpstr>Specific Mortality Rates</vt:lpstr>
      <vt:lpstr>Cause-Specific Mortality Rate</vt:lpstr>
      <vt:lpstr>Age-Specific Mortality Rate (R)</vt:lpstr>
      <vt:lpstr>Sex-Specific Mortality Rate </vt:lpstr>
      <vt:lpstr>Adjusted Mortality Rates</vt:lpstr>
      <vt:lpstr>Figure 3-12 Age-adjusted death rates, by sex and race and ethnicity: United States, 2019 and 2020</vt:lpstr>
      <vt:lpstr>Natality and Mortality Linked to Natality</vt:lpstr>
      <vt:lpstr>Maternal Mortality</vt:lpstr>
      <vt:lpstr>Maternal Mortality Rate</vt:lpstr>
      <vt:lpstr>Infant Mortality Rate</vt:lpstr>
      <vt:lpstr>Infant Mortality Rate (Formula)</vt:lpstr>
      <vt:lpstr>Fetal Mortality (1 of 2)</vt:lpstr>
      <vt:lpstr>Fetal Mortality (2 of 2)</vt:lpstr>
      <vt:lpstr>Crude Birth Rate (1 of 2)</vt:lpstr>
      <vt:lpstr>Crude Birth Rate (2 of 2)</vt:lpstr>
      <vt:lpstr>General Fertility Rate (1 of 2)</vt:lpstr>
      <vt:lpstr>General Fertility Rate (2 of 2)</vt:lpstr>
      <vt:lpstr>Conclusion (1 of 2)</vt:lpstr>
      <vt:lpstr>Conclusion (2 of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Google</dc:creator>
  <cp:lastModifiedBy>Nithyanandan.E</cp:lastModifiedBy>
  <cp:revision>157</cp:revision>
  <dcterms:created xsi:type="dcterms:W3CDTF">2004-05-06T09:28:21Z</dcterms:created>
  <dcterms:modified xsi:type="dcterms:W3CDTF">2024-01-31T12:05:43Z</dcterms:modified>
</cp:coreProperties>
</file>