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handoutMasterIdLst>
    <p:handoutMasterId r:id="rId61"/>
  </p:handoutMasterIdLst>
  <p:sldIdLst>
    <p:sldId id="323" r:id="rId2"/>
    <p:sldId id="257" r:id="rId3"/>
    <p:sldId id="258" r:id="rId4"/>
    <p:sldId id="280" r:id="rId5"/>
    <p:sldId id="260" r:id="rId6"/>
    <p:sldId id="302" r:id="rId7"/>
    <p:sldId id="259" r:id="rId8"/>
    <p:sldId id="264" r:id="rId9"/>
    <p:sldId id="263" r:id="rId10"/>
    <p:sldId id="262" r:id="rId11"/>
    <p:sldId id="265" r:id="rId12"/>
    <p:sldId id="266" r:id="rId13"/>
    <p:sldId id="318" r:id="rId14"/>
    <p:sldId id="267" r:id="rId15"/>
    <p:sldId id="268" r:id="rId16"/>
    <p:sldId id="269" r:id="rId17"/>
    <p:sldId id="270" r:id="rId18"/>
    <p:sldId id="272" r:id="rId19"/>
    <p:sldId id="271" r:id="rId20"/>
    <p:sldId id="273" r:id="rId21"/>
    <p:sldId id="274" r:id="rId22"/>
    <p:sldId id="275" r:id="rId23"/>
    <p:sldId id="276" r:id="rId24"/>
    <p:sldId id="277" r:id="rId25"/>
    <p:sldId id="279" r:id="rId26"/>
    <p:sldId id="319" r:id="rId27"/>
    <p:sldId id="278" r:id="rId28"/>
    <p:sldId id="281" r:id="rId29"/>
    <p:sldId id="282" r:id="rId30"/>
    <p:sldId id="283" r:id="rId31"/>
    <p:sldId id="320" r:id="rId32"/>
    <p:sldId id="284" r:id="rId33"/>
    <p:sldId id="285" r:id="rId34"/>
    <p:sldId id="286" r:id="rId35"/>
    <p:sldId id="287" r:id="rId36"/>
    <p:sldId id="288" r:id="rId37"/>
    <p:sldId id="289" r:id="rId38"/>
    <p:sldId id="290" r:id="rId39"/>
    <p:sldId id="291" r:id="rId40"/>
    <p:sldId id="292" r:id="rId41"/>
    <p:sldId id="306" r:id="rId42"/>
    <p:sldId id="293" r:id="rId43"/>
    <p:sldId id="294" r:id="rId44"/>
    <p:sldId id="295" r:id="rId45"/>
    <p:sldId id="321" r:id="rId46"/>
    <p:sldId id="296" r:id="rId47"/>
    <p:sldId id="297" r:id="rId48"/>
    <p:sldId id="298" r:id="rId49"/>
    <p:sldId id="299" r:id="rId50"/>
    <p:sldId id="300" r:id="rId51"/>
    <p:sldId id="301" r:id="rId52"/>
    <p:sldId id="309" r:id="rId53"/>
    <p:sldId id="310" r:id="rId54"/>
    <p:sldId id="311" r:id="rId55"/>
    <p:sldId id="312" r:id="rId56"/>
    <p:sldId id="315" r:id="rId57"/>
    <p:sldId id="316" r:id="rId58"/>
    <p:sldId id="317" r:id="rId59"/>
    <p:sldId id="313"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94"/>
  </p:normalViewPr>
  <p:slideViewPr>
    <p:cSldViewPr showGuides="1">
      <p:cViewPr varScale="1">
        <p:scale>
          <a:sx n="104" d="100"/>
          <a:sy n="104" d="100"/>
        </p:scale>
        <p:origin x="114" y="21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4915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4915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4915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84F01F4B-63BE-434D-B3F5-E54ED371C970}" type="slidenum">
              <a:rPr lang="en-US"/>
              <a:pPr>
                <a:defRPr/>
              </a:pPr>
              <a:t>‹#›</a:t>
            </a:fld>
            <a:endParaRPr lang="en-US"/>
          </a:p>
        </p:txBody>
      </p:sp>
    </p:spTree>
    <p:extLst>
      <p:ext uri="{BB962C8B-B14F-4D97-AF65-F5344CB8AC3E}">
        <p14:creationId xmlns:p14="http://schemas.microsoft.com/office/powerpoint/2010/main" val="2992928838"/>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bwMode="invGray">
      <p:bgPr>
        <a:solidFill>
          <a:srgbClr val="003B74"/>
        </a:solidFill>
        <a:effectLst/>
      </p:bgPr>
    </p:bg>
    <p:spTree>
      <p:nvGrpSpPr>
        <p:cNvPr id="1" name=""/>
        <p:cNvGrpSpPr/>
        <p:nvPr/>
      </p:nvGrpSpPr>
      <p:grpSpPr>
        <a:xfrm>
          <a:off x="0" y="0"/>
          <a:ext cx="0" cy="0"/>
          <a:chOff x="0" y="0"/>
          <a:chExt cx="0" cy="0"/>
        </a:xfrm>
      </p:grpSpPr>
      <p:sp>
        <p:nvSpPr>
          <p:cNvPr id="9" name="Rectangle 8"/>
          <p:cNvSpPr/>
          <p:nvPr/>
        </p:nvSpPr>
        <p:spPr>
          <a:xfrm>
            <a:off x="0" y="1851660"/>
            <a:ext cx="12192000" cy="377190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10" name="Rectangle 9"/>
          <p:cNvSpPr/>
          <p:nvPr/>
        </p:nvSpPr>
        <p:spPr>
          <a:xfrm>
            <a:off x="-1" y="701802"/>
            <a:ext cx="12192001" cy="10332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1"/>
          <p:cNvSpPr>
            <a:spLocks noGrp="1"/>
          </p:cNvSpPr>
          <p:nvPr>
            <p:ph type="ctrTitle" hasCustomPrompt="1"/>
          </p:nvPr>
        </p:nvSpPr>
        <p:spPr bwMode="black">
          <a:xfrm>
            <a:off x="882217" y="2200275"/>
            <a:ext cx="6421553" cy="3074670"/>
          </a:xfrm>
          <a:noFill/>
        </p:spPr>
        <p:txBody>
          <a:bodyPr lIns="0" tIns="0" rIns="0" bIns="0" anchor="ctr" anchorCtr="0">
            <a:normAutofit/>
          </a:bodyPr>
          <a:lstStyle>
            <a:lvl1pPr algn="l">
              <a:lnSpc>
                <a:spcPct val="90000"/>
              </a:lnSpc>
              <a:defRPr sz="6000" b="1">
                <a:solidFill>
                  <a:schemeClr val="tx1"/>
                </a:solidFill>
              </a:defRPr>
            </a:lvl1pPr>
          </a:lstStyle>
          <a:p>
            <a:r>
              <a:rPr lang="en-US" dirty="0"/>
              <a:t>Chapter Title</a:t>
            </a:r>
            <a:endParaRPr dirty="0"/>
          </a:p>
        </p:txBody>
      </p:sp>
      <p:sp>
        <p:nvSpPr>
          <p:cNvPr id="3" name="Subtitle 2"/>
          <p:cNvSpPr>
            <a:spLocks noGrp="1"/>
          </p:cNvSpPr>
          <p:nvPr>
            <p:ph type="subTitle" idx="1" hasCustomPrompt="1"/>
          </p:nvPr>
        </p:nvSpPr>
        <p:spPr>
          <a:xfrm>
            <a:off x="882217" y="845820"/>
            <a:ext cx="6524423" cy="777639"/>
          </a:xfrm>
        </p:spPr>
        <p:txBody>
          <a:bodyPr lIns="0" tIns="0" rIns="0" bIns="0" anchor="ctr" anchorCtr="0">
            <a:normAutofit/>
          </a:bodyPr>
          <a:lstStyle>
            <a:lvl1pPr marL="0" indent="0" algn="l">
              <a:spcBef>
                <a:spcPts val="0"/>
              </a:spcBef>
              <a:buNone/>
              <a:defRPr sz="3200" b="1">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1</a:t>
            </a:r>
            <a:endParaRPr dirty="0"/>
          </a:p>
        </p:txBody>
      </p:sp>
      <p:sp>
        <p:nvSpPr>
          <p:cNvPr id="7" name="Picture Placeholder 6">
            <a:extLst>
              <a:ext uri="{FF2B5EF4-FFF2-40B4-BE49-F238E27FC236}">
                <a16:creationId xmlns:a16="http://schemas.microsoft.com/office/drawing/2014/main" id="{EC9CFE91-0E8B-934B-8D25-5CBB7FD65D50}"/>
              </a:ext>
            </a:extLst>
          </p:cNvPr>
          <p:cNvSpPr>
            <a:spLocks noGrp="1"/>
          </p:cNvSpPr>
          <p:nvPr>
            <p:ph type="pic" sz="quarter" idx="10"/>
          </p:nvPr>
        </p:nvSpPr>
        <p:spPr>
          <a:xfrm>
            <a:off x="8100060" y="388500"/>
            <a:ext cx="3604981" cy="6081000"/>
          </a:xfrm>
        </p:spPr>
        <p:txBody>
          <a:bodyPr/>
          <a:lstStyle/>
          <a:p>
            <a:r>
              <a:rPr lang="en-US"/>
              <a:t>Click icon to add picture</a:t>
            </a:r>
          </a:p>
        </p:txBody>
      </p:sp>
      <p:sp>
        <p:nvSpPr>
          <p:cNvPr id="17" name="Rectangle 16">
            <a:extLst>
              <a:ext uri="{FF2B5EF4-FFF2-40B4-BE49-F238E27FC236}">
                <a16:creationId xmlns:a16="http://schemas.microsoft.com/office/drawing/2014/main" id="{BEEECFBC-FB4D-9945-A4FF-28E342055AC3}"/>
              </a:ext>
            </a:extLst>
          </p:cNvPr>
          <p:cNvSpPr/>
          <p:nvPr/>
        </p:nvSpPr>
        <p:spPr>
          <a:xfrm>
            <a:off x="0" y="6503670"/>
            <a:ext cx="12192000" cy="215444"/>
          </a:xfrm>
          <a:prstGeom prst="rect">
            <a:avLst/>
          </a:prstGeom>
        </p:spPr>
        <p:txBody>
          <a:bodyPr wrap="square">
            <a:spAutoFit/>
          </a:bodyPr>
          <a:lstStyle/>
          <a:p>
            <a:pPr algn="ctr"/>
            <a:r>
              <a:rPr lang="en-US" sz="800" dirty="0">
                <a:solidFill>
                  <a:schemeClr val="bg2"/>
                </a:solidFill>
                <a:latin typeface="Arial" panose="020B0604020202020204" pitchFamily="34" charset="0"/>
                <a:cs typeface="Arial" panose="020B0604020202020204" pitchFamily="34" charset="0"/>
              </a:rPr>
              <a:t>Copyright © 2025 by Jones &amp; Bartlett Learning, LLC an Ascend Learning Company. </a:t>
            </a:r>
            <a:r>
              <a:rPr lang="en-US" sz="800" dirty="0" err="1">
                <a:solidFill>
                  <a:schemeClr val="bg2"/>
                </a:solidFill>
                <a:latin typeface="Arial" panose="020B0604020202020204" pitchFamily="34" charset="0"/>
                <a:cs typeface="Arial" panose="020B0604020202020204" pitchFamily="34" charset="0"/>
              </a:rPr>
              <a:t>www.jblearning.com</a:t>
            </a:r>
            <a:r>
              <a:rPr lang="en-US" sz="800" dirty="0">
                <a:solidFill>
                  <a:schemeClr val="bg2"/>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67229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1E3BDFD-7FA5-2143-88E5-0CEE0A6011AD}"/>
              </a:ext>
            </a:extLst>
          </p:cNvPr>
          <p:cNvSpPr/>
          <p:nvPr/>
        </p:nvSpPr>
        <p:spPr>
          <a:xfrm>
            <a:off x="0" y="6503670"/>
            <a:ext cx="12192000" cy="215444"/>
          </a:xfrm>
          <a:prstGeom prst="rect">
            <a:avLst/>
          </a:prstGeom>
        </p:spPr>
        <p:txBody>
          <a:bodyPr wrap="square">
            <a:spAutoFit/>
          </a:bodyPr>
          <a:lstStyle/>
          <a:p>
            <a:pPr algn="ctr"/>
            <a:r>
              <a:rPr lang="en-US" sz="800" dirty="0">
                <a:latin typeface="Arial" panose="020B0604020202020204" pitchFamily="34" charset="0"/>
                <a:cs typeface="Arial" panose="020B0604020202020204" pitchFamily="34" charset="0"/>
              </a:rPr>
              <a:t>Copyright © 2020 by Jones &amp; Bartlett Learning, LLC an Ascend Learning Company. www.jblearning.com. Background texture © </a:t>
            </a:r>
            <a:r>
              <a:rPr lang="en-US" sz="800" dirty="0" err="1">
                <a:latin typeface="Arial" panose="020B0604020202020204" pitchFamily="34" charset="0"/>
                <a:cs typeface="Arial" panose="020B0604020202020204" pitchFamily="34" charset="0"/>
              </a:rPr>
              <a:t>Bunphot</a:t>
            </a:r>
            <a:r>
              <a:rPr lang="en-US" sz="800" dirty="0">
                <a:latin typeface="Arial" panose="020B0604020202020204" pitchFamily="34" charset="0"/>
                <a:cs typeface="Arial" panose="020B0604020202020204" pitchFamily="34" charset="0"/>
              </a:rPr>
              <a:t>/Getty Images.</a:t>
            </a:r>
          </a:p>
        </p:txBody>
      </p:sp>
      <p:sp>
        <p:nvSpPr>
          <p:cNvPr id="6" name="Rectangle 5">
            <a:extLst>
              <a:ext uri="{FF2B5EF4-FFF2-40B4-BE49-F238E27FC236}">
                <a16:creationId xmlns:a16="http://schemas.microsoft.com/office/drawing/2014/main" id="{A4FD052D-18CE-1249-A891-AB3E165F4441}"/>
              </a:ext>
            </a:extLst>
          </p:cNvPr>
          <p:cNvSpPr/>
          <p:nvPr/>
        </p:nvSpPr>
        <p:spPr>
          <a:xfrm>
            <a:off x="0" y="2274570"/>
            <a:ext cx="12192000" cy="1760220"/>
          </a:xfrm>
          <a:prstGeom prst="rect">
            <a:avLst/>
          </a:prstGeom>
          <a:solidFill>
            <a:srgbClr val="003B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8C0E0F34-F7A9-8D4B-9F49-A76F8B00661D}"/>
              </a:ext>
            </a:extLst>
          </p:cNvPr>
          <p:cNvSpPr>
            <a:spLocks noGrp="1"/>
          </p:cNvSpPr>
          <p:nvPr>
            <p:ph type="body" sz="quarter" idx="10" hasCustomPrompt="1"/>
          </p:nvPr>
        </p:nvSpPr>
        <p:spPr>
          <a:xfrm>
            <a:off x="935038" y="2571750"/>
            <a:ext cx="10321925" cy="1165225"/>
          </a:xfrm>
        </p:spPr>
        <p:txBody>
          <a:bodyPr anchor="ctr" anchorCtr="0"/>
          <a:lstStyle>
            <a:lvl1pPr marL="0" indent="0" algn="ctr">
              <a:buNone/>
              <a:defRPr sz="4800" b="1">
                <a:solidFill>
                  <a:srgbClr val="FFFFFF"/>
                </a:solidFill>
              </a:defRPr>
            </a:lvl1pPr>
          </a:lstStyle>
          <a:p>
            <a:pPr lvl="0"/>
            <a:r>
              <a:rPr lang="en-US" dirty="0"/>
              <a:t>Divider</a:t>
            </a:r>
          </a:p>
        </p:txBody>
      </p:sp>
    </p:spTree>
    <p:extLst>
      <p:ext uri="{BB962C8B-B14F-4D97-AF65-F5344CB8AC3E}">
        <p14:creationId xmlns:p14="http://schemas.microsoft.com/office/powerpoint/2010/main" val="1884698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
        <p:nvSpPr>
          <p:cNvPr id="3" name="Content Placeholder 2"/>
          <p:cNvSpPr>
            <a:spLocks noGrp="1"/>
          </p:cNvSpPr>
          <p:nvPr>
            <p:ph idx="1"/>
          </p:nvPr>
        </p:nvSpPr>
        <p:spPr>
          <a:xfrm>
            <a:off x="925830" y="1490870"/>
            <a:ext cx="10287000" cy="4699047"/>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3928690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
        <p:nvSpPr>
          <p:cNvPr id="3" name="Content Placeholder 2"/>
          <p:cNvSpPr>
            <a:spLocks noGrp="1"/>
          </p:cNvSpPr>
          <p:nvPr>
            <p:ph sz="half" idx="1"/>
          </p:nvPr>
        </p:nvSpPr>
        <p:spPr>
          <a:xfrm>
            <a:off x="914400" y="1461052"/>
            <a:ext cx="4855464" cy="47294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6415368" y="1461052"/>
            <a:ext cx="4862232" cy="47294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968614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3" name="Text Placeholder 2"/>
          <p:cNvSpPr>
            <a:spLocks noGrp="1"/>
          </p:cNvSpPr>
          <p:nvPr>
            <p:ph type="body" idx="1"/>
          </p:nvPr>
        </p:nvSpPr>
        <p:spPr>
          <a:xfrm>
            <a:off x="777240" y="1496187"/>
            <a:ext cx="4992624" cy="470916"/>
          </a:xfrm>
        </p:spPr>
        <p:txBody>
          <a:bodyPr anchor="t" anchorCtr="0"/>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77240" y="2077278"/>
            <a:ext cx="4992624" cy="43908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1" name="Picture Placeholder 10">
            <a:extLst>
              <a:ext uri="{FF2B5EF4-FFF2-40B4-BE49-F238E27FC236}">
                <a16:creationId xmlns:a16="http://schemas.microsoft.com/office/drawing/2014/main" id="{A3169499-437D-8F4D-94AA-E2299357328F}"/>
              </a:ext>
            </a:extLst>
          </p:cNvPr>
          <p:cNvSpPr>
            <a:spLocks noGrp="1"/>
          </p:cNvSpPr>
          <p:nvPr>
            <p:ph type="pic" sz="quarter" idx="10"/>
          </p:nvPr>
        </p:nvSpPr>
        <p:spPr>
          <a:xfrm>
            <a:off x="6096000" y="1496186"/>
            <a:ext cx="5208588" cy="4556743"/>
          </a:xfrm>
        </p:spPr>
        <p:txBody>
          <a:bodyPr/>
          <a:lstStyle/>
          <a:p>
            <a:r>
              <a:rPr lang="en-US"/>
              <a:t>Click icon to add picture</a:t>
            </a:r>
          </a:p>
        </p:txBody>
      </p:sp>
      <p:sp>
        <p:nvSpPr>
          <p:cNvPr id="12" name="Text Placeholder 8">
            <a:extLst>
              <a:ext uri="{FF2B5EF4-FFF2-40B4-BE49-F238E27FC236}">
                <a16:creationId xmlns:a16="http://schemas.microsoft.com/office/drawing/2014/main" id="{B116746D-2971-C346-AB96-03BED323E049}"/>
              </a:ext>
            </a:extLst>
          </p:cNvPr>
          <p:cNvSpPr>
            <a:spLocks noGrp="1"/>
          </p:cNvSpPr>
          <p:nvPr>
            <p:ph type="body" sz="quarter" idx="11" hasCustomPrompt="1"/>
          </p:nvPr>
        </p:nvSpPr>
        <p:spPr>
          <a:xfrm>
            <a:off x="6096000" y="6142515"/>
            <a:ext cx="5208588" cy="651192"/>
          </a:xfrm>
        </p:spPr>
        <p:txBody>
          <a:bodyPr/>
          <a:lstStyle>
            <a:lvl1pPr marL="0" indent="0">
              <a:buNone/>
              <a:defRPr sz="1000"/>
            </a:lvl1pPr>
          </a:lstStyle>
          <a:p>
            <a:pPr lvl="0"/>
            <a:r>
              <a:rPr lang="en-US" dirty="0"/>
              <a:t>Credit line FPO</a:t>
            </a:r>
          </a:p>
        </p:txBody>
      </p:sp>
    </p:spTree>
    <p:extLst>
      <p:ext uri="{BB962C8B-B14F-4D97-AF65-F5344CB8AC3E}">
        <p14:creationId xmlns:p14="http://schemas.microsoft.com/office/powerpoint/2010/main" val="4205914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Tree>
    <p:extLst>
      <p:ext uri="{BB962C8B-B14F-4D97-AF65-F5344CB8AC3E}">
        <p14:creationId xmlns:p14="http://schemas.microsoft.com/office/powerpoint/2010/main" val="2785115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4" name="Text Placeholder 2"/>
          <p:cNvSpPr>
            <a:spLocks noGrp="1"/>
          </p:cNvSpPr>
          <p:nvPr>
            <p:ph type="body" sz="half" idx="2"/>
          </p:nvPr>
        </p:nvSpPr>
        <p:spPr>
          <a:xfrm>
            <a:off x="880110" y="1510748"/>
            <a:ext cx="4246582" cy="4404625"/>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ext Placeholder 8">
            <a:extLst>
              <a:ext uri="{FF2B5EF4-FFF2-40B4-BE49-F238E27FC236}">
                <a16:creationId xmlns:a16="http://schemas.microsoft.com/office/drawing/2014/main" id="{752B3F09-47B3-324C-BCD8-DE2A52443CC0}"/>
              </a:ext>
            </a:extLst>
          </p:cNvPr>
          <p:cNvSpPr>
            <a:spLocks noGrp="1"/>
          </p:cNvSpPr>
          <p:nvPr>
            <p:ph type="body" sz="quarter" idx="10" hasCustomPrompt="1"/>
          </p:nvPr>
        </p:nvSpPr>
        <p:spPr>
          <a:xfrm>
            <a:off x="5518150" y="6046788"/>
            <a:ext cx="5792992" cy="651192"/>
          </a:xfrm>
        </p:spPr>
        <p:txBody>
          <a:bodyPr/>
          <a:lstStyle>
            <a:lvl1pPr marL="0" indent="0">
              <a:buNone/>
              <a:defRPr sz="1000"/>
            </a:lvl1pPr>
          </a:lstStyle>
          <a:p>
            <a:pPr lvl="0"/>
            <a:r>
              <a:rPr lang="en-US" dirty="0"/>
              <a:t>Credit line FPO</a:t>
            </a:r>
          </a:p>
        </p:txBody>
      </p:sp>
      <p:sp>
        <p:nvSpPr>
          <p:cNvPr id="11" name="Picture Placeholder 10">
            <a:extLst>
              <a:ext uri="{FF2B5EF4-FFF2-40B4-BE49-F238E27FC236}">
                <a16:creationId xmlns:a16="http://schemas.microsoft.com/office/drawing/2014/main" id="{8A3226D5-00A8-E049-8469-4BFBE39DD467}"/>
              </a:ext>
            </a:extLst>
          </p:cNvPr>
          <p:cNvSpPr>
            <a:spLocks noGrp="1"/>
          </p:cNvSpPr>
          <p:nvPr>
            <p:ph type="pic" sz="quarter" idx="11"/>
          </p:nvPr>
        </p:nvSpPr>
        <p:spPr>
          <a:xfrm>
            <a:off x="5518150" y="1508815"/>
            <a:ext cx="5792788" cy="4404624"/>
          </a:xfrm>
        </p:spPr>
        <p:txBody>
          <a:bodyPr/>
          <a:lstStyle/>
          <a:p>
            <a:r>
              <a:rPr lang="en-US"/>
              <a:t>Click icon to add picture</a:t>
            </a:r>
          </a:p>
        </p:txBody>
      </p:sp>
    </p:spTree>
    <p:extLst>
      <p:ext uri="{BB962C8B-B14F-4D97-AF65-F5344CB8AC3E}">
        <p14:creationId xmlns:p14="http://schemas.microsoft.com/office/powerpoint/2010/main" val="587358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3" name="Content Placeholder 3"/>
          <p:cNvSpPr>
            <a:spLocks noGrp="1"/>
          </p:cNvSpPr>
          <p:nvPr>
            <p:ph idx="1" hasCustomPrompt="1"/>
          </p:nvPr>
        </p:nvSpPr>
        <p:spPr>
          <a:xfrm>
            <a:off x="921496" y="1461052"/>
            <a:ext cx="3181874" cy="4895328"/>
          </a:xfrm>
        </p:spPr>
        <p:txBody>
          <a:bodyPr>
            <a:normAutofit/>
          </a:bodyPr>
          <a:lstStyle>
            <a:lvl1pPr marL="0" indent="0">
              <a:buNone/>
              <a:defRPr sz="2200"/>
            </a:lvl1pPr>
            <a:lvl2pPr marL="457200" indent="0">
              <a:buNone/>
              <a:defRPr sz="2000"/>
            </a:lvl2pPr>
            <a:lvl3pPr marL="914400" indent="0">
              <a:buNone/>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en-US" dirty="0"/>
              <a:t>Sample text</a:t>
            </a:r>
            <a:endParaRPr dirty="0"/>
          </a:p>
        </p:txBody>
      </p:sp>
      <p:sp>
        <p:nvSpPr>
          <p:cNvPr id="7" name="Content Placeholder 3">
            <a:extLst>
              <a:ext uri="{FF2B5EF4-FFF2-40B4-BE49-F238E27FC236}">
                <a16:creationId xmlns:a16="http://schemas.microsoft.com/office/drawing/2014/main" id="{40A1ED7B-82D7-5A47-A193-C7C24693D3C4}"/>
              </a:ext>
            </a:extLst>
          </p:cNvPr>
          <p:cNvSpPr>
            <a:spLocks noGrp="1"/>
          </p:cNvSpPr>
          <p:nvPr>
            <p:ph idx="10" hasCustomPrompt="1"/>
          </p:nvPr>
        </p:nvSpPr>
        <p:spPr>
          <a:xfrm>
            <a:off x="448765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
        <p:nvSpPr>
          <p:cNvPr id="8" name="Content Placeholder 3">
            <a:extLst>
              <a:ext uri="{FF2B5EF4-FFF2-40B4-BE49-F238E27FC236}">
                <a16:creationId xmlns:a16="http://schemas.microsoft.com/office/drawing/2014/main" id="{43872FE9-5E92-4F44-8A71-024A081C439C}"/>
              </a:ext>
            </a:extLst>
          </p:cNvPr>
          <p:cNvSpPr>
            <a:spLocks noGrp="1"/>
          </p:cNvSpPr>
          <p:nvPr>
            <p:ph idx="11" hasCustomPrompt="1"/>
          </p:nvPr>
        </p:nvSpPr>
        <p:spPr>
          <a:xfrm>
            <a:off x="805381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Tree>
    <p:extLst>
      <p:ext uri="{BB962C8B-B14F-4D97-AF65-F5344CB8AC3E}">
        <p14:creationId xmlns:p14="http://schemas.microsoft.com/office/powerpoint/2010/main" val="1894230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3AD2C71-016A-4E64-B3FE-6460715234F4}" type="slidenum">
              <a:rPr lang="en-US"/>
              <a:pPr>
                <a:defRPr/>
              </a:pPr>
              <a:t>‹#›</a:t>
            </a:fld>
            <a:endParaRPr lang="en-US"/>
          </a:p>
        </p:txBody>
      </p:sp>
    </p:spTree>
    <p:extLst>
      <p:ext uri="{BB962C8B-B14F-4D97-AF65-F5344CB8AC3E}">
        <p14:creationId xmlns:p14="http://schemas.microsoft.com/office/powerpoint/2010/main" val="34830128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F27E6BD6-3733-453D-852F-38303991EC50}" type="slidenum">
              <a:rPr lang="en-US"/>
              <a:pPr>
                <a:defRPr/>
              </a:pPr>
              <a:t>‹#›</a:t>
            </a:fld>
            <a:endParaRPr lang="en-US"/>
          </a:p>
        </p:txBody>
      </p:sp>
    </p:spTree>
    <p:extLst>
      <p:ext uri="{BB962C8B-B14F-4D97-AF65-F5344CB8AC3E}">
        <p14:creationId xmlns:p14="http://schemas.microsoft.com/office/powerpoint/2010/main" val="2010998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2188952" cy="1188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Placeholder 1"/>
          <p:cNvSpPr>
            <a:spLocks noGrp="1"/>
          </p:cNvSpPr>
          <p:nvPr>
            <p:ph type="title"/>
          </p:nvPr>
        </p:nvSpPr>
        <p:spPr bwMode="black">
          <a:xfrm>
            <a:off x="0" y="121033"/>
            <a:ext cx="12192000" cy="1002089"/>
          </a:xfrm>
          <a:prstGeom prst="rect">
            <a:avLst/>
          </a:prstGeom>
          <a:solidFill>
            <a:srgbClr val="003B74"/>
          </a:solidFill>
        </p:spPr>
        <p:txBody>
          <a:bodyPr vert="horz" lIns="914400" tIns="45720" rIns="914400" bIns="45720" rtlCol="0" anchor="ctr">
            <a:normAutofit/>
          </a:bodyPr>
          <a:lstStyle/>
          <a:p>
            <a:r>
              <a:rPr lang="en-US"/>
              <a:t>Click to edit Master title style</a:t>
            </a:r>
            <a:endParaRPr dirty="0"/>
          </a:p>
        </p:txBody>
      </p:sp>
      <p:sp>
        <p:nvSpPr>
          <p:cNvPr id="3" name="Text Placeholder 2"/>
          <p:cNvSpPr>
            <a:spLocks noGrp="1"/>
          </p:cNvSpPr>
          <p:nvPr>
            <p:ph type="body" idx="1"/>
          </p:nvPr>
        </p:nvSpPr>
        <p:spPr>
          <a:xfrm>
            <a:off x="891540" y="2203704"/>
            <a:ext cx="10435590" cy="3986213"/>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7" name="Rectangle 6">
            <a:extLst>
              <a:ext uri="{FF2B5EF4-FFF2-40B4-BE49-F238E27FC236}">
                <a16:creationId xmlns:a16="http://schemas.microsoft.com/office/drawing/2014/main" id="{21F38BD8-3F75-CE4C-AFEF-0C6B45F77F8C}"/>
              </a:ext>
            </a:extLst>
          </p:cNvPr>
          <p:cNvSpPr/>
          <p:nvPr/>
        </p:nvSpPr>
        <p:spPr>
          <a:xfrm rot="5400000">
            <a:off x="9544258" y="4245031"/>
            <a:ext cx="5010495" cy="215444"/>
          </a:xfrm>
          <a:prstGeom prst="rect">
            <a:avLst/>
          </a:prstGeom>
        </p:spPr>
        <p:txBody>
          <a:bodyPr wrap="square">
            <a:spAutoFit/>
          </a:bodyPr>
          <a:lstStyle/>
          <a:p>
            <a:r>
              <a:rPr lang="en-US" sz="800" dirty="0">
                <a:latin typeface="Arial" panose="020B0604020202020204" pitchFamily="34" charset="0"/>
                <a:cs typeface="Arial" panose="020B0604020202020204" pitchFamily="34" charset="0"/>
              </a:rPr>
              <a:t>Copyright © 2025 by Jones &amp; Bartlett Learning, LLC an Ascend Learning Company. </a:t>
            </a:r>
            <a:r>
              <a:rPr lang="en-US" sz="800" dirty="0" err="1">
                <a:latin typeface="Arial" panose="020B0604020202020204" pitchFamily="34" charset="0"/>
                <a:cs typeface="Arial" panose="020B0604020202020204" pitchFamily="34" charset="0"/>
              </a:rPr>
              <a:t>www.jblearning.com</a:t>
            </a:r>
            <a:endParaRPr lang="en-US"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932667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2" r:id="rId9"/>
    <p:sldLayoutId id="2147483683"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5000"/>
        </a:lnSpc>
        <a:spcBef>
          <a:spcPct val="0"/>
        </a:spcBef>
        <a:buNone/>
        <a:defRPr sz="3000" b="1" kern="1200">
          <a:solidFill>
            <a:schemeClr val="bg2"/>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300"/>
        </a:spcBef>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300"/>
        </a:spcBef>
        <a:buFont typeface="Wingdings" panose="05000000000000000000" pitchFamily="2" charset="2"/>
        <a:buChar char="§"/>
        <a:defRPr sz="22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buFont typeface="Wingdings" panose="05000000000000000000" pitchFamily="2" charset="2"/>
        <a:buChar char="§"/>
        <a:defRPr sz="22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buFont typeface="Wingdings" panose="05000000000000000000" pitchFamily="2" charset="2"/>
        <a:buChar char="§"/>
        <a:defRPr sz="2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ubtitle 14">
            <a:extLst>
              <a:ext uri="{FF2B5EF4-FFF2-40B4-BE49-F238E27FC236}">
                <a16:creationId xmlns:a16="http://schemas.microsoft.com/office/drawing/2014/main" id="{CF4F1586-DE6A-1A40-AEF4-23ADA41937E4}"/>
              </a:ext>
            </a:extLst>
          </p:cNvPr>
          <p:cNvSpPr>
            <a:spLocks noGrp="1"/>
          </p:cNvSpPr>
          <p:nvPr>
            <p:ph type="subTitle" idx="1"/>
          </p:nvPr>
        </p:nvSpPr>
        <p:spPr/>
        <p:txBody>
          <a:bodyPr/>
          <a:lstStyle/>
          <a:p>
            <a:r>
              <a:rPr lang="en-US" dirty="0"/>
              <a:t>CHAPTER 10</a:t>
            </a:r>
          </a:p>
        </p:txBody>
      </p:sp>
      <p:sp>
        <p:nvSpPr>
          <p:cNvPr id="19" name="Title 18">
            <a:extLst>
              <a:ext uri="{FF2B5EF4-FFF2-40B4-BE49-F238E27FC236}">
                <a16:creationId xmlns:a16="http://schemas.microsoft.com/office/drawing/2014/main" id="{A58A35F8-EA88-094E-8EAD-88FE6A07C447}"/>
              </a:ext>
            </a:extLst>
          </p:cNvPr>
          <p:cNvSpPr>
            <a:spLocks noGrp="1"/>
          </p:cNvSpPr>
          <p:nvPr>
            <p:ph type="ctrTitle"/>
          </p:nvPr>
        </p:nvSpPr>
        <p:spPr/>
        <p:txBody>
          <a:bodyPr>
            <a:normAutofit fontScale="90000"/>
          </a:bodyPr>
          <a:lstStyle/>
          <a:p>
            <a:r>
              <a:rPr lang="en-US" dirty="0"/>
              <a:t>Infectious Diseases and Outbreak Investigation</a:t>
            </a:r>
          </a:p>
        </p:txBody>
      </p:sp>
      <p:pic>
        <p:nvPicPr>
          <p:cNvPr id="3" name="Picture 2">
            <a:extLst>
              <a:ext uri="{FF2B5EF4-FFF2-40B4-BE49-F238E27FC236}">
                <a16:creationId xmlns:a16="http://schemas.microsoft.com/office/drawing/2014/main" id="{4DAD0EDA-0872-EBD0-2942-A00FBEF2EBF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174187" y="300037"/>
            <a:ext cx="3713901" cy="6257923"/>
          </a:xfrm>
          <a:prstGeom prst="rect">
            <a:avLst/>
          </a:prstGeom>
        </p:spPr>
      </p:pic>
    </p:spTree>
    <p:extLst>
      <p:ext uri="{BB962C8B-B14F-4D97-AF65-F5344CB8AC3E}">
        <p14:creationId xmlns:p14="http://schemas.microsoft.com/office/powerpoint/2010/main" val="17326983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0" y="121033"/>
            <a:ext cx="12192000" cy="1002089"/>
          </a:xfrm>
        </p:spPr>
        <p:txBody>
          <a:bodyPr/>
          <a:lstStyle/>
          <a:p>
            <a:r>
              <a:rPr lang="en-US" altLang="en-US"/>
              <a:t>Learning Objectives</a:t>
            </a:r>
            <a:endParaRPr lang="en-US" altLang="en-US" dirty="0"/>
          </a:p>
        </p:txBody>
      </p:sp>
      <p:sp>
        <p:nvSpPr>
          <p:cNvPr id="3075" name="Rectangle 3"/>
          <p:cNvSpPr>
            <a:spLocks noGrp="1" noChangeArrowheads="1"/>
          </p:cNvSpPr>
          <p:nvPr>
            <p:ph idx="1"/>
          </p:nvPr>
        </p:nvSpPr>
        <p:spPr>
          <a:xfrm>
            <a:off x="925830" y="1490870"/>
            <a:ext cx="10287000" cy="4699047"/>
          </a:xfrm>
        </p:spPr>
        <p:txBody>
          <a:bodyPr/>
          <a:lstStyle/>
          <a:p>
            <a:pPr lvl="0"/>
            <a:r>
              <a:rPr lang="en-US"/>
              <a:t>Apply the epidemiologic triangle to the transmission of communicable diseases.</a:t>
            </a:r>
          </a:p>
          <a:p>
            <a:pPr lvl="0"/>
            <a:r>
              <a:rPr lang="en-US"/>
              <a:t>Name and compare three microbial agents associated with infectious diseases.</a:t>
            </a:r>
          </a:p>
          <a:p>
            <a:pPr lvl="0"/>
            <a:r>
              <a:rPr lang="en-US"/>
              <a:t>Explain host differences in infectious disease susceptibility.</a:t>
            </a:r>
          </a:p>
          <a:p>
            <a:pPr lvl="0"/>
            <a:r>
              <a:rPr lang="en-US"/>
              <a:t>Describe the relationship between the environment and infectious disease transmission.</a:t>
            </a:r>
          </a:p>
          <a:p>
            <a:r>
              <a:rPr lang="en-US"/>
              <a:t>Sequence the procedures for investigating infectious disease outbreaks.</a:t>
            </a:r>
            <a:endParaRPr lang="en-US"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0" y="121033"/>
            <a:ext cx="12192000" cy="1002089"/>
          </a:xfrm>
        </p:spPr>
        <p:txBody>
          <a:bodyPr/>
          <a:lstStyle/>
          <a:p>
            <a:r>
              <a:rPr lang="en-US" altLang="en-US"/>
              <a:t>Introduction</a:t>
            </a:r>
          </a:p>
        </p:txBody>
      </p:sp>
      <p:sp>
        <p:nvSpPr>
          <p:cNvPr id="4099" name="Rectangle 3"/>
          <p:cNvSpPr>
            <a:spLocks noGrp="1" noChangeArrowheads="1"/>
          </p:cNvSpPr>
          <p:nvPr>
            <p:ph idx="1"/>
          </p:nvPr>
        </p:nvSpPr>
        <p:spPr>
          <a:xfrm>
            <a:off x="925830" y="1490870"/>
            <a:ext cx="10287000" cy="4699047"/>
          </a:xfrm>
        </p:spPr>
        <p:txBody>
          <a:bodyPr/>
          <a:lstStyle/>
          <a:p>
            <a:r>
              <a:rPr lang="en-US" altLang="en-US" dirty="0"/>
              <a:t>Infectious diseases remain important causes of morbidity and mortality in the U.S. and worldwide.</a:t>
            </a:r>
          </a:p>
          <a:p>
            <a:pPr lvl="1"/>
            <a:r>
              <a:rPr lang="en-US" altLang="en-US" dirty="0"/>
              <a:t>COVID-19 pandemic, </a:t>
            </a:r>
            <a:r>
              <a:rPr lang="en-US" altLang="en-US" dirty="0" err="1"/>
              <a:t>MPox</a:t>
            </a:r>
            <a:endParaRPr lang="en-US" altLang="en-US" dirty="0"/>
          </a:p>
          <a:p>
            <a:pPr lvl="1"/>
            <a:r>
              <a:rPr lang="en-US" altLang="en-US" dirty="0"/>
              <a:t>In 2021, COVID-19 was the third leading cause of death in the U.S. and accounted for 10% of overall deaths.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0" y="121033"/>
            <a:ext cx="12192000" cy="1002089"/>
          </a:xfrm>
        </p:spPr>
        <p:txBody>
          <a:bodyPr/>
          <a:lstStyle/>
          <a:p>
            <a:r>
              <a:rPr lang="en-US" altLang="en-US"/>
              <a:t>Infectious (Communicable) Disease</a:t>
            </a:r>
          </a:p>
        </p:txBody>
      </p:sp>
      <p:sp>
        <p:nvSpPr>
          <p:cNvPr id="5123" name="Rectangle 3"/>
          <p:cNvSpPr>
            <a:spLocks noGrp="1" noChangeArrowheads="1"/>
          </p:cNvSpPr>
          <p:nvPr>
            <p:ph idx="1"/>
          </p:nvPr>
        </p:nvSpPr>
        <p:spPr>
          <a:xfrm>
            <a:off x="925830" y="1490870"/>
            <a:ext cx="10287000" cy="4699047"/>
          </a:xfrm>
        </p:spPr>
        <p:txBody>
          <a:bodyPr/>
          <a:lstStyle/>
          <a:p>
            <a:r>
              <a:rPr lang="en-US" altLang="en-US" dirty="0"/>
              <a:t>Disease due to an infectious agent</a:t>
            </a:r>
          </a:p>
          <a:p>
            <a:pPr lvl="1"/>
            <a:r>
              <a:rPr lang="en-US" altLang="en-US" dirty="0"/>
              <a:t>Examples of agents: Bacteria, viruses, fungi, parasites</a:t>
            </a:r>
          </a:p>
          <a:p>
            <a:r>
              <a:rPr lang="en-US" altLang="en-US" dirty="0"/>
              <a:t>Refer to text for additional terms used to describe infectious diseases</a:t>
            </a:r>
          </a:p>
          <a:p>
            <a:endParaRPr lang="en-US"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121033"/>
            <a:ext cx="12192000" cy="1002089"/>
          </a:xfrm>
        </p:spPr>
        <p:txBody>
          <a:bodyPr/>
          <a:lstStyle/>
          <a:p>
            <a:r>
              <a:rPr lang="en-US" altLang="en-US"/>
              <a:t>Parasitic Disease</a:t>
            </a:r>
          </a:p>
        </p:txBody>
      </p:sp>
      <p:sp>
        <p:nvSpPr>
          <p:cNvPr id="6147" name="Rectangle 3"/>
          <p:cNvSpPr>
            <a:spLocks noGrp="1" noChangeArrowheads="1"/>
          </p:cNvSpPr>
          <p:nvPr>
            <p:ph idx="1"/>
          </p:nvPr>
        </p:nvSpPr>
        <p:spPr>
          <a:xfrm>
            <a:off x="925830" y="1490870"/>
            <a:ext cx="10287000" cy="4699047"/>
          </a:xfrm>
        </p:spPr>
        <p:txBody>
          <a:bodyPr/>
          <a:lstStyle/>
          <a:p>
            <a:r>
              <a:rPr lang="en-US" altLang="en-US" dirty="0"/>
              <a:t>Infection caused by a parasite, which “…is an animal or vegetable organism that lives on or in another and derives its nourishment therefrom”</a:t>
            </a:r>
          </a:p>
          <a:p>
            <a:r>
              <a:rPr lang="en-US" altLang="en-US" dirty="0"/>
              <a:t>Example: </a:t>
            </a:r>
            <a:r>
              <a:rPr lang="en-US" altLang="en-US" dirty="0" err="1"/>
              <a:t>Amebiasis</a:t>
            </a:r>
            <a:endParaRPr lang="en-US"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0" y="121033"/>
            <a:ext cx="12192000" cy="1002089"/>
          </a:xfrm>
        </p:spPr>
        <p:txBody>
          <a:bodyPr/>
          <a:lstStyle/>
          <a:p>
            <a:r>
              <a:rPr lang="en-US" dirty="0"/>
              <a:t>The Epidemiologic Triangle</a:t>
            </a:r>
            <a:endParaRPr lang="en-US" altLang="en-US" dirty="0"/>
          </a:p>
        </p:txBody>
      </p:sp>
      <p:sp>
        <p:nvSpPr>
          <p:cNvPr id="11267" name="Rectangle 3"/>
          <p:cNvSpPr>
            <a:spLocks noGrp="1" noChangeArrowheads="1"/>
          </p:cNvSpPr>
          <p:nvPr>
            <p:ph idx="1"/>
          </p:nvPr>
        </p:nvSpPr>
        <p:spPr>
          <a:xfrm>
            <a:off x="925830" y="1490870"/>
            <a:ext cx="10287000" cy="4699047"/>
          </a:xfrm>
        </p:spPr>
        <p:txBody>
          <a:bodyPr/>
          <a:lstStyle/>
          <a:p>
            <a:r>
              <a:rPr lang="en-US" altLang="en-US" dirty="0"/>
              <a:t>Long-standing model used to describe etiology of infectious diseases</a:t>
            </a:r>
          </a:p>
          <a:p>
            <a:r>
              <a:rPr lang="en-US" altLang="en-US" dirty="0"/>
              <a:t>Includes three major factors: agent, host, and environment</a:t>
            </a:r>
          </a:p>
          <a:p>
            <a:endParaRPr lang="en-US"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0" y="121033"/>
            <a:ext cx="12192000" cy="1002089"/>
          </a:xfrm>
        </p:spPr>
        <p:txBody>
          <a:bodyPr>
            <a:normAutofit/>
          </a:bodyPr>
          <a:lstStyle/>
          <a:p>
            <a:r>
              <a:rPr lang="en-US" altLang="en-US" dirty="0"/>
              <a:t>Figure 10-2 The epidemiologic triangle</a:t>
            </a:r>
          </a:p>
        </p:txBody>
      </p:sp>
      <p:pic>
        <p:nvPicPr>
          <p:cNvPr id="3" name="Picture 2" descr="An illustration shows a triangle labeled with the following on its three apices: agent, host, and environment. " title="Figure 10.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53496" y="2133600"/>
            <a:ext cx="3885008" cy="326186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121033"/>
            <a:ext cx="12192000" cy="1002089"/>
          </a:xfrm>
        </p:spPr>
        <p:txBody>
          <a:bodyPr/>
          <a:lstStyle/>
          <a:p>
            <a:r>
              <a:rPr lang="en-US" altLang="en-US"/>
              <a:t>Agent</a:t>
            </a:r>
          </a:p>
        </p:txBody>
      </p:sp>
      <p:sp>
        <p:nvSpPr>
          <p:cNvPr id="8195" name="Rectangle 3"/>
          <p:cNvSpPr>
            <a:spLocks noGrp="1" noChangeArrowheads="1"/>
          </p:cNvSpPr>
          <p:nvPr>
            <p:ph idx="1"/>
          </p:nvPr>
        </p:nvSpPr>
        <p:spPr>
          <a:xfrm>
            <a:off x="925830" y="1490870"/>
            <a:ext cx="10287000" cy="4699047"/>
          </a:xfrm>
        </p:spPr>
        <p:txBody>
          <a:bodyPr/>
          <a:lstStyle/>
          <a:p>
            <a:r>
              <a:rPr lang="en-US" altLang="en-US" dirty="0"/>
              <a:t>“A factor (e.g., a microorganism, chemical substance, or form of radiation…) whose presence, excessive presence, or (in deficiency diseases) relative absence is essential for the occurrence of a disease”</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0" y="121033"/>
            <a:ext cx="12192000" cy="1002089"/>
          </a:xfrm>
        </p:spPr>
        <p:txBody>
          <a:bodyPr/>
          <a:lstStyle/>
          <a:p>
            <a:r>
              <a:rPr lang="en-US" altLang="en-US"/>
              <a:t>Host</a:t>
            </a:r>
          </a:p>
        </p:txBody>
      </p:sp>
      <p:sp>
        <p:nvSpPr>
          <p:cNvPr id="9219" name="Rectangle 3"/>
          <p:cNvSpPr>
            <a:spLocks noGrp="1" noChangeArrowheads="1"/>
          </p:cNvSpPr>
          <p:nvPr>
            <p:ph idx="1"/>
          </p:nvPr>
        </p:nvSpPr>
        <p:spPr>
          <a:xfrm>
            <a:off x="925830" y="1490870"/>
            <a:ext cx="10287000" cy="4699047"/>
          </a:xfrm>
        </p:spPr>
        <p:txBody>
          <a:bodyPr/>
          <a:lstStyle/>
          <a:p>
            <a:r>
              <a:rPr lang="en-US" altLang="en-US" dirty="0"/>
              <a:t>“A person or other living animal, including birds and arthropods, that affords subsistence or lodgment to an infectious agent under natural conditions”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0" y="121033"/>
            <a:ext cx="12192000" cy="1002089"/>
          </a:xfrm>
        </p:spPr>
        <p:txBody>
          <a:bodyPr/>
          <a:lstStyle/>
          <a:p>
            <a:r>
              <a:rPr lang="en-US" altLang="en-US"/>
              <a:t>Environment</a:t>
            </a:r>
          </a:p>
        </p:txBody>
      </p:sp>
      <p:sp>
        <p:nvSpPr>
          <p:cNvPr id="10243" name="Rectangle 3"/>
          <p:cNvSpPr>
            <a:spLocks noGrp="1" noChangeArrowheads="1"/>
          </p:cNvSpPr>
          <p:nvPr>
            <p:ph idx="1"/>
          </p:nvPr>
        </p:nvSpPr>
        <p:spPr>
          <a:xfrm>
            <a:off x="925830" y="1490870"/>
            <a:ext cx="10287000" cy="4699047"/>
          </a:xfrm>
        </p:spPr>
        <p:txBody>
          <a:bodyPr/>
          <a:lstStyle/>
          <a:p>
            <a:r>
              <a:rPr lang="en-US" altLang="en-US" dirty="0"/>
              <a:t>Domain outside of the individual human host in which disease-causing agents may exist, survive, or originate.</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0" y="121033"/>
            <a:ext cx="12192000" cy="1002089"/>
          </a:xfrm>
        </p:spPr>
        <p:txBody>
          <a:bodyPr/>
          <a:lstStyle/>
          <a:p>
            <a:r>
              <a:rPr lang="en-US" altLang="en-US"/>
              <a:t>Infectious Disease Agents</a:t>
            </a:r>
          </a:p>
        </p:txBody>
      </p:sp>
      <p:sp>
        <p:nvSpPr>
          <p:cNvPr id="12291" name="Rectangle 3"/>
          <p:cNvSpPr>
            <a:spLocks noGrp="1" noChangeArrowheads="1"/>
          </p:cNvSpPr>
          <p:nvPr>
            <p:ph idx="1"/>
          </p:nvPr>
        </p:nvSpPr>
        <p:spPr>
          <a:xfrm>
            <a:off x="925830" y="1490870"/>
            <a:ext cx="10287000" cy="4699047"/>
          </a:xfrm>
        </p:spPr>
        <p:txBody>
          <a:bodyPr/>
          <a:lstStyle/>
          <a:p>
            <a:r>
              <a:rPr lang="en-US" altLang="en-US" dirty="0"/>
              <a:t>With respect to infectious and communicable diseases, agents include specific microbes and vectors involved in the cycle of disease transmission.</a:t>
            </a:r>
          </a:p>
          <a:p>
            <a:pPr lvl="1"/>
            <a:r>
              <a:rPr lang="en-US" altLang="en-US" dirty="0"/>
              <a:t>Examples of infectious agents: Bacteria, rickettsia, viruses, fungi, parasites, and prions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0" y="121033"/>
            <a:ext cx="12192000" cy="1002089"/>
          </a:xfrm>
        </p:spPr>
        <p:txBody>
          <a:bodyPr/>
          <a:lstStyle/>
          <a:p>
            <a:r>
              <a:rPr lang="en-US" altLang="en-US"/>
              <a:t>Infectivity </a:t>
            </a:r>
          </a:p>
        </p:txBody>
      </p:sp>
      <p:sp>
        <p:nvSpPr>
          <p:cNvPr id="13315" name="Rectangle 3"/>
          <p:cNvSpPr>
            <a:spLocks noGrp="1" noChangeArrowheads="1"/>
          </p:cNvSpPr>
          <p:nvPr>
            <p:ph idx="1"/>
          </p:nvPr>
        </p:nvSpPr>
        <p:spPr>
          <a:xfrm>
            <a:off x="925830" y="1490870"/>
            <a:ext cx="10287000" cy="4699047"/>
          </a:xfrm>
        </p:spPr>
        <p:txBody>
          <a:bodyPr/>
          <a:lstStyle/>
          <a:p>
            <a:r>
              <a:rPr lang="en-US" altLang="en-US" dirty="0"/>
              <a:t>Capacity of an agent to enter and multiply in a susceptible host and thus produce infection or disease</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9DD59-D361-7C57-7687-45D1978CFEF9}"/>
              </a:ext>
            </a:extLst>
          </p:cNvPr>
          <p:cNvSpPr>
            <a:spLocks noGrp="1"/>
          </p:cNvSpPr>
          <p:nvPr>
            <p:ph type="title"/>
          </p:nvPr>
        </p:nvSpPr>
        <p:spPr>
          <a:xfrm>
            <a:off x="0" y="121033"/>
            <a:ext cx="12192000" cy="1002089"/>
          </a:xfrm>
        </p:spPr>
        <p:txBody>
          <a:bodyPr/>
          <a:lstStyle/>
          <a:p>
            <a:r>
              <a:rPr lang="en-US" dirty="0"/>
              <a:t>Pathogenicity</a:t>
            </a:r>
          </a:p>
        </p:txBody>
      </p:sp>
      <p:sp>
        <p:nvSpPr>
          <p:cNvPr id="3" name="Content Placeholder 2">
            <a:extLst>
              <a:ext uri="{FF2B5EF4-FFF2-40B4-BE49-F238E27FC236}">
                <a16:creationId xmlns:a16="http://schemas.microsoft.com/office/drawing/2014/main" id="{DCB5127A-99CF-7EF7-08BF-41546DFD2E2A}"/>
              </a:ext>
            </a:extLst>
          </p:cNvPr>
          <p:cNvSpPr>
            <a:spLocks noGrp="1"/>
          </p:cNvSpPr>
          <p:nvPr>
            <p:ph idx="1"/>
          </p:nvPr>
        </p:nvSpPr>
        <p:spPr>
          <a:xfrm>
            <a:off x="925830" y="1490870"/>
            <a:ext cx="10287000" cy="4699047"/>
          </a:xfrm>
        </p:spPr>
        <p:txBody>
          <a:bodyPr/>
          <a:lstStyle/>
          <a:p>
            <a:r>
              <a:rPr lang="en-US" dirty="0"/>
              <a:t>Capacity of the infectious agent to cause disease (symptoms) in the host following infection</a:t>
            </a:r>
          </a:p>
        </p:txBody>
      </p:sp>
    </p:spTree>
    <p:extLst>
      <p:ext uri="{BB962C8B-B14F-4D97-AF65-F5344CB8AC3E}">
        <p14:creationId xmlns:p14="http://schemas.microsoft.com/office/powerpoint/2010/main" val="39784820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0" y="121033"/>
            <a:ext cx="12192000" cy="1002089"/>
          </a:xfrm>
        </p:spPr>
        <p:txBody>
          <a:bodyPr/>
          <a:lstStyle/>
          <a:p>
            <a:r>
              <a:rPr lang="en-US" altLang="en-US"/>
              <a:t>Virulence </a:t>
            </a:r>
          </a:p>
        </p:txBody>
      </p:sp>
      <p:sp>
        <p:nvSpPr>
          <p:cNvPr id="14339" name="Rectangle 3"/>
          <p:cNvSpPr>
            <a:spLocks noGrp="1" noChangeArrowheads="1"/>
          </p:cNvSpPr>
          <p:nvPr>
            <p:ph idx="1"/>
          </p:nvPr>
        </p:nvSpPr>
        <p:spPr>
          <a:xfrm>
            <a:off x="925830" y="1490870"/>
            <a:ext cx="10287000" cy="4699047"/>
          </a:xfrm>
        </p:spPr>
        <p:txBody>
          <a:bodyPr/>
          <a:lstStyle/>
          <a:p>
            <a:r>
              <a:rPr lang="en-US" altLang="en-US" dirty="0"/>
              <a:t>Refers to severity of disease produced, that is, whether the disease has severe clinical manifestations or is fatal in a large number of cases</a:t>
            </a:r>
          </a:p>
          <a:p>
            <a:r>
              <a:rPr lang="en-US" altLang="en-US" dirty="0"/>
              <a:t>Sometimes referred to as degree of pathogenicity</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0" y="121033"/>
            <a:ext cx="12192000" cy="1002089"/>
          </a:xfrm>
        </p:spPr>
        <p:txBody>
          <a:bodyPr/>
          <a:lstStyle/>
          <a:p>
            <a:r>
              <a:rPr lang="en-US" altLang="en-US"/>
              <a:t>Toxin</a:t>
            </a:r>
          </a:p>
        </p:txBody>
      </p:sp>
      <p:sp>
        <p:nvSpPr>
          <p:cNvPr id="15363" name="Rectangle 3"/>
          <p:cNvSpPr>
            <a:spLocks noGrp="1" noChangeArrowheads="1"/>
          </p:cNvSpPr>
          <p:nvPr>
            <p:ph idx="1"/>
          </p:nvPr>
        </p:nvSpPr>
        <p:spPr>
          <a:xfrm>
            <a:off x="925830" y="1490870"/>
            <a:ext cx="10287000" cy="4699047"/>
          </a:xfrm>
        </p:spPr>
        <p:txBody>
          <a:bodyPr/>
          <a:lstStyle/>
          <a:p>
            <a:r>
              <a:rPr lang="en-US" altLang="en-US" dirty="0"/>
              <a:t>Some infectious disease agents, instead of acting directly, produce a toxin that causes illness.</a:t>
            </a:r>
          </a:p>
          <a:p>
            <a:pPr lvl="1"/>
            <a:r>
              <a:rPr lang="en-US" altLang="en-US" dirty="0"/>
              <a:t>Example of illness: Foodborne intoxications such as botulism</a:t>
            </a:r>
          </a:p>
          <a:p>
            <a:r>
              <a:rPr lang="en-US" altLang="en-US" dirty="0"/>
              <a:t>Toxin usually refers to a toxic substance made by living organisms.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121033"/>
            <a:ext cx="12192000" cy="1002089"/>
          </a:xfrm>
        </p:spPr>
        <p:txBody>
          <a:bodyPr/>
          <a:lstStyle/>
          <a:p>
            <a:r>
              <a:rPr lang="en-US" altLang="en-US"/>
              <a:t>Host Characteristics </a:t>
            </a:r>
          </a:p>
        </p:txBody>
      </p:sp>
      <p:sp>
        <p:nvSpPr>
          <p:cNvPr id="17411" name="Rectangle 3"/>
          <p:cNvSpPr>
            <a:spLocks noGrp="1" noChangeArrowheads="1"/>
          </p:cNvSpPr>
          <p:nvPr>
            <p:ph idx="1"/>
          </p:nvPr>
        </p:nvSpPr>
        <p:spPr>
          <a:xfrm>
            <a:off x="925830" y="1490870"/>
            <a:ext cx="10287000" cy="4699047"/>
          </a:xfrm>
        </p:spPr>
        <p:txBody>
          <a:bodyPr/>
          <a:lstStyle/>
          <a:p>
            <a:r>
              <a:rPr lang="en-US" altLang="en-US" dirty="0"/>
              <a:t>Immunity</a:t>
            </a:r>
          </a:p>
          <a:p>
            <a:r>
              <a:rPr lang="en-US" altLang="en-US" dirty="0"/>
              <a:t>Other factors related to host responses</a:t>
            </a:r>
          </a:p>
          <a:p>
            <a:pPr lvl="1"/>
            <a:r>
              <a:rPr lang="en-US" altLang="en-US" dirty="0"/>
              <a:t>Incubation period</a:t>
            </a:r>
          </a:p>
          <a:p>
            <a:pPr lvl="1"/>
            <a:r>
              <a:rPr lang="en-US" altLang="en-US" dirty="0"/>
              <a:t>Subclinical illness</a:t>
            </a:r>
          </a:p>
          <a:p>
            <a:pPr lvl="1"/>
            <a:r>
              <a:rPr lang="en-US" altLang="en-US" dirty="0"/>
              <a:t>Generation time</a:t>
            </a:r>
          </a:p>
          <a:p>
            <a:pPr lvl="1"/>
            <a:r>
              <a:rPr lang="en-US" altLang="en-US" dirty="0"/>
              <a:t>Carrier status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0" y="121033"/>
            <a:ext cx="12192000" cy="1002089"/>
          </a:xfrm>
        </p:spPr>
        <p:txBody>
          <a:bodyPr/>
          <a:lstStyle/>
          <a:p>
            <a:r>
              <a:rPr lang="en-US" altLang="en-US"/>
              <a:t>Immunity</a:t>
            </a:r>
          </a:p>
        </p:txBody>
      </p:sp>
      <p:sp>
        <p:nvSpPr>
          <p:cNvPr id="18435" name="Rectangle 3"/>
          <p:cNvSpPr>
            <a:spLocks noGrp="1" noChangeArrowheads="1"/>
          </p:cNvSpPr>
          <p:nvPr>
            <p:ph idx="1"/>
          </p:nvPr>
        </p:nvSpPr>
        <p:spPr>
          <a:xfrm>
            <a:off x="925830" y="1490870"/>
            <a:ext cx="10287000" cy="4699047"/>
          </a:xfrm>
        </p:spPr>
        <p:txBody>
          <a:bodyPr/>
          <a:lstStyle/>
          <a:p>
            <a:r>
              <a:rPr lang="en-US" altLang="en-US" dirty="0"/>
              <a:t>Host’s ability to resist infection by the agent</a:t>
            </a:r>
          </a:p>
          <a:p>
            <a:r>
              <a:rPr lang="en-US" altLang="en-US" dirty="0"/>
              <a:t>May be either active or passive</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0" y="121033"/>
            <a:ext cx="12192000" cy="1002089"/>
          </a:xfrm>
        </p:spPr>
        <p:txBody>
          <a:bodyPr/>
          <a:lstStyle/>
          <a:p>
            <a:r>
              <a:rPr lang="en-US" altLang="en-US"/>
              <a:t>Active Immunity</a:t>
            </a:r>
          </a:p>
        </p:txBody>
      </p:sp>
      <p:sp>
        <p:nvSpPr>
          <p:cNvPr id="19459" name="Rectangle 3"/>
          <p:cNvSpPr>
            <a:spLocks noGrp="1" noChangeArrowheads="1"/>
          </p:cNvSpPr>
          <p:nvPr>
            <p:ph idx="1"/>
          </p:nvPr>
        </p:nvSpPr>
        <p:spPr>
          <a:xfrm>
            <a:off x="925830" y="1490870"/>
            <a:ext cx="10287000" cy="4699047"/>
          </a:xfrm>
        </p:spPr>
        <p:txBody>
          <a:bodyPr/>
          <a:lstStyle/>
          <a:p>
            <a:r>
              <a:rPr lang="en-US" altLang="en-US" dirty="0"/>
              <a:t>Immunity that host has developed from natural infection with a microbial agent or injection of a vaccine that contains an antigen.</a:t>
            </a:r>
          </a:p>
          <a:p>
            <a:pPr lvl="1"/>
            <a:r>
              <a:rPr lang="en-US" altLang="en-US" dirty="0"/>
              <a:t>Antigen: A substance that stimulates antibody formation (e.g., microbial agent)</a:t>
            </a:r>
          </a:p>
          <a:p>
            <a:r>
              <a:rPr lang="en-US" altLang="en-US" dirty="0"/>
              <a:t>Takes time to develop but usually of long duration (measured in years)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0" y="121033"/>
            <a:ext cx="12192000" cy="1002089"/>
          </a:xfrm>
        </p:spPr>
        <p:txBody>
          <a:bodyPr/>
          <a:lstStyle/>
          <a:p>
            <a:r>
              <a:rPr lang="en-US" altLang="en-US"/>
              <a:t>Passive Immunity</a:t>
            </a:r>
          </a:p>
        </p:txBody>
      </p:sp>
      <p:sp>
        <p:nvSpPr>
          <p:cNvPr id="20483" name="Rectangle 3"/>
          <p:cNvSpPr>
            <a:spLocks noGrp="1" noChangeArrowheads="1"/>
          </p:cNvSpPr>
          <p:nvPr>
            <p:ph idx="1"/>
          </p:nvPr>
        </p:nvSpPr>
        <p:spPr>
          <a:xfrm>
            <a:off x="925830" y="1490870"/>
            <a:ext cx="10287000" cy="4699047"/>
          </a:xfrm>
        </p:spPr>
        <p:txBody>
          <a:bodyPr/>
          <a:lstStyle/>
          <a:p>
            <a:r>
              <a:rPr lang="en-US" altLang="en-US" dirty="0"/>
              <a:t>Immunity acquired when antibodies or other immune cells produced by another person or animal are transferred to host.</a:t>
            </a:r>
          </a:p>
          <a:p>
            <a:pPr lvl="1"/>
            <a:r>
              <a:rPr lang="en-US" altLang="en-US" dirty="0"/>
              <a:t>Example 1: Newborn infant’s natural immunity conferred from its mother</a:t>
            </a:r>
          </a:p>
          <a:p>
            <a:pPr lvl="1"/>
            <a:r>
              <a:rPr lang="en-US" altLang="en-US" dirty="0"/>
              <a:t>Example 2: Immunity conferred by injections of antibodies contained in immune serums</a:t>
            </a:r>
          </a:p>
          <a:p>
            <a:r>
              <a:rPr lang="en-US" altLang="en-US" dirty="0"/>
              <a:t>Develops quicky, but usually is of short duration (days to months)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121033"/>
            <a:ext cx="12192000" cy="1002089"/>
          </a:xfrm>
        </p:spPr>
        <p:txBody>
          <a:bodyPr/>
          <a:lstStyle/>
          <a:p>
            <a:r>
              <a:rPr lang="en-US" altLang="en-US"/>
              <a:t>Herd Immunity</a:t>
            </a:r>
          </a:p>
        </p:txBody>
      </p:sp>
      <p:sp>
        <p:nvSpPr>
          <p:cNvPr id="21507" name="Rectangle 3"/>
          <p:cNvSpPr>
            <a:spLocks noGrp="1" noChangeArrowheads="1"/>
          </p:cNvSpPr>
          <p:nvPr>
            <p:ph idx="1"/>
          </p:nvPr>
        </p:nvSpPr>
        <p:spPr>
          <a:xfrm>
            <a:off x="925830" y="1490870"/>
            <a:ext cx="10287000" cy="4699047"/>
          </a:xfrm>
        </p:spPr>
        <p:txBody>
          <a:bodyPr/>
          <a:lstStyle/>
          <a:p>
            <a:r>
              <a:rPr lang="en-US" altLang="en-US" dirty="0"/>
              <a:t>Resistance of an entire community to an infectious agent as a result of a large proportion of individuals in that community being immune to the agent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0" y="121033"/>
            <a:ext cx="12192000" cy="1002089"/>
          </a:xfrm>
        </p:spPr>
        <p:txBody>
          <a:bodyPr/>
          <a:lstStyle/>
          <a:p>
            <a:r>
              <a:rPr lang="en-US" altLang="en-US"/>
              <a:t>Incubation Period</a:t>
            </a:r>
          </a:p>
        </p:txBody>
      </p:sp>
      <p:sp>
        <p:nvSpPr>
          <p:cNvPr id="22531" name="Rectangle 3"/>
          <p:cNvSpPr>
            <a:spLocks noGrp="1" noChangeArrowheads="1"/>
          </p:cNvSpPr>
          <p:nvPr>
            <p:ph idx="1"/>
          </p:nvPr>
        </p:nvSpPr>
        <p:spPr>
          <a:xfrm>
            <a:off x="925830" y="1490870"/>
            <a:ext cx="10287000" cy="4699047"/>
          </a:xfrm>
        </p:spPr>
        <p:txBody>
          <a:bodyPr/>
          <a:lstStyle/>
          <a:p>
            <a:r>
              <a:rPr lang="en-US" altLang="en-US" dirty="0"/>
              <a:t>Time interval between invasion by an infectious agent and appearance of first sign or symptom of disease</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0" y="121033"/>
            <a:ext cx="12192000" cy="1002089"/>
          </a:xfrm>
        </p:spPr>
        <p:txBody>
          <a:bodyPr/>
          <a:lstStyle/>
          <a:p>
            <a:r>
              <a:rPr lang="en-US" altLang="en-US"/>
              <a:t>Subclinical Infection</a:t>
            </a:r>
          </a:p>
        </p:txBody>
      </p:sp>
      <p:sp>
        <p:nvSpPr>
          <p:cNvPr id="23555" name="Rectangle 3"/>
          <p:cNvSpPr>
            <a:spLocks noGrp="1" noChangeArrowheads="1"/>
          </p:cNvSpPr>
          <p:nvPr>
            <p:ph idx="1"/>
          </p:nvPr>
        </p:nvSpPr>
        <p:spPr>
          <a:xfrm>
            <a:off x="925830" y="1490870"/>
            <a:ext cx="10287000" cy="4699047"/>
          </a:xfrm>
        </p:spPr>
        <p:txBody>
          <a:bodyPr/>
          <a:lstStyle/>
          <a:p>
            <a:r>
              <a:rPr lang="en-US" altLang="en-US" dirty="0"/>
              <a:t>Infection that does not show obvious clinical signs or symptoms</a:t>
            </a:r>
          </a:p>
          <a:p>
            <a:r>
              <a:rPr lang="en-US" altLang="en-US" dirty="0"/>
              <a:t>Also called inapparent infection</a:t>
            </a:r>
          </a:p>
          <a:p>
            <a:r>
              <a:rPr lang="en-US" altLang="en-US" dirty="0"/>
              <a:t>Example: Infection with SARS-CoV-2 in some people</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0" y="121033"/>
            <a:ext cx="12192000" cy="1002089"/>
          </a:xfrm>
        </p:spPr>
        <p:txBody>
          <a:bodyPr/>
          <a:lstStyle/>
          <a:p>
            <a:r>
              <a:rPr lang="en-US" altLang="en-US"/>
              <a:t>Generation Time</a:t>
            </a:r>
          </a:p>
        </p:txBody>
      </p:sp>
      <p:sp>
        <p:nvSpPr>
          <p:cNvPr id="24579" name="Rectangle 3"/>
          <p:cNvSpPr>
            <a:spLocks noGrp="1" noChangeArrowheads="1"/>
          </p:cNvSpPr>
          <p:nvPr>
            <p:ph idx="1"/>
          </p:nvPr>
        </p:nvSpPr>
        <p:spPr>
          <a:xfrm>
            <a:off x="925830" y="1490870"/>
            <a:ext cx="10287000" cy="4699047"/>
          </a:xfrm>
        </p:spPr>
        <p:txBody>
          <a:bodyPr/>
          <a:lstStyle/>
          <a:p>
            <a:r>
              <a:rPr lang="en-US" altLang="en-US" dirty="0"/>
              <a:t>Time interval between establishment of infection in host and maximal communicability of host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0" y="121033"/>
            <a:ext cx="12192000" cy="1002089"/>
          </a:xfrm>
        </p:spPr>
        <p:txBody>
          <a:bodyPr/>
          <a:lstStyle/>
          <a:p>
            <a:r>
              <a:rPr lang="en-US" altLang="en-US"/>
              <a:t>Carrier</a:t>
            </a:r>
          </a:p>
        </p:txBody>
      </p:sp>
      <p:sp>
        <p:nvSpPr>
          <p:cNvPr id="25603" name="Rectangle 3"/>
          <p:cNvSpPr>
            <a:spLocks noGrp="1" noChangeArrowheads="1"/>
          </p:cNvSpPr>
          <p:nvPr>
            <p:ph idx="1"/>
          </p:nvPr>
        </p:nvSpPr>
        <p:spPr>
          <a:xfrm>
            <a:off x="925830" y="1490870"/>
            <a:ext cx="10287000" cy="4699047"/>
          </a:xfrm>
        </p:spPr>
        <p:txBody>
          <a:bodyPr/>
          <a:lstStyle/>
          <a:p>
            <a:r>
              <a:rPr lang="en-US" altLang="en-US" dirty="0"/>
              <a:t>“A person or animal that harbors a specific infectious agent without discernible clinical disease, and that serves as a potential source of infection”</a:t>
            </a:r>
          </a:p>
          <a:p>
            <a:r>
              <a:rPr lang="en-US" altLang="en-US" dirty="0"/>
              <a:t>Famous example: “Typhoid Mary”</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0" y="121033"/>
            <a:ext cx="12192000" cy="1002089"/>
          </a:xfrm>
        </p:spPr>
        <p:txBody>
          <a:bodyPr/>
          <a:lstStyle/>
          <a:p>
            <a:r>
              <a:rPr lang="en-US" altLang="en-US" dirty="0"/>
              <a:t>Index Case</a:t>
            </a:r>
          </a:p>
        </p:txBody>
      </p:sp>
      <p:sp>
        <p:nvSpPr>
          <p:cNvPr id="27651" name="Rectangle 3"/>
          <p:cNvSpPr>
            <a:spLocks noGrp="1" noChangeArrowheads="1"/>
          </p:cNvSpPr>
          <p:nvPr>
            <p:ph idx="1"/>
          </p:nvPr>
        </p:nvSpPr>
        <p:spPr>
          <a:xfrm>
            <a:off x="925830" y="1490870"/>
            <a:ext cx="10287000" cy="4699047"/>
          </a:xfrm>
        </p:spPr>
        <p:txBody>
          <a:bodyPr/>
          <a:lstStyle/>
          <a:p>
            <a:r>
              <a:rPr lang="en-US" altLang="en-US" dirty="0"/>
              <a:t>Used in an epidemiologic investigation of a disease outbreak to denote first case of a disease to come to the attention of authorities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D93EC-4F00-0379-1FB2-C15269625A49}"/>
              </a:ext>
            </a:extLst>
          </p:cNvPr>
          <p:cNvSpPr>
            <a:spLocks noGrp="1"/>
          </p:cNvSpPr>
          <p:nvPr>
            <p:ph type="title"/>
          </p:nvPr>
        </p:nvSpPr>
        <p:spPr>
          <a:xfrm>
            <a:off x="0" y="121033"/>
            <a:ext cx="12192000" cy="1002089"/>
          </a:xfrm>
        </p:spPr>
        <p:txBody>
          <a:bodyPr/>
          <a:lstStyle/>
          <a:p>
            <a:r>
              <a:rPr lang="en-US" dirty="0"/>
              <a:t>Quarantine versus Isolation</a:t>
            </a:r>
          </a:p>
        </p:txBody>
      </p:sp>
      <p:sp>
        <p:nvSpPr>
          <p:cNvPr id="3" name="Content Placeholder 2">
            <a:extLst>
              <a:ext uri="{FF2B5EF4-FFF2-40B4-BE49-F238E27FC236}">
                <a16:creationId xmlns:a16="http://schemas.microsoft.com/office/drawing/2014/main" id="{264C46FB-B553-8908-7877-AA46FD68DEAA}"/>
              </a:ext>
            </a:extLst>
          </p:cNvPr>
          <p:cNvSpPr>
            <a:spLocks noGrp="1"/>
          </p:cNvSpPr>
          <p:nvPr>
            <p:ph idx="1"/>
          </p:nvPr>
        </p:nvSpPr>
        <p:spPr>
          <a:xfrm>
            <a:off x="925830" y="1490870"/>
            <a:ext cx="10287000" cy="4699047"/>
          </a:xfrm>
        </p:spPr>
        <p:txBody>
          <a:bodyPr/>
          <a:lstStyle/>
          <a:p>
            <a:r>
              <a:rPr lang="en-US" dirty="0"/>
              <a:t>Quarantine: Well people who been exposed to an infectious disease and may or  may not be infected</a:t>
            </a:r>
          </a:p>
          <a:p>
            <a:r>
              <a:rPr lang="en-US" dirty="0"/>
              <a:t>Isolation: People who have an infectious disease</a:t>
            </a:r>
          </a:p>
        </p:txBody>
      </p:sp>
    </p:spTree>
    <p:extLst>
      <p:ext uri="{BB962C8B-B14F-4D97-AF65-F5344CB8AC3E}">
        <p14:creationId xmlns:p14="http://schemas.microsoft.com/office/powerpoint/2010/main" val="19962867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0" y="121033"/>
            <a:ext cx="12192000" cy="1002089"/>
          </a:xfrm>
        </p:spPr>
        <p:txBody>
          <a:bodyPr/>
          <a:lstStyle/>
          <a:p>
            <a:r>
              <a:rPr lang="en-US" altLang="en-US" dirty="0"/>
              <a:t>Environment and Infectious Diseases</a:t>
            </a:r>
          </a:p>
        </p:txBody>
      </p:sp>
      <p:sp>
        <p:nvSpPr>
          <p:cNvPr id="28675" name="Rectangle 3"/>
          <p:cNvSpPr>
            <a:spLocks noGrp="1" noChangeArrowheads="1"/>
          </p:cNvSpPr>
          <p:nvPr>
            <p:ph idx="1"/>
          </p:nvPr>
        </p:nvSpPr>
        <p:spPr>
          <a:xfrm>
            <a:off x="925830" y="1490870"/>
            <a:ext cx="10287000" cy="4699047"/>
          </a:xfrm>
        </p:spPr>
        <p:txBody>
          <a:bodyPr/>
          <a:lstStyle/>
          <a:p>
            <a:r>
              <a:rPr lang="en-US" altLang="en-US" dirty="0"/>
              <a:t>External environment comprises:</a:t>
            </a:r>
          </a:p>
          <a:p>
            <a:pPr lvl="1"/>
            <a:r>
              <a:rPr lang="en-US" altLang="en-US" dirty="0"/>
              <a:t>Physical</a:t>
            </a:r>
          </a:p>
          <a:p>
            <a:pPr lvl="1"/>
            <a:r>
              <a:rPr lang="en-US" altLang="en-US" dirty="0"/>
              <a:t>Climatologic</a:t>
            </a:r>
          </a:p>
          <a:p>
            <a:pPr lvl="1"/>
            <a:r>
              <a:rPr lang="en-US" altLang="en-US" dirty="0"/>
              <a:t>Biologic</a:t>
            </a:r>
          </a:p>
          <a:p>
            <a:pPr lvl="1"/>
            <a:r>
              <a:rPr lang="en-US" altLang="en-US" dirty="0"/>
              <a:t>Social</a:t>
            </a:r>
          </a:p>
          <a:p>
            <a:pPr lvl="1"/>
            <a:r>
              <a:rPr lang="en-US" altLang="en-US" dirty="0"/>
              <a:t>Economic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0" y="121033"/>
            <a:ext cx="12192000" cy="1002089"/>
          </a:xfrm>
        </p:spPr>
        <p:txBody>
          <a:bodyPr/>
          <a:lstStyle/>
          <a:p>
            <a:r>
              <a:rPr lang="en-US" altLang="en-US"/>
              <a:t>Endemic</a:t>
            </a:r>
          </a:p>
        </p:txBody>
      </p:sp>
      <p:sp>
        <p:nvSpPr>
          <p:cNvPr id="29699" name="Rectangle 3"/>
          <p:cNvSpPr>
            <a:spLocks noGrp="1" noChangeArrowheads="1"/>
          </p:cNvSpPr>
          <p:nvPr>
            <p:ph idx="1"/>
          </p:nvPr>
        </p:nvSpPr>
        <p:spPr>
          <a:xfrm>
            <a:off x="925830" y="1490870"/>
            <a:ext cx="10287000" cy="4699047"/>
          </a:xfrm>
        </p:spPr>
        <p:txBody>
          <a:bodyPr/>
          <a:lstStyle/>
          <a:p>
            <a:r>
              <a:rPr lang="en-US" altLang="en-US" dirty="0"/>
              <a:t>Infectious disease agent that is habitually present in an environment (either geographic or population group).</a:t>
            </a:r>
          </a:p>
          <a:p>
            <a:r>
              <a:rPr lang="en-US" altLang="en-US" dirty="0"/>
              <a:t>Example: Plague is endemic among certain species of rodents in the western U.S.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0" y="121033"/>
            <a:ext cx="12192000" cy="1002089"/>
          </a:xfrm>
        </p:spPr>
        <p:txBody>
          <a:bodyPr/>
          <a:lstStyle/>
          <a:p>
            <a:r>
              <a:rPr lang="en-US" altLang="en-US"/>
              <a:t>Reservoir</a:t>
            </a:r>
          </a:p>
        </p:txBody>
      </p:sp>
      <p:sp>
        <p:nvSpPr>
          <p:cNvPr id="30723" name="Rectangle 3"/>
          <p:cNvSpPr>
            <a:spLocks noGrp="1" noChangeArrowheads="1"/>
          </p:cNvSpPr>
          <p:nvPr>
            <p:ph idx="1"/>
          </p:nvPr>
        </p:nvSpPr>
        <p:spPr>
          <a:xfrm>
            <a:off x="925830" y="1490870"/>
            <a:ext cx="10287000" cy="4699047"/>
          </a:xfrm>
        </p:spPr>
        <p:txBody>
          <a:bodyPr/>
          <a:lstStyle/>
          <a:p>
            <a:r>
              <a:rPr lang="en-US" altLang="en-US" dirty="0"/>
              <a:t>Place where infectious agents normally live and multiply</a:t>
            </a:r>
          </a:p>
          <a:p>
            <a:r>
              <a:rPr lang="en-US" altLang="en-US" dirty="0"/>
              <a:t>Can be human beings, animals, insects, soils, or plants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0" y="121033"/>
            <a:ext cx="12192000" cy="1002089"/>
          </a:xfrm>
        </p:spPr>
        <p:txBody>
          <a:bodyPr/>
          <a:lstStyle/>
          <a:p>
            <a:r>
              <a:rPr lang="en-US" altLang="en-US"/>
              <a:t>Zoonosis</a:t>
            </a:r>
          </a:p>
        </p:txBody>
      </p:sp>
      <p:sp>
        <p:nvSpPr>
          <p:cNvPr id="31747" name="Rectangle 3"/>
          <p:cNvSpPr>
            <a:spLocks noGrp="1" noChangeArrowheads="1"/>
          </p:cNvSpPr>
          <p:nvPr>
            <p:ph idx="1"/>
          </p:nvPr>
        </p:nvSpPr>
        <p:spPr>
          <a:xfrm>
            <a:off x="925830" y="1490870"/>
            <a:ext cx="10287000" cy="4699047"/>
          </a:xfrm>
        </p:spPr>
        <p:txBody>
          <a:bodyPr/>
          <a:lstStyle/>
          <a:p>
            <a:r>
              <a:rPr lang="en-US" altLang="en-US" dirty="0"/>
              <a:t>“An infection or infectious agent transmissible under natural conditions from vertebrate animals to humans”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B4C97CF-29E3-5349-B6F6-9B6BB3EB8AB5}"/>
              </a:ext>
            </a:extLst>
          </p:cNvPr>
          <p:cNvSpPr>
            <a:spLocks noGrp="1"/>
          </p:cNvSpPr>
          <p:nvPr>
            <p:ph type="title"/>
          </p:nvPr>
        </p:nvSpPr>
        <p:spPr/>
        <p:txBody>
          <a:bodyPr/>
          <a:lstStyle/>
          <a:p>
            <a:r>
              <a:rPr lang="en-US" dirty="0"/>
              <a:t>Figure 10-5 Why One Health is important</a:t>
            </a:r>
          </a:p>
        </p:txBody>
      </p:sp>
      <p:pic>
        <p:nvPicPr>
          <p:cNvPr id="3" name="Picture 2" descr="The illustration represents the factors such as people live closer together, changes in climate and land use, more global travel and trade, and animals are more than just food. These factors make it easier for diseases to spread between animals and people." title="Figure 10.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90800" y="1600200"/>
            <a:ext cx="7010400" cy="4550083"/>
          </a:xfrm>
          <a:prstGeom prst="rect">
            <a:avLst/>
          </a:prstGeom>
        </p:spPr>
      </p:pic>
    </p:spTree>
    <p:extLst>
      <p:ext uri="{BB962C8B-B14F-4D97-AF65-F5344CB8AC3E}">
        <p14:creationId xmlns:p14="http://schemas.microsoft.com/office/powerpoint/2010/main" val="3766503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0" y="121033"/>
            <a:ext cx="12192000" cy="1002089"/>
          </a:xfrm>
        </p:spPr>
        <p:txBody>
          <a:bodyPr/>
          <a:lstStyle/>
          <a:p>
            <a:r>
              <a:rPr lang="en-US" altLang="en-US"/>
              <a:t>Means of Transmission of Infectious Disease Agents</a:t>
            </a:r>
          </a:p>
        </p:txBody>
      </p:sp>
      <p:sp>
        <p:nvSpPr>
          <p:cNvPr id="32771" name="Rectangle 3"/>
          <p:cNvSpPr>
            <a:spLocks noGrp="1" noChangeArrowheads="1"/>
          </p:cNvSpPr>
          <p:nvPr>
            <p:ph idx="1"/>
          </p:nvPr>
        </p:nvSpPr>
        <p:spPr>
          <a:xfrm>
            <a:off x="925830" y="1490870"/>
            <a:ext cx="10287000" cy="4699047"/>
          </a:xfrm>
        </p:spPr>
        <p:txBody>
          <a:bodyPr/>
          <a:lstStyle/>
          <a:p>
            <a:r>
              <a:rPr lang="en-US" altLang="en-US"/>
              <a:t>Direct transmission</a:t>
            </a:r>
          </a:p>
          <a:p>
            <a:pPr lvl="1"/>
            <a:r>
              <a:rPr lang="en-US" altLang="en-US"/>
              <a:t>Person to person</a:t>
            </a:r>
          </a:p>
          <a:p>
            <a:r>
              <a:rPr lang="en-US" altLang="en-US"/>
              <a:t>Indirect transmission</a:t>
            </a:r>
          </a:p>
          <a:p>
            <a:pPr lvl="1"/>
            <a:r>
              <a:rPr lang="en-US" altLang="en-US"/>
              <a:t>Vehicle-borne infections</a:t>
            </a:r>
          </a:p>
          <a:p>
            <a:pPr lvl="1"/>
            <a:r>
              <a:rPr lang="en-US" altLang="en-US"/>
              <a:t>Airborne infections</a:t>
            </a:r>
          </a:p>
          <a:p>
            <a:pPr lvl="1"/>
            <a:r>
              <a:rPr lang="en-US" altLang="en-US"/>
              <a:t>Vector-borne infections</a:t>
            </a:r>
            <a:endParaRPr lang="en-US"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0" y="121033"/>
            <a:ext cx="12192000" cy="1002089"/>
          </a:xfrm>
        </p:spPr>
        <p:txBody>
          <a:bodyPr/>
          <a:lstStyle/>
          <a:p>
            <a:r>
              <a:rPr lang="en-US" altLang="en-US"/>
              <a:t>Portal of Exit</a:t>
            </a:r>
          </a:p>
        </p:txBody>
      </p:sp>
      <p:sp>
        <p:nvSpPr>
          <p:cNvPr id="33795" name="Rectangle 3"/>
          <p:cNvSpPr>
            <a:spLocks noGrp="1" noChangeArrowheads="1"/>
          </p:cNvSpPr>
          <p:nvPr>
            <p:ph idx="1"/>
          </p:nvPr>
        </p:nvSpPr>
        <p:spPr>
          <a:xfrm>
            <a:off x="925830" y="1490870"/>
            <a:ext cx="10287000" cy="4699047"/>
          </a:xfrm>
        </p:spPr>
        <p:txBody>
          <a:bodyPr/>
          <a:lstStyle/>
          <a:p>
            <a:r>
              <a:rPr lang="en-US" altLang="en-US" dirty="0"/>
              <a:t>For an infected person, a portal of exit is the site from which the agent leaves that person’s body.</a:t>
            </a:r>
          </a:p>
          <a:p>
            <a:r>
              <a:rPr lang="en-US" altLang="en-US" dirty="0"/>
              <a:t>Examples</a:t>
            </a:r>
          </a:p>
          <a:p>
            <a:pPr lvl="1"/>
            <a:r>
              <a:rPr lang="en-US" altLang="en-US" dirty="0"/>
              <a:t>Respiratory passages</a:t>
            </a:r>
          </a:p>
          <a:p>
            <a:pPr lvl="1"/>
            <a:r>
              <a:rPr lang="en-US" altLang="en-US" dirty="0"/>
              <a:t>Alimentary canal</a:t>
            </a:r>
          </a:p>
          <a:p>
            <a:pPr lvl="1"/>
            <a:r>
              <a:rPr lang="en-US" altLang="en-US" dirty="0"/>
              <a:t>Genitourinary system</a:t>
            </a:r>
          </a:p>
          <a:p>
            <a:pPr lvl="1"/>
            <a:r>
              <a:rPr lang="en-US" altLang="en-US" dirty="0"/>
              <a:t>Skin lesions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0" y="121033"/>
            <a:ext cx="12192000" cy="1002089"/>
          </a:xfrm>
        </p:spPr>
        <p:txBody>
          <a:bodyPr/>
          <a:lstStyle/>
          <a:p>
            <a:r>
              <a:rPr lang="en-US" altLang="en-US" dirty="0"/>
              <a:t>Person to Person (Direct Transmission) </a:t>
            </a:r>
          </a:p>
        </p:txBody>
      </p:sp>
      <p:sp>
        <p:nvSpPr>
          <p:cNvPr id="34819" name="Rectangle 3"/>
          <p:cNvSpPr>
            <a:spLocks noGrp="1" noChangeArrowheads="1"/>
          </p:cNvSpPr>
          <p:nvPr>
            <p:ph idx="1"/>
          </p:nvPr>
        </p:nvSpPr>
        <p:spPr>
          <a:xfrm>
            <a:off x="925830" y="1490870"/>
            <a:ext cx="10287000" cy="4699047"/>
          </a:xfrm>
        </p:spPr>
        <p:txBody>
          <a:bodyPr/>
          <a:lstStyle/>
          <a:p>
            <a:r>
              <a:rPr lang="en-US" altLang="en-US" dirty="0"/>
              <a:t>“Direct and essentially immediate transfer of infectious agents to a receptive portal of entry through which human or animal infection may take place”</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0" y="121033"/>
            <a:ext cx="12192000" cy="1002089"/>
          </a:xfrm>
        </p:spPr>
        <p:txBody>
          <a:bodyPr/>
          <a:lstStyle/>
          <a:p>
            <a:r>
              <a:rPr lang="en-US" altLang="en-US"/>
              <a:t>Portal of Entry</a:t>
            </a:r>
          </a:p>
        </p:txBody>
      </p:sp>
      <p:sp>
        <p:nvSpPr>
          <p:cNvPr id="35843" name="Rectangle 3"/>
          <p:cNvSpPr>
            <a:spLocks noGrp="1" noChangeArrowheads="1"/>
          </p:cNvSpPr>
          <p:nvPr>
            <p:ph idx="1"/>
          </p:nvPr>
        </p:nvSpPr>
        <p:spPr>
          <a:xfrm>
            <a:off x="925830" y="1490870"/>
            <a:ext cx="10287000" cy="4699047"/>
          </a:xfrm>
        </p:spPr>
        <p:txBody>
          <a:bodyPr/>
          <a:lstStyle/>
          <a:p>
            <a:r>
              <a:rPr lang="en-US" altLang="en-US" dirty="0"/>
              <a:t>Site where agent enters the body</a:t>
            </a:r>
          </a:p>
          <a:p>
            <a:r>
              <a:rPr lang="en-US" altLang="en-US" dirty="0"/>
              <a:t>Example: Skin wound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0" y="121033"/>
            <a:ext cx="12192000" cy="1002089"/>
          </a:xfrm>
        </p:spPr>
        <p:txBody>
          <a:bodyPr/>
          <a:lstStyle/>
          <a:p>
            <a:r>
              <a:rPr lang="en-US" altLang="en-US"/>
              <a:t>Indirect Transmission</a:t>
            </a:r>
          </a:p>
        </p:txBody>
      </p:sp>
      <p:sp>
        <p:nvSpPr>
          <p:cNvPr id="36867" name="Rectangle 3"/>
          <p:cNvSpPr>
            <a:spLocks noGrp="1" noChangeArrowheads="1"/>
          </p:cNvSpPr>
          <p:nvPr>
            <p:ph idx="1"/>
          </p:nvPr>
        </p:nvSpPr>
        <p:spPr>
          <a:xfrm>
            <a:off x="925830" y="1490870"/>
            <a:ext cx="10287000" cy="4699047"/>
          </a:xfrm>
        </p:spPr>
        <p:txBody>
          <a:bodyPr/>
          <a:lstStyle/>
          <a:p>
            <a:r>
              <a:rPr lang="en-US" altLang="en-US" dirty="0"/>
              <a:t>Involves intermediary sources of infection such as vehicles, droplet nuclei (particles), and vectors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0" y="121033"/>
            <a:ext cx="12192000" cy="1002089"/>
          </a:xfrm>
        </p:spPr>
        <p:txBody>
          <a:bodyPr/>
          <a:lstStyle/>
          <a:p>
            <a:r>
              <a:rPr lang="en-US" altLang="en-US" dirty="0"/>
              <a:t>Vehicle-Borne Infections</a:t>
            </a:r>
          </a:p>
        </p:txBody>
      </p:sp>
      <p:sp>
        <p:nvSpPr>
          <p:cNvPr id="37891" name="Rectangle 3"/>
          <p:cNvSpPr>
            <a:spLocks noGrp="1" noChangeArrowheads="1"/>
          </p:cNvSpPr>
          <p:nvPr>
            <p:ph idx="1"/>
          </p:nvPr>
        </p:nvSpPr>
        <p:spPr>
          <a:xfrm>
            <a:off x="925830" y="1490870"/>
            <a:ext cx="10287000" cy="4699047"/>
          </a:xfrm>
        </p:spPr>
        <p:txBody>
          <a:bodyPr/>
          <a:lstStyle/>
          <a:p>
            <a:r>
              <a:rPr lang="en-US" altLang="en-US" dirty="0"/>
              <a:t>Infections that result from contact with vehicles, which are contaminated, nonmoving objects.</a:t>
            </a:r>
          </a:p>
          <a:p>
            <a:r>
              <a:rPr lang="en-US" altLang="en-US" dirty="0"/>
              <a:t>Examples</a:t>
            </a:r>
          </a:p>
          <a:p>
            <a:pPr lvl="1"/>
            <a:r>
              <a:rPr lang="en-US" altLang="en-US" dirty="0"/>
              <a:t>Fomites</a:t>
            </a:r>
          </a:p>
          <a:p>
            <a:pPr lvl="1"/>
            <a:r>
              <a:rPr lang="en-US" altLang="en-US" dirty="0"/>
              <a:t>Unsanitary food</a:t>
            </a:r>
          </a:p>
          <a:p>
            <a:pPr lvl="1"/>
            <a:r>
              <a:rPr lang="en-US" altLang="en-US" dirty="0"/>
              <a:t>Impure water</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0" y="121033"/>
            <a:ext cx="12192000" cy="1002089"/>
          </a:xfrm>
        </p:spPr>
        <p:txBody>
          <a:bodyPr/>
          <a:lstStyle/>
          <a:p>
            <a:r>
              <a:rPr lang="en-US" altLang="en-US"/>
              <a:t>Fomite</a:t>
            </a:r>
          </a:p>
        </p:txBody>
      </p:sp>
      <p:sp>
        <p:nvSpPr>
          <p:cNvPr id="39939" name="Rectangle 3"/>
          <p:cNvSpPr>
            <a:spLocks noGrp="1" noChangeArrowheads="1"/>
          </p:cNvSpPr>
          <p:nvPr>
            <p:ph idx="1"/>
          </p:nvPr>
        </p:nvSpPr>
        <p:spPr>
          <a:xfrm>
            <a:off x="925830" y="1490870"/>
            <a:ext cx="10287000" cy="4699047"/>
          </a:xfrm>
        </p:spPr>
        <p:txBody>
          <a:bodyPr/>
          <a:lstStyle/>
          <a:p>
            <a:r>
              <a:rPr lang="en-US" altLang="en-US" dirty="0"/>
              <a:t>Inanimate object that carries infectious disease agents</a:t>
            </a:r>
          </a:p>
          <a:p>
            <a:r>
              <a:rPr lang="en-US" altLang="en-US" dirty="0"/>
              <a:t>Examples</a:t>
            </a:r>
          </a:p>
          <a:p>
            <a:pPr lvl="1"/>
            <a:r>
              <a:rPr lang="en-US" altLang="en-US" dirty="0"/>
              <a:t>Classroom doorknob</a:t>
            </a:r>
          </a:p>
          <a:p>
            <a:pPr lvl="1"/>
            <a:r>
              <a:rPr lang="en-US" altLang="en-US" dirty="0"/>
              <a:t>Discarded tissues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0" y="121033"/>
            <a:ext cx="12192000" cy="1002089"/>
          </a:xfrm>
        </p:spPr>
        <p:txBody>
          <a:bodyPr/>
          <a:lstStyle/>
          <a:p>
            <a:r>
              <a:rPr lang="en-US" altLang="en-US"/>
              <a:t>Airborne Infections</a:t>
            </a:r>
          </a:p>
        </p:txBody>
      </p:sp>
      <p:sp>
        <p:nvSpPr>
          <p:cNvPr id="40963" name="Rectangle 3"/>
          <p:cNvSpPr>
            <a:spLocks noGrp="1" noChangeArrowheads="1"/>
          </p:cNvSpPr>
          <p:nvPr>
            <p:ph idx="1"/>
          </p:nvPr>
        </p:nvSpPr>
        <p:spPr>
          <a:xfrm>
            <a:off x="925830" y="1490870"/>
            <a:ext cx="10287000" cy="4699047"/>
          </a:xfrm>
        </p:spPr>
        <p:txBody>
          <a:bodyPr/>
          <a:lstStyle/>
          <a:p>
            <a:r>
              <a:rPr lang="en-US" altLang="en-US" dirty="0"/>
              <a:t>Involve the spread of droplet nuclei (particles) that are present in the air</a:t>
            </a:r>
          </a:p>
          <a:p>
            <a:r>
              <a:rPr lang="en-US" altLang="en-US" dirty="0"/>
              <a:t>Example: COVID-19 and the role of masks and social distancing</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0" y="121033"/>
            <a:ext cx="12192000" cy="1002089"/>
          </a:xfrm>
        </p:spPr>
        <p:txBody>
          <a:bodyPr/>
          <a:lstStyle/>
          <a:p>
            <a:r>
              <a:rPr lang="en-US" altLang="en-US" dirty="0"/>
              <a:t>Vector-Borne Infections</a:t>
            </a:r>
          </a:p>
        </p:txBody>
      </p:sp>
      <p:sp>
        <p:nvSpPr>
          <p:cNvPr id="41987" name="Rectangle 3"/>
          <p:cNvSpPr>
            <a:spLocks noGrp="1" noChangeArrowheads="1"/>
          </p:cNvSpPr>
          <p:nvPr>
            <p:ph idx="1"/>
          </p:nvPr>
        </p:nvSpPr>
        <p:spPr>
          <a:xfrm>
            <a:off x="925830" y="1490870"/>
            <a:ext cx="10287000" cy="4699047"/>
          </a:xfrm>
        </p:spPr>
        <p:txBody>
          <a:bodyPr/>
          <a:lstStyle/>
          <a:p>
            <a:r>
              <a:rPr lang="en-US" altLang="en-US" dirty="0"/>
              <a:t>Vector: Animate, living insect or animal that is involved with transmission of disease agents</a:t>
            </a:r>
          </a:p>
          <a:p>
            <a:r>
              <a:rPr lang="en-US" altLang="en-US" dirty="0"/>
              <a:t>Transmission of an infectious disease agent may happen when the vector feeds on a susceptible host.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0" y="121033"/>
            <a:ext cx="12192000" cy="1002089"/>
          </a:xfrm>
        </p:spPr>
        <p:txBody>
          <a:bodyPr>
            <a:normAutofit/>
          </a:bodyPr>
          <a:lstStyle/>
          <a:p>
            <a:r>
              <a:rPr lang="en-US" altLang="en-US" dirty="0"/>
              <a:t>Figure </a:t>
            </a:r>
            <a:r>
              <a:rPr lang="en-US" dirty="0"/>
              <a:t>10-9 Four insect vectors of infectious diseases </a:t>
            </a:r>
            <a:endParaRPr lang="en-US" altLang="en-US" dirty="0"/>
          </a:p>
        </p:txBody>
      </p:sp>
      <p:pic>
        <p:nvPicPr>
          <p:cNvPr id="3" name="Picture 2" descr="Part a depicts the body lice, greyish yellow colored body having a tapering end with three short pairs of legs in the thorax region. Part b depicts a deer tick, a black and brown colored cylindrical shaped body having long four pairs of legs in the thorax and abdominal part. Part c depicts a female Aedes aegypti mosquito with a pair of plumose antennae and the legs are thin, long and folded. Part d depicts a flea with small oval shaped body having the pair of legs extending downwards." title="Figure 10.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08327" y="1371600"/>
            <a:ext cx="5375346" cy="515991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0" y="121033"/>
            <a:ext cx="12192000" cy="1002089"/>
          </a:xfrm>
        </p:spPr>
        <p:txBody>
          <a:bodyPr/>
          <a:lstStyle/>
          <a:p>
            <a:r>
              <a:rPr lang="en-US" altLang="en-US"/>
              <a:t>Examples of Significant Infectious Diseases</a:t>
            </a:r>
          </a:p>
        </p:txBody>
      </p:sp>
      <p:sp>
        <p:nvSpPr>
          <p:cNvPr id="44035" name="Rectangle 3"/>
          <p:cNvSpPr>
            <a:spLocks noGrp="1" noChangeArrowheads="1"/>
          </p:cNvSpPr>
          <p:nvPr>
            <p:ph idx="1"/>
          </p:nvPr>
        </p:nvSpPr>
        <p:spPr>
          <a:xfrm>
            <a:off x="925830" y="1490870"/>
            <a:ext cx="10287000" cy="4699047"/>
          </a:xfrm>
        </p:spPr>
        <p:txBody>
          <a:bodyPr/>
          <a:lstStyle/>
          <a:p>
            <a:r>
              <a:rPr lang="en-US" dirty="0"/>
              <a:t>Sexually transmitted diseases</a:t>
            </a:r>
          </a:p>
          <a:p>
            <a:r>
              <a:rPr lang="en-US" dirty="0"/>
              <a:t>Foodborne diseases</a:t>
            </a:r>
          </a:p>
          <a:p>
            <a:r>
              <a:rPr lang="en-US" dirty="0"/>
              <a:t>Waterborne diseases</a:t>
            </a:r>
          </a:p>
          <a:p>
            <a:r>
              <a:rPr lang="en-US" dirty="0"/>
              <a:t>Vector-borne diseases</a:t>
            </a:r>
          </a:p>
          <a:p>
            <a:r>
              <a:rPr lang="en-US" dirty="0"/>
              <a:t>Vaccine-preventable diseases</a:t>
            </a:r>
          </a:p>
          <a:p>
            <a:r>
              <a:rPr lang="en-US" dirty="0"/>
              <a:t>Zoonotic diseases</a:t>
            </a:r>
          </a:p>
          <a:p>
            <a:r>
              <a:rPr lang="en-US" dirty="0"/>
              <a:t>Emerging infections </a:t>
            </a:r>
          </a:p>
          <a:p>
            <a:r>
              <a:rPr lang="en-US" dirty="0"/>
              <a:t>Bioterrorism-related diseases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0" y="121033"/>
            <a:ext cx="12192000" cy="1002089"/>
          </a:xfrm>
        </p:spPr>
        <p:txBody>
          <a:bodyPr/>
          <a:lstStyle/>
          <a:p>
            <a:r>
              <a:rPr lang="en-US" altLang="en-US" dirty="0"/>
              <a:t>Sexually Transmitted Diseases</a:t>
            </a:r>
          </a:p>
        </p:txBody>
      </p:sp>
      <p:sp>
        <p:nvSpPr>
          <p:cNvPr id="45059" name="Rectangle 3"/>
          <p:cNvSpPr>
            <a:spLocks noGrp="1" noChangeArrowheads="1"/>
          </p:cNvSpPr>
          <p:nvPr>
            <p:ph idx="1"/>
          </p:nvPr>
        </p:nvSpPr>
        <p:spPr>
          <a:xfrm>
            <a:off x="925830" y="1490870"/>
            <a:ext cx="10287000" cy="4699047"/>
          </a:xfrm>
        </p:spPr>
        <p:txBody>
          <a:bodyPr/>
          <a:lstStyle/>
          <a:p>
            <a:r>
              <a:rPr lang="en-US" altLang="en-US" dirty="0"/>
              <a:t>Also called sexually transmitted infections (STIs)</a:t>
            </a:r>
          </a:p>
          <a:p>
            <a:r>
              <a:rPr lang="en-US" altLang="en-US" dirty="0"/>
              <a:t>Examples</a:t>
            </a:r>
          </a:p>
          <a:p>
            <a:pPr lvl="1"/>
            <a:r>
              <a:rPr lang="en-US" altLang="en-US" dirty="0"/>
              <a:t>HIV/AIDS</a:t>
            </a:r>
          </a:p>
          <a:p>
            <a:pPr lvl="1"/>
            <a:r>
              <a:rPr lang="en-US" altLang="en-US" dirty="0"/>
              <a:t>Gonococcal infections</a:t>
            </a:r>
          </a:p>
          <a:p>
            <a:pPr lvl="1"/>
            <a:r>
              <a:rPr lang="en-US" altLang="en-US" dirty="0"/>
              <a:t>Chlamydial genital infections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0" y="121033"/>
            <a:ext cx="12192000" cy="1002089"/>
          </a:xfrm>
        </p:spPr>
        <p:txBody>
          <a:bodyPr/>
          <a:lstStyle/>
          <a:p>
            <a:r>
              <a:rPr lang="en-US" altLang="en-US"/>
              <a:t>Foodborne Illness</a:t>
            </a:r>
          </a:p>
        </p:txBody>
      </p:sp>
      <p:sp>
        <p:nvSpPr>
          <p:cNvPr id="46083" name="Rectangle 3"/>
          <p:cNvSpPr>
            <a:spLocks noGrp="1" noChangeArrowheads="1"/>
          </p:cNvSpPr>
          <p:nvPr>
            <p:ph idx="1"/>
          </p:nvPr>
        </p:nvSpPr>
        <p:spPr>
          <a:xfrm>
            <a:off x="925830" y="1490870"/>
            <a:ext cx="10287000" cy="4699047"/>
          </a:xfrm>
        </p:spPr>
        <p:txBody>
          <a:bodyPr/>
          <a:lstStyle/>
          <a:p>
            <a:r>
              <a:rPr lang="en-US" altLang="en-US" dirty="0"/>
              <a:t>Biologic agents of foodborne illness include bacteria, parasites, viruses, and prions (linked to mad cow disease).</a:t>
            </a:r>
          </a:p>
          <a:p>
            <a:r>
              <a:rPr lang="en-US" altLang="en-US" dirty="0"/>
              <a:t>Examples of bacterial agents</a:t>
            </a:r>
          </a:p>
          <a:p>
            <a:pPr lvl="1"/>
            <a:r>
              <a:rPr lang="en-US" altLang="en-US" i="1" dirty="0"/>
              <a:t>Campylobacter</a:t>
            </a:r>
          </a:p>
          <a:p>
            <a:pPr lvl="1"/>
            <a:r>
              <a:rPr lang="en-US" altLang="en-US" i="1" dirty="0"/>
              <a:t>Clostridium botulinum</a:t>
            </a:r>
          </a:p>
          <a:p>
            <a:pPr lvl="1"/>
            <a:r>
              <a:rPr lang="en-US" altLang="en-US" i="1" dirty="0"/>
              <a:t>Salmonella</a:t>
            </a:r>
          </a:p>
          <a:p>
            <a:pPr lvl="1"/>
            <a:r>
              <a:rPr lang="en-US" altLang="en-US" i="1" dirty="0"/>
              <a:t>Escherichia coli </a:t>
            </a:r>
            <a:r>
              <a:rPr lang="en-US" altLang="en-US" dirty="0"/>
              <a:t>O157:H7</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4927AC8-17D8-C670-2A5A-E8E53C417E88}"/>
              </a:ext>
            </a:extLst>
          </p:cNvPr>
          <p:cNvSpPr>
            <a:spLocks noGrp="1"/>
          </p:cNvSpPr>
          <p:nvPr>
            <p:ph type="title"/>
          </p:nvPr>
        </p:nvSpPr>
        <p:spPr/>
        <p:txBody>
          <a:bodyPr/>
          <a:lstStyle/>
          <a:p>
            <a:r>
              <a:rPr lang="en-US" dirty="0"/>
              <a:t>Figure 10-12 The global burden of foodborne diseases is substantial</a:t>
            </a:r>
          </a:p>
        </p:txBody>
      </p:sp>
      <p:pic>
        <p:nvPicPr>
          <p:cNvPr id="3" name="Picture 2" descr="The causes of foodborne disease is as follows: Every year foodborne disease causes 1 in 10 people fall ill, 33 million healthy life years lost, 110 billion U S dollars lost productivity and medical expense in low and middle income countries, 420,000 deaths, and 40 percent of deaths occur in children less than 5 years." title="Figure 10.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0" y="1828800"/>
            <a:ext cx="9144000" cy="4038144"/>
          </a:xfrm>
          <a:prstGeom prst="rect">
            <a:avLst/>
          </a:prstGeom>
        </p:spPr>
      </p:pic>
    </p:spTree>
    <p:extLst>
      <p:ext uri="{BB962C8B-B14F-4D97-AF65-F5344CB8AC3E}">
        <p14:creationId xmlns:p14="http://schemas.microsoft.com/office/powerpoint/2010/main" val="37767531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0" y="121033"/>
            <a:ext cx="12192000" cy="1002089"/>
          </a:xfrm>
        </p:spPr>
        <p:txBody>
          <a:bodyPr/>
          <a:lstStyle/>
          <a:p>
            <a:r>
              <a:rPr lang="en-US" altLang="en-US" dirty="0"/>
              <a:t>Vector-Borne Diseases</a:t>
            </a:r>
          </a:p>
        </p:txBody>
      </p:sp>
      <p:sp>
        <p:nvSpPr>
          <p:cNvPr id="48131" name="Rectangle 3"/>
          <p:cNvSpPr>
            <a:spLocks noGrp="1" noChangeArrowheads="1"/>
          </p:cNvSpPr>
          <p:nvPr>
            <p:ph idx="1"/>
          </p:nvPr>
        </p:nvSpPr>
        <p:spPr>
          <a:xfrm>
            <a:off x="925830" y="1490870"/>
            <a:ext cx="10287000" cy="4699047"/>
          </a:xfrm>
        </p:spPr>
        <p:txBody>
          <a:bodyPr/>
          <a:lstStyle/>
          <a:p>
            <a:r>
              <a:rPr lang="en-US" altLang="en-US" dirty="0"/>
              <a:t>Examples of diseases (name of vector in parentheses) from Table 10-6</a:t>
            </a:r>
          </a:p>
          <a:p>
            <a:pPr lvl="1"/>
            <a:r>
              <a:rPr lang="en-US" altLang="en-US" dirty="0"/>
              <a:t>Bacterial diseases</a:t>
            </a:r>
          </a:p>
          <a:p>
            <a:pPr lvl="2"/>
            <a:r>
              <a:rPr lang="en-US" altLang="en-US" dirty="0"/>
              <a:t>Lyme disease (tick)</a:t>
            </a:r>
          </a:p>
          <a:p>
            <a:pPr lvl="1"/>
            <a:r>
              <a:rPr lang="en-US" altLang="en-US" dirty="0"/>
              <a:t>Arthropod-borne (arboviral) diseases</a:t>
            </a:r>
          </a:p>
          <a:p>
            <a:pPr lvl="2"/>
            <a:r>
              <a:rPr lang="en-US" altLang="en-US" dirty="0"/>
              <a:t>Eastern equine encephalitis (mosquito)</a:t>
            </a:r>
          </a:p>
          <a:p>
            <a:pPr lvl="1"/>
            <a:r>
              <a:rPr lang="en-US" altLang="en-US" dirty="0"/>
              <a:t>Parasitic diseases</a:t>
            </a:r>
          </a:p>
          <a:p>
            <a:pPr lvl="2"/>
            <a:r>
              <a:rPr lang="en-US" altLang="en-US" dirty="0"/>
              <a:t>Malaria (mosquito)</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0" y="121033"/>
            <a:ext cx="12192000" cy="1002089"/>
          </a:xfrm>
        </p:spPr>
        <p:txBody>
          <a:bodyPr/>
          <a:lstStyle/>
          <a:p>
            <a:r>
              <a:rPr lang="en-US" altLang="en-US" dirty="0"/>
              <a:t>Vaccine-Preventable Diseases (VPDs)</a:t>
            </a:r>
          </a:p>
        </p:txBody>
      </p:sp>
      <p:sp>
        <p:nvSpPr>
          <p:cNvPr id="49155" name="Rectangle 3"/>
          <p:cNvSpPr>
            <a:spLocks noGrp="1" noChangeArrowheads="1"/>
          </p:cNvSpPr>
          <p:nvPr>
            <p:ph idx="1"/>
          </p:nvPr>
        </p:nvSpPr>
        <p:spPr>
          <a:xfrm>
            <a:off x="925830" y="1490870"/>
            <a:ext cx="10580370" cy="4699047"/>
          </a:xfrm>
        </p:spPr>
        <p:txBody>
          <a:bodyPr/>
          <a:lstStyle/>
          <a:p>
            <a:r>
              <a:rPr lang="en-US" altLang="en-US" dirty="0"/>
              <a:t>Conditions that can be prevented by vaccination (immunization)</a:t>
            </a:r>
          </a:p>
          <a:p>
            <a:r>
              <a:rPr lang="en-US" altLang="en-US" dirty="0"/>
              <a:t>Examples</a:t>
            </a:r>
          </a:p>
          <a:p>
            <a:pPr lvl="1"/>
            <a:r>
              <a:rPr lang="en-US" altLang="en-US" dirty="0"/>
              <a:t>Diphtheria</a:t>
            </a:r>
          </a:p>
          <a:p>
            <a:pPr lvl="1"/>
            <a:r>
              <a:rPr lang="en-US" altLang="en-US" dirty="0"/>
              <a:t>Tetanus</a:t>
            </a:r>
          </a:p>
          <a:p>
            <a:pPr lvl="1"/>
            <a:r>
              <a:rPr lang="en-US" altLang="en-US" dirty="0"/>
              <a:t>Whooping cough</a:t>
            </a:r>
          </a:p>
          <a:p>
            <a:pPr lvl="1"/>
            <a:r>
              <a:rPr lang="en-US" altLang="en-US" dirty="0"/>
              <a:t>Hepatitis A and B</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0" y="121033"/>
            <a:ext cx="12192000" cy="1002089"/>
          </a:xfrm>
        </p:spPr>
        <p:txBody>
          <a:bodyPr/>
          <a:lstStyle/>
          <a:p>
            <a:r>
              <a:rPr lang="en-US" altLang="en-US"/>
              <a:t>Zoonotic Diseases</a:t>
            </a:r>
          </a:p>
        </p:txBody>
      </p:sp>
      <p:sp>
        <p:nvSpPr>
          <p:cNvPr id="50179" name="Rectangle 3"/>
          <p:cNvSpPr>
            <a:spLocks noGrp="1" noChangeArrowheads="1"/>
          </p:cNvSpPr>
          <p:nvPr>
            <p:ph idx="1"/>
          </p:nvPr>
        </p:nvSpPr>
        <p:spPr>
          <a:xfrm>
            <a:off x="925830" y="1490870"/>
            <a:ext cx="10287000" cy="4699047"/>
          </a:xfrm>
        </p:spPr>
        <p:txBody>
          <a:bodyPr/>
          <a:lstStyle/>
          <a:p>
            <a:r>
              <a:rPr lang="en-US" altLang="en-US" dirty="0"/>
              <a:t>Diseases transmitted from vertebrate animals to human beings</a:t>
            </a:r>
          </a:p>
          <a:p>
            <a:r>
              <a:rPr lang="en-US" altLang="en-US" dirty="0"/>
              <a:t>Examples </a:t>
            </a:r>
          </a:p>
          <a:p>
            <a:pPr lvl="1"/>
            <a:r>
              <a:rPr lang="en-US" altLang="en-US" dirty="0"/>
              <a:t>Rabies</a:t>
            </a:r>
          </a:p>
          <a:p>
            <a:pPr lvl="1"/>
            <a:r>
              <a:rPr lang="en-US" altLang="en-US" dirty="0"/>
              <a:t>Anthrax</a:t>
            </a:r>
          </a:p>
          <a:p>
            <a:pPr lvl="1"/>
            <a:r>
              <a:rPr lang="en-US" altLang="en-US" dirty="0"/>
              <a:t>Avian influenza</a:t>
            </a:r>
          </a:p>
          <a:p>
            <a:pPr lvl="1"/>
            <a:r>
              <a:rPr lang="en-US" altLang="en-US" dirty="0"/>
              <a:t>Hantavirus pulmonary syndrome</a:t>
            </a:r>
          </a:p>
          <a:p>
            <a:pPr lvl="1"/>
            <a:r>
              <a:rPr lang="en-US" altLang="en-US" dirty="0"/>
              <a:t>Toxoplasmosis</a:t>
            </a:r>
          </a:p>
          <a:p>
            <a:pPr lvl="1"/>
            <a:r>
              <a:rPr lang="en-US" altLang="en-US" dirty="0"/>
              <a:t>Tularemia (rabbit fever)</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0" y="121033"/>
            <a:ext cx="12192000" cy="1002089"/>
          </a:xfrm>
        </p:spPr>
        <p:txBody>
          <a:bodyPr/>
          <a:lstStyle/>
          <a:p>
            <a:r>
              <a:rPr lang="en-US" altLang="en-US" dirty="0"/>
              <a:t>Emerging Infectious Diseases (Emerging Infections)</a:t>
            </a:r>
          </a:p>
        </p:txBody>
      </p:sp>
      <p:sp>
        <p:nvSpPr>
          <p:cNvPr id="51203" name="Rectangle 3"/>
          <p:cNvSpPr>
            <a:spLocks noGrp="1" noChangeArrowheads="1"/>
          </p:cNvSpPr>
          <p:nvPr>
            <p:ph idx="1"/>
          </p:nvPr>
        </p:nvSpPr>
        <p:spPr>
          <a:xfrm>
            <a:off x="925830" y="1490870"/>
            <a:ext cx="10287000" cy="4699047"/>
          </a:xfrm>
        </p:spPr>
        <p:txBody>
          <a:bodyPr/>
          <a:lstStyle/>
          <a:p>
            <a:r>
              <a:rPr lang="en-US" altLang="en-US" dirty="0"/>
              <a:t>“An infectious disease that has newly appeared in a population or that has been known for some time but is rapidly increasing in incidence or geographic range”</a:t>
            </a:r>
          </a:p>
          <a:p>
            <a:r>
              <a:rPr lang="en-US" altLang="en-US" dirty="0"/>
              <a:t>Examples: Ebola virus disease, </a:t>
            </a:r>
            <a:r>
              <a:rPr lang="en-US" altLang="en-US" dirty="0" err="1"/>
              <a:t>MPox</a:t>
            </a:r>
            <a:r>
              <a:rPr lang="en-US" altLang="en-US" dirty="0"/>
              <a:t> (formerly monkeypox), fungal infections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0" y="121033"/>
            <a:ext cx="12192000" cy="1002089"/>
          </a:xfrm>
        </p:spPr>
        <p:txBody>
          <a:bodyPr/>
          <a:lstStyle/>
          <a:p>
            <a:r>
              <a:rPr lang="en-US" altLang="en-US"/>
              <a:t>Bioterrorism-Related Diseases</a:t>
            </a:r>
          </a:p>
        </p:txBody>
      </p:sp>
      <p:sp>
        <p:nvSpPr>
          <p:cNvPr id="52227" name="Rectangle 3"/>
          <p:cNvSpPr>
            <a:spLocks noGrp="1" noChangeArrowheads="1"/>
          </p:cNvSpPr>
          <p:nvPr>
            <p:ph idx="1"/>
          </p:nvPr>
        </p:nvSpPr>
        <p:spPr>
          <a:xfrm>
            <a:off x="925830" y="1490870"/>
            <a:ext cx="10287000" cy="4699047"/>
          </a:xfrm>
        </p:spPr>
        <p:txBody>
          <a:bodyPr/>
          <a:lstStyle/>
          <a:p>
            <a:r>
              <a:rPr lang="en-US" altLang="en-US" dirty="0"/>
              <a:t>Bioterrorism attack: “…the deliberate release of viruses, bacteria, or other germs  (agents) used to cause illness or death in people, animals, or plants”</a:t>
            </a:r>
          </a:p>
          <a:p>
            <a:r>
              <a:rPr lang="en-US" altLang="en-US" dirty="0"/>
              <a:t>Example: Release of anthrax as an act of terrorism</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0" y="121033"/>
            <a:ext cx="12192000" cy="1002089"/>
          </a:xfrm>
        </p:spPr>
        <p:txBody>
          <a:bodyPr/>
          <a:lstStyle/>
          <a:p>
            <a:r>
              <a:rPr lang="en-US" altLang="en-US" dirty="0"/>
              <a:t>Methods of Outbreak Investigation</a:t>
            </a:r>
          </a:p>
        </p:txBody>
      </p:sp>
      <p:sp>
        <p:nvSpPr>
          <p:cNvPr id="53251" name="Rectangle 3"/>
          <p:cNvSpPr>
            <a:spLocks noGrp="1" noChangeArrowheads="1"/>
          </p:cNvSpPr>
          <p:nvPr>
            <p:ph idx="1"/>
          </p:nvPr>
        </p:nvSpPr>
        <p:spPr>
          <a:xfrm>
            <a:off x="925830" y="1490870"/>
            <a:ext cx="10287000" cy="4699047"/>
          </a:xfrm>
        </p:spPr>
        <p:txBody>
          <a:bodyPr/>
          <a:lstStyle/>
          <a:p>
            <a:r>
              <a:rPr lang="en-US" altLang="en-US" dirty="0"/>
              <a:t>Define the problem.</a:t>
            </a:r>
          </a:p>
          <a:p>
            <a:r>
              <a:rPr lang="en-US" altLang="en-US" dirty="0"/>
              <a:t>Appraise the data, for example, from clinical observations, epidemic curve, incubation period, attack rate, and case mapping (used by John Snow).</a:t>
            </a:r>
          </a:p>
          <a:p>
            <a:r>
              <a:rPr lang="en-US" altLang="en-US" dirty="0"/>
              <a:t>Formulate the hypothesis.</a:t>
            </a:r>
          </a:p>
          <a:p>
            <a:r>
              <a:rPr lang="en-US" altLang="en-US" dirty="0"/>
              <a:t>Confirm the hypothesis. </a:t>
            </a:r>
          </a:p>
          <a:p>
            <a:r>
              <a:rPr lang="en-US" altLang="en-US" dirty="0"/>
              <a:t>Draw conclusions and formulate practical application.</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0" y="121033"/>
            <a:ext cx="12192000" cy="1002089"/>
          </a:xfrm>
        </p:spPr>
        <p:txBody>
          <a:bodyPr/>
          <a:lstStyle/>
          <a:p>
            <a:r>
              <a:rPr lang="en-US" altLang="en-US"/>
              <a:t>Clinical Observations</a:t>
            </a:r>
          </a:p>
        </p:txBody>
      </p:sp>
      <p:sp>
        <p:nvSpPr>
          <p:cNvPr id="55299" name="Rectangle 3"/>
          <p:cNvSpPr>
            <a:spLocks noGrp="1" noChangeArrowheads="1"/>
          </p:cNvSpPr>
          <p:nvPr>
            <p:ph idx="1"/>
          </p:nvPr>
        </p:nvSpPr>
        <p:spPr>
          <a:xfrm>
            <a:off x="925830" y="1490870"/>
            <a:ext cx="10287000" cy="4699047"/>
          </a:xfrm>
        </p:spPr>
        <p:txBody>
          <a:bodyPr/>
          <a:lstStyle/>
          <a:p>
            <a:r>
              <a:rPr lang="en-US" dirty="0"/>
              <a:t>Pattern of symptoms suggests possible infectious agents. </a:t>
            </a:r>
          </a:p>
          <a:p>
            <a:r>
              <a:rPr lang="en-US" dirty="0"/>
              <a:t>Possible symptoms of an outbreak</a:t>
            </a:r>
          </a:p>
          <a:p>
            <a:pPr lvl="1"/>
            <a:r>
              <a:rPr lang="en-US" dirty="0"/>
              <a:t>Fever</a:t>
            </a:r>
          </a:p>
          <a:p>
            <a:pPr lvl="1"/>
            <a:r>
              <a:rPr lang="en-US" dirty="0"/>
              <a:t>Nausea</a:t>
            </a:r>
          </a:p>
          <a:p>
            <a:pPr lvl="1"/>
            <a:r>
              <a:rPr lang="en-US" dirty="0"/>
              <a:t>Diarrhea</a:t>
            </a:r>
          </a:p>
          <a:p>
            <a:pPr lvl="1"/>
            <a:r>
              <a:rPr lang="en-US" dirty="0"/>
              <a:t>Vomiting </a:t>
            </a:r>
          </a:p>
          <a:p>
            <a:pPr lvl="1"/>
            <a:r>
              <a:rPr lang="en-US" dirty="0"/>
              <a:t>Headache</a:t>
            </a:r>
          </a:p>
          <a:p>
            <a:pPr lvl="1"/>
            <a:r>
              <a:rPr lang="en-US" dirty="0"/>
              <a:t>Rashes</a:t>
            </a:r>
          </a:p>
          <a:p>
            <a:pPr lvl="1"/>
            <a:r>
              <a:rPr lang="en-US" dirty="0"/>
              <a:t>Stomach pain</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0" y="121033"/>
            <a:ext cx="12192000" cy="1002089"/>
          </a:xfrm>
        </p:spPr>
        <p:txBody>
          <a:bodyPr/>
          <a:lstStyle/>
          <a:p>
            <a:r>
              <a:rPr lang="en-US" altLang="en-US"/>
              <a:t>Epidemic Curve</a:t>
            </a:r>
          </a:p>
        </p:txBody>
      </p:sp>
      <p:sp>
        <p:nvSpPr>
          <p:cNvPr id="55299" name="Rectangle 3"/>
          <p:cNvSpPr>
            <a:spLocks noGrp="1" noChangeArrowheads="1"/>
          </p:cNvSpPr>
          <p:nvPr>
            <p:ph idx="1"/>
          </p:nvPr>
        </p:nvSpPr>
        <p:spPr>
          <a:xfrm>
            <a:off x="925830" y="1490870"/>
            <a:ext cx="10287000" cy="4699047"/>
          </a:xfrm>
        </p:spPr>
        <p:txBody>
          <a:bodyPr/>
          <a:lstStyle/>
          <a:p>
            <a:r>
              <a:rPr lang="en-US" altLang="en-US" dirty="0"/>
              <a:t>“A graphic plotting of the distribution of cases by time of onset”</a:t>
            </a:r>
          </a:p>
          <a:p>
            <a:r>
              <a:rPr lang="en-US" altLang="en-US" dirty="0"/>
              <a:t>May reflect a common-source epidemic or a point-source epidemic</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0" y="121033"/>
            <a:ext cx="12192000" cy="1002089"/>
          </a:xfrm>
        </p:spPr>
        <p:txBody>
          <a:bodyPr/>
          <a:lstStyle/>
          <a:p>
            <a:r>
              <a:rPr lang="en-US" altLang="en-US"/>
              <a:t>Common-Source Epidemic</a:t>
            </a:r>
          </a:p>
        </p:txBody>
      </p:sp>
      <p:sp>
        <p:nvSpPr>
          <p:cNvPr id="56323" name="Rectangle 3"/>
          <p:cNvSpPr>
            <a:spLocks noGrp="1" noChangeArrowheads="1"/>
          </p:cNvSpPr>
          <p:nvPr>
            <p:ph idx="1"/>
          </p:nvPr>
        </p:nvSpPr>
        <p:spPr>
          <a:xfrm>
            <a:off x="925830" y="1490870"/>
            <a:ext cx="10287000" cy="4699047"/>
          </a:xfrm>
        </p:spPr>
        <p:txBody>
          <a:bodyPr/>
          <a:lstStyle/>
          <a:p>
            <a:r>
              <a:rPr lang="en-US" altLang="en-US" dirty="0"/>
              <a:t>“Outbreak due to exposure of a group of persons to a noxious influence that is common to the individuals in the group”</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0" y="121033"/>
            <a:ext cx="12192000" cy="1002089"/>
          </a:xfrm>
        </p:spPr>
        <p:txBody>
          <a:bodyPr/>
          <a:lstStyle/>
          <a:p>
            <a:r>
              <a:rPr lang="en-US" altLang="en-US"/>
              <a:t>Point-Source Epidemic</a:t>
            </a:r>
          </a:p>
        </p:txBody>
      </p:sp>
      <p:sp>
        <p:nvSpPr>
          <p:cNvPr id="57347" name="Rectangle 3"/>
          <p:cNvSpPr>
            <a:spLocks noGrp="1" noChangeArrowheads="1"/>
          </p:cNvSpPr>
          <p:nvPr>
            <p:ph idx="1"/>
          </p:nvPr>
        </p:nvSpPr>
        <p:spPr>
          <a:xfrm>
            <a:off x="925830" y="1490870"/>
            <a:ext cx="10287000" cy="4699047"/>
          </a:xfrm>
        </p:spPr>
        <p:txBody>
          <a:bodyPr/>
          <a:lstStyle/>
          <a:p>
            <a:r>
              <a:rPr lang="en-US" altLang="en-US" dirty="0"/>
              <a:t>Type of common-source epidemic: “[w]hen the exposure is brief and essentially simultaneous, [and] the resultant cases all develop within one incubation period of the disease….”</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0" y="121033"/>
            <a:ext cx="12192000" cy="1002089"/>
          </a:xfrm>
        </p:spPr>
        <p:txBody>
          <a:bodyPr/>
          <a:lstStyle/>
          <a:p>
            <a:r>
              <a:rPr lang="en-US" altLang="en-US"/>
              <a:t>Incubation Period</a:t>
            </a:r>
          </a:p>
        </p:txBody>
      </p:sp>
      <p:sp>
        <p:nvSpPr>
          <p:cNvPr id="58371" name="Content Placeholder 2"/>
          <p:cNvSpPr>
            <a:spLocks noGrp="1"/>
          </p:cNvSpPr>
          <p:nvPr>
            <p:ph idx="1"/>
          </p:nvPr>
        </p:nvSpPr>
        <p:spPr>
          <a:xfrm>
            <a:off x="925830" y="1490870"/>
            <a:ext cx="10287000" cy="4699047"/>
          </a:xfrm>
        </p:spPr>
        <p:txBody>
          <a:bodyPr/>
          <a:lstStyle/>
          <a:p>
            <a:r>
              <a:rPr lang="en-US" altLang="en-US" dirty="0"/>
              <a:t>In conjunction with information about symptoms, provides clues to possible infectious disease agents</a:t>
            </a:r>
          </a:p>
          <a:p>
            <a:r>
              <a:rPr lang="en-US" altLang="en-US" dirty="0"/>
              <a:t>Example: Incubation period for foodborne illness caused by </a:t>
            </a:r>
            <a:r>
              <a:rPr lang="en-US" altLang="en-US" i="1" dirty="0"/>
              <a:t>Salmonella</a:t>
            </a:r>
            <a:r>
              <a:rPr lang="en-US" altLang="en-US" dirty="0"/>
              <a:t> ranges from 6 to 72 hours.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a:xfrm>
            <a:off x="0" y="121033"/>
            <a:ext cx="12192000" cy="1002089"/>
          </a:xfrm>
        </p:spPr>
        <p:txBody>
          <a:bodyPr/>
          <a:lstStyle/>
          <a:p>
            <a:r>
              <a:rPr lang="en-US" altLang="en-US"/>
              <a:t>Attack Rate</a:t>
            </a:r>
          </a:p>
        </p:txBody>
      </p:sp>
      <p:sp>
        <p:nvSpPr>
          <p:cNvPr id="59395" name="Content Placeholder 2"/>
          <p:cNvSpPr>
            <a:spLocks noGrp="1"/>
          </p:cNvSpPr>
          <p:nvPr>
            <p:ph idx="1"/>
          </p:nvPr>
        </p:nvSpPr>
        <p:spPr>
          <a:xfrm>
            <a:off x="925830" y="1490870"/>
            <a:ext cx="10287000" cy="4699047"/>
          </a:xfrm>
        </p:spPr>
        <p:txBody>
          <a:bodyPr/>
          <a:lstStyle/>
          <a:p>
            <a:r>
              <a:rPr lang="en-US" altLang="en-US" dirty="0"/>
              <a:t>Used frequently to describe occurrence of foodborne illness, infectious diseases, and other acute epidemics</a:t>
            </a:r>
          </a:p>
          <a:p>
            <a:r>
              <a:rPr lang="en-US" altLang="en-US" dirty="0"/>
              <a:t>Formula: Attack rate = Ill/(Ill + Well) × 100 during a time period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a:xfrm>
            <a:off x="0" y="121033"/>
            <a:ext cx="12192000" cy="1002089"/>
          </a:xfrm>
        </p:spPr>
        <p:txBody>
          <a:bodyPr/>
          <a:lstStyle/>
          <a:p>
            <a:r>
              <a:rPr lang="en-US" altLang="en-US" dirty="0"/>
              <a:t>Final Steps in Outbreak Investigation</a:t>
            </a:r>
          </a:p>
        </p:txBody>
      </p:sp>
      <p:sp>
        <p:nvSpPr>
          <p:cNvPr id="60419" name="Content Placeholder 2"/>
          <p:cNvSpPr>
            <a:spLocks noGrp="1"/>
          </p:cNvSpPr>
          <p:nvPr>
            <p:ph idx="1"/>
          </p:nvPr>
        </p:nvSpPr>
        <p:spPr>
          <a:xfrm>
            <a:off x="925830" y="1490870"/>
            <a:ext cx="10287000" cy="4699047"/>
          </a:xfrm>
        </p:spPr>
        <p:txBody>
          <a:bodyPr/>
          <a:lstStyle/>
          <a:p>
            <a:r>
              <a:rPr lang="en-US" altLang="en-US" dirty="0"/>
              <a:t>Case mapping: Some investigations may use computer software to show the location of cases.</a:t>
            </a:r>
          </a:p>
          <a:p>
            <a:r>
              <a:rPr lang="en-US" altLang="en-US" dirty="0"/>
              <a:t>Hypotheses: Using information that has been gathered, the epidemiologist may formulate a hypothesis regarding the causative agent.</a:t>
            </a:r>
          </a:p>
          <a:p>
            <a:r>
              <a:rPr lang="en-US" altLang="en-US" dirty="0"/>
              <a:t>Draw a conclusion: Plan for prevention of future outbreaks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4"/>
          <p:cNvSpPr>
            <a:spLocks noGrp="1" noChangeArrowheads="1"/>
          </p:cNvSpPr>
          <p:nvPr>
            <p:ph type="title"/>
          </p:nvPr>
        </p:nvSpPr>
        <p:spPr>
          <a:xfrm>
            <a:off x="0" y="121033"/>
            <a:ext cx="12192000" cy="1002089"/>
          </a:xfrm>
        </p:spPr>
        <p:txBody>
          <a:bodyPr/>
          <a:lstStyle/>
          <a:p>
            <a:r>
              <a:rPr lang="en-US" altLang="en-US"/>
              <a:t>Conclusion</a:t>
            </a:r>
          </a:p>
        </p:txBody>
      </p:sp>
      <p:sp>
        <p:nvSpPr>
          <p:cNvPr id="61443" name="Rectangle 3"/>
          <p:cNvSpPr>
            <a:spLocks noGrp="1" noChangeArrowheads="1"/>
          </p:cNvSpPr>
          <p:nvPr>
            <p:ph idx="1"/>
          </p:nvPr>
        </p:nvSpPr>
        <p:spPr>
          <a:xfrm>
            <a:off x="925830" y="1490870"/>
            <a:ext cx="10287000" cy="4699047"/>
          </a:xfrm>
        </p:spPr>
        <p:txBody>
          <a:bodyPr/>
          <a:lstStyle/>
          <a:p>
            <a:r>
              <a:rPr lang="en-US" altLang="en-US" dirty="0"/>
              <a:t>Infectious diseases remain a threat for these reasons.</a:t>
            </a:r>
          </a:p>
          <a:p>
            <a:pPr lvl="1"/>
            <a:r>
              <a:rPr lang="en-US" altLang="en-US" dirty="0"/>
              <a:t>New types of diseases are constantly evolving and imperiling public health. </a:t>
            </a:r>
          </a:p>
          <a:p>
            <a:pPr lvl="1"/>
            <a:r>
              <a:rPr lang="en-US" altLang="en-US" dirty="0"/>
              <a:t>Outbreaks caused by bioterrorism are a potential threat.</a:t>
            </a:r>
          </a:p>
          <a:p>
            <a:pPr lvl="1"/>
            <a:r>
              <a:rPr lang="en-US" altLang="en-US" dirty="0"/>
              <a:t>Some infectious disease agents mutate into forms that resist conventional antibiotic treatment.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Educational subjects 16x9">
  <a:themeElements>
    <a:clrScheme name="JBLPSG PPT 1">
      <a:dk1>
        <a:srgbClr val="3C4743"/>
      </a:dk1>
      <a:lt1>
        <a:srgbClr val="E1E1E1"/>
      </a:lt1>
      <a:dk2>
        <a:srgbClr val="000000"/>
      </a:dk2>
      <a:lt2>
        <a:srgbClr val="FFFFFF"/>
      </a:lt2>
      <a:accent1>
        <a:srgbClr val="FFC324"/>
      </a:accent1>
      <a:accent2>
        <a:srgbClr val="F05123"/>
      </a:accent2>
      <a:accent3>
        <a:srgbClr val="418AC9"/>
      </a:accent3>
      <a:accent4>
        <a:srgbClr val="B7B7B7"/>
      </a:accent4>
      <a:accent5>
        <a:srgbClr val="00B18A"/>
      </a:accent5>
      <a:accent6>
        <a:srgbClr val="7BABBF"/>
      </a:accent6>
      <a:hlink>
        <a:srgbClr val="004B91"/>
      </a:hlink>
      <a:folHlink>
        <a:srgbClr val="5C284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27.potx" id="{6B18C398-4F76-4BDC-B8A4-D02A96E0AA82}" vid="{FBF1AC64-E511-41D2-AA23-0E693E79CD7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9781284245004_PPTx_Quinlan</Template>
  <TotalTime>941</TotalTime>
  <Words>1653</Words>
  <Application>Microsoft Office PowerPoint</Application>
  <PresentationFormat>Widescreen</PresentationFormat>
  <Paragraphs>226</Paragraphs>
  <Slides>59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59</vt:i4>
      </vt:variant>
    </vt:vector>
  </HeadingPairs>
  <TitlesOfParts>
    <vt:vector size="63" baseType="lpstr">
      <vt:lpstr>Arial</vt:lpstr>
      <vt:lpstr>Calibri</vt:lpstr>
      <vt:lpstr>Wingdings</vt:lpstr>
      <vt:lpstr>Educational subjects 16x9</vt:lpstr>
      <vt:lpstr>Infectious Diseases and Outbreak Investigation</vt:lpstr>
      <vt:lpstr>Learning Objectives</vt:lpstr>
      <vt:lpstr>Introduction</vt:lpstr>
      <vt:lpstr>Infectious (Communicable) Disease</vt:lpstr>
      <vt:lpstr>Parasitic Disease</vt:lpstr>
      <vt:lpstr>The Epidemiologic Triangle</vt:lpstr>
      <vt:lpstr>Figure 10-2 The epidemiologic triangle</vt:lpstr>
      <vt:lpstr>Agent</vt:lpstr>
      <vt:lpstr>Host</vt:lpstr>
      <vt:lpstr>Environment</vt:lpstr>
      <vt:lpstr>Infectious Disease Agents</vt:lpstr>
      <vt:lpstr>Infectivity </vt:lpstr>
      <vt:lpstr>Pathogenicity</vt:lpstr>
      <vt:lpstr>Virulence </vt:lpstr>
      <vt:lpstr>Toxin</vt:lpstr>
      <vt:lpstr>Host Characteristics </vt:lpstr>
      <vt:lpstr>Immunity</vt:lpstr>
      <vt:lpstr>Active Immunity</vt:lpstr>
      <vt:lpstr>Passive Immunity</vt:lpstr>
      <vt:lpstr>Herd Immunity</vt:lpstr>
      <vt:lpstr>Incubation Period</vt:lpstr>
      <vt:lpstr>Subclinical Infection</vt:lpstr>
      <vt:lpstr>Generation Time</vt:lpstr>
      <vt:lpstr>Carrier</vt:lpstr>
      <vt:lpstr>Index Case</vt:lpstr>
      <vt:lpstr>Quarantine versus Isolation</vt:lpstr>
      <vt:lpstr>Environment and Infectious Diseases</vt:lpstr>
      <vt:lpstr>Endemic</vt:lpstr>
      <vt:lpstr>Reservoir</vt:lpstr>
      <vt:lpstr>Zoonosis</vt:lpstr>
      <vt:lpstr>Figure 10-5 Why One Health is important</vt:lpstr>
      <vt:lpstr>Means of Transmission of Infectious Disease Agents</vt:lpstr>
      <vt:lpstr>Portal of Exit</vt:lpstr>
      <vt:lpstr>Person to Person (Direct Transmission) </vt:lpstr>
      <vt:lpstr>Portal of Entry</vt:lpstr>
      <vt:lpstr>Indirect Transmission</vt:lpstr>
      <vt:lpstr>Vehicle-Borne Infections</vt:lpstr>
      <vt:lpstr>Fomite</vt:lpstr>
      <vt:lpstr>Airborne Infections</vt:lpstr>
      <vt:lpstr>Vector-Borne Infections</vt:lpstr>
      <vt:lpstr>Figure 10-9 Four insect vectors of infectious diseases </vt:lpstr>
      <vt:lpstr>Examples of Significant Infectious Diseases</vt:lpstr>
      <vt:lpstr>Sexually Transmitted Diseases</vt:lpstr>
      <vt:lpstr>Foodborne Illness</vt:lpstr>
      <vt:lpstr>Figure 10-12 The global burden of foodborne diseases is substantial</vt:lpstr>
      <vt:lpstr>Vector-Borne Diseases</vt:lpstr>
      <vt:lpstr>Vaccine-Preventable Diseases (VPDs)</vt:lpstr>
      <vt:lpstr>Zoonotic Diseases</vt:lpstr>
      <vt:lpstr>Emerging Infectious Diseases (Emerging Infections)</vt:lpstr>
      <vt:lpstr>Bioterrorism-Related Diseases</vt:lpstr>
      <vt:lpstr>Methods of Outbreak Investigation</vt:lpstr>
      <vt:lpstr>Clinical Observations</vt:lpstr>
      <vt:lpstr>Epidemic Curve</vt:lpstr>
      <vt:lpstr>Common-Source Epidemic</vt:lpstr>
      <vt:lpstr>Point-Source Epidemic</vt:lpstr>
      <vt:lpstr>Incubation Period</vt:lpstr>
      <vt:lpstr>Attack Rate</vt:lpstr>
      <vt:lpstr>Final Steps in Outbreak Investigation</vt:lpstr>
      <vt:lpstr>Conclusion</vt:lpstr>
    </vt:vector>
  </TitlesOfParts>
  <Company>CSULB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dc:title>
  <dc:creator>Students</dc:creator>
  <cp:lastModifiedBy>Nithyanandan.E</cp:lastModifiedBy>
  <cp:revision>97</cp:revision>
  <dcterms:created xsi:type="dcterms:W3CDTF">2009-01-13T00:34:06Z</dcterms:created>
  <dcterms:modified xsi:type="dcterms:W3CDTF">2024-02-02T12:12:05Z</dcterms:modified>
</cp:coreProperties>
</file>