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handoutMasterIdLst>
    <p:handoutMasterId r:id="rId43"/>
  </p:handoutMasterIdLst>
  <p:sldIdLst>
    <p:sldId id="301" r:id="rId2"/>
    <p:sldId id="257" r:id="rId3"/>
    <p:sldId id="271" r:id="rId4"/>
    <p:sldId id="258" r:id="rId5"/>
    <p:sldId id="259" r:id="rId6"/>
    <p:sldId id="281" r:id="rId7"/>
    <p:sldId id="292" r:id="rId8"/>
    <p:sldId id="260" r:id="rId9"/>
    <p:sldId id="261" r:id="rId10"/>
    <p:sldId id="272" r:id="rId11"/>
    <p:sldId id="282" r:id="rId12"/>
    <p:sldId id="273" r:id="rId13"/>
    <p:sldId id="262" r:id="rId14"/>
    <p:sldId id="283" r:id="rId15"/>
    <p:sldId id="263" r:id="rId16"/>
    <p:sldId id="274" r:id="rId17"/>
    <p:sldId id="293" r:id="rId18"/>
    <p:sldId id="284" r:id="rId19"/>
    <p:sldId id="285" r:id="rId20"/>
    <p:sldId id="286" r:id="rId21"/>
    <p:sldId id="298" r:id="rId22"/>
    <p:sldId id="294" r:id="rId23"/>
    <p:sldId id="287" r:id="rId24"/>
    <p:sldId id="276" r:id="rId25"/>
    <p:sldId id="289" r:id="rId26"/>
    <p:sldId id="264" r:id="rId27"/>
    <p:sldId id="299" r:id="rId28"/>
    <p:sldId id="265" r:id="rId29"/>
    <p:sldId id="277" r:id="rId30"/>
    <p:sldId id="290" r:id="rId31"/>
    <p:sldId id="278" r:id="rId32"/>
    <p:sldId id="297" r:id="rId33"/>
    <p:sldId id="279" r:id="rId34"/>
    <p:sldId id="280" r:id="rId35"/>
    <p:sldId id="266" r:id="rId36"/>
    <p:sldId id="267" r:id="rId37"/>
    <p:sldId id="268" r:id="rId38"/>
    <p:sldId id="269" r:id="rId39"/>
    <p:sldId id="270" r:id="rId40"/>
    <p:sldId id="295" r:id="rId41"/>
    <p:sldId id="291" r:id="rId42"/>
  </p:sldIdLst>
  <p:sldSz cx="13546138" cy="7620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78" autoAdjust="0"/>
    <p:restoredTop sz="94694" autoAdjust="0"/>
  </p:normalViewPr>
  <p:slideViewPr>
    <p:cSldViewPr showGuides="1">
      <p:cViewPr varScale="1">
        <p:scale>
          <a:sx n="91" d="100"/>
          <a:sy n="91" d="100"/>
        </p:scale>
        <p:origin x="126" y="27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40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40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585DC1F4-1BCC-4D68-AFA0-A83EF7D4094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8292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 bwMode="invGray">
      <p:bgPr>
        <a:solidFill>
          <a:srgbClr val="003B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2057400"/>
            <a:ext cx="13546138" cy="4191000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667" b="0" i="0" dirty="0">
              <a:latin typeface="Arial" panose="020B0604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-1" y="779780"/>
            <a:ext cx="13546139" cy="1148080"/>
          </a:xfrm>
          <a:prstGeom prst="rect">
            <a:avLst/>
          </a:prstGeom>
          <a:solidFill>
            <a:srgbClr val="FFC4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667" b="0" i="0" dirty="0">
              <a:latin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black">
          <a:xfrm>
            <a:off x="980204" y="2444750"/>
            <a:ext cx="7134780" cy="3416300"/>
          </a:xfrm>
          <a:noFill/>
        </p:spPr>
        <p:txBody>
          <a:bodyPr lIns="0" tIns="0" rIns="0" bIns="0" anchor="ctr" anchorCtr="0">
            <a:normAutofit/>
          </a:bodyPr>
          <a:lstStyle>
            <a:lvl1pPr algn="l">
              <a:lnSpc>
                <a:spcPct val="90000"/>
              </a:lnSpc>
              <a:defRPr sz="6667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Chapter Title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80203" y="939801"/>
            <a:ext cx="7249076" cy="864043"/>
          </a:xfrm>
        </p:spPr>
        <p:txBody>
          <a:bodyPr lIns="0" tIns="0" rIns="0" bIns="0" anchor="ctr" anchorCtr="0">
            <a:normAutofit/>
          </a:bodyPr>
          <a:lstStyle>
            <a:lvl1pPr marL="0" indent="0" algn="l">
              <a:spcBef>
                <a:spcPts val="0"/>
              </a:spcBef>
              <a:buNone/>
              <a:defRPr sz="3556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07995" indent="0" algn="ctr">
              <a:buNone/>
              <a:defRPr sz="2222"/>
            </a:lvl2pPr>
            <a:lvl3pPr marL="1015990" indent="0" algn="ctr">
              <a:buNone/>
              <a:defRPr sz="2000"/>
            </a:lvl3pPr>
            <a:lvl4pPr marL="1523985" indent="0" algn="ctr">
              <a:buNone/>
              <a:defRPr sz="1778"/>
            </a:lvl4pPr>
            <a:lvl5pPr marL="2031980" indent="0" algn="ctr">
              <a:buNone/>
              <a:defRPr sz="1778"/>
            </a:lvl5pPr>
            <a:lvl6pPr marL="2539975" indent="0" algn="ctr">
              <a:buNone/>
              <a:defRPr sz="1778"/>
            </a:lvl6pPr>
            <a:lvl7pPr marL="3047970" indent="0" algn="ctr">
              <a:buNone/>
              <a:defRPr sz="1778"/>
            </a:lvl7pPr>
            <a:lvl8pPr marL="3555964" indent="0" algn="ctr">
              <a:buNone/>
              <a:defRPr sz="1778"/>
            </a:lvl8pPr>
            <a:lvl9pPr marL="4063959" indent="0" algn="ctr">
              <a:buNone/>
              <a:defRPr sz="1778"/>
            </a:lvl9pPr>
          </a:lstStyle>
          <a:p>
            <a:r>
              <a:rPr lang="en-US" dirty="0"/>
              <a:t>CHAPTER 1</a:t>
            </a:r>
            <a:endParaRPr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C9CFE91-0E8B-934B-8D25-5CBB7FD65D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999716" y="431667"/>
            <a:ext cx="4005378" cy="6756667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EECFBC-FB4D-9945-A4FF-28E342055AC3}"/>
              </a:ext>
            </a:extLst>
          </p:cNvPr>
          <p:cNvSpPr/>
          <p:nvPr/>
        </p:nvSpPr>
        <p:spPr>
          <a:xfrm>
            <a:off x="0" y="7226300"/>
            <a:ext cx="13546138" cy="229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89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Copyright © 2025 by Jones &amp; Bartlett Learning, LLC an Ascend Learning Company. www.jblearning.com.</a:t>
            </a:r>
          </a:p>
        </p:txBody>
      </p:sp>
    </p:spTree>
    <p:extLst>
      <p:ext uri="{BB962C8B-B14F-4D97-AF65-F5344CB8AC3E}">
        <p14:creationId xmlns:p14="http://schemas.microsoft.com/office/powerpoint/2010/main" val="3990515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1E3BDFD-7FA5-2143-88E5-0CEE0A6011AD}"/>
              </a:ext>
            </a:extLst>
          </p:cNvPr>
          <p:cNvSpPr/>
          <p:nvPr/>
        </p:nvSpPr>
        <p:spPr>
          <a:xfrm>
            <a:off x="0" y="7226300"/>
            <a:ext cx="13546138" cy="229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89" dirty="0">
                <a:latin typeface="Arial" panose="020B0604020202020204" pitchFamily="34" charset="0"/>
                <a:cs typeface="Arial" panose="020B0604020202020204" pitchFamily="34" charset="0"/>
              </a:rPr>
              <a:t>Copyright © 2020 by Jones &amp; Bartlett Learning, LLC an Ascend Learning Company. www.jblearning.com. Background texture © Bunphot/Getty Images.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FD052D-18CE-1249-A891-AB3E165F4441}"/>
              </a:ext>
            </a:extLst>
          </p:cNvPr>
          <p:cNvSpPr/>
          <p:nvPr/>
        </p:nvSpPr>
        <p:spPr>
          <a:xfrm>
            <a:off x="0" y="2527300"/>
            <a:ext cx="13546138" cy="1955800"/>
          </a:xfrm>
          <a:prstGeom prst="rect">
            <a:avLst/>
          </a:prstGeom>
          <a:solidFill>
            <a:srgbClr val="003B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67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C0E0F34-F7A9-8D4B-9F49-A76F8B0066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8891" y="2857501"/>
            <a:ext cx="11468358" cy="1294694"/>
          </a:xfrm>
        </p:spPr>
        <p:txBody>
          <a:bodyPr anchor="ctr" anchorCtr="0"/>
          <a:lstStyle>
            <a:lvl1pPr marL="0" indent="0" algn="ctr">
              <a:buNone/>
              <a:defRPr sz="5333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dirty="0"/>
              <a:t>Divider</a:t>
            </a:r>
          </a:p>
        </p:txBody>
      </p:sp>
    </p:spTree>
    <p:extLst>
      <p:ext uri="{BB962C8B-B14F-4D97-AF65-F5344CB8AC3E}">
        <p14:creationId xmlns:p14="http://schemas.microsoft.com/office/powerpoint/2010/main" val="3641031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60" y="1656523"/>
            <a:ext cx="11429554" cy="5221163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51736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15961" y="1623391"/>
            <a:ext cx="5394749" cy="52549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27909" y="1623391"/>
            <a:ext cx="5402269" cy="52549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32898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3566" y="1662430"/>
            <a:ext cx="5547144" cy="523240"/>
          </a:xfrm>
        </p:spPr>
        <p:txBody>
          <a:bodyPr anchor="t" anchorCtr="0"/>
          <a:lstStyle>
            <a:lvl1pPr marL="0" indent="0">
              <a:buNone/>
              <a:defRPr sz="2667" b="1"/>
            </a:lvl1pPr>
            <a:lvl2pPr marL="507995" indent="0">
              <a:buNone/>
              <a:defRPr sz="2222" b="1"/>
            </a:lvl2pPr>
            <a:lvl3pPr marL="1015990" indent="0">
              <a:buNone/>
              <a:defRPr sz="2000" b="1"/>
            </a:lvl3pPr>
            <a:lvl4pPr marL="1523985" indent="0">
              <a:buNone/>
              <a:defRPr sz="1778" b="1"/>
            </a:lvl4pPr>
            <a:lvl5pPr marL="2031980" indent="0">
              <a:buNone/>
              <a:defRPr sz="1778" b="1"/>
            </a:lvl5pPr>
            <a:lvl6pPr marL="2539975" indent="0">
              <a:buNone/>
              <a:defRPr sz="1778" b="1"/>
            </a:lvl6pPr>
            <a:lvl7pPr marL="3047970" indent="0">
              <a:buNone/>
              <a:defRPr sz="1778" b="1"/>
            </a:lvl7pPr>
            <a:lvl8pPr marL="3555964" indent="0">
              <a:buNone/>
              <a:defRPr sz="1778" b="1"/>
            </a:lvl8pPr>
            <a:lvl9pPr marL="4063959" indent="0">
              <a:buNone/>
              <a:defRPr sz="177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3566" y="2308087"/>
            <a:ext cx="5547144" cy="48787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3169499-437D-8F4D-94AA-E2299357328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73069" y="1662429"/>
            <a:ext cx="5787094" cy="5063048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B116746D-2971-C346-AB96-03BED323E04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73069" y="6825017"/>
            <a:ext cx="5787094" cy="723547"/>
          </a:xfrm>
        </p:spPr>
        <p:txBody>
          <a:bodyPr/>
          <a:lstStyle>
            <a:lvl1pPr marL="0" indent="0">
              <a:buNone/>
              <a:defRPr sz="1111"/>
            </a:lvl1pPr>
          </a:lstStyle>
          <a:p>
            <a:pPr lvl="0"/>
            <a:r>
              <a:rPr lang="en-US" dirty="0"/>
              <a:t>Credit line FPO</a:t>
            </a:r>
          </a:p>
        </p:txBody>
      </p:sp>
    </p:spTree>
    <p:extLst>
      <p:ext uri="{BB962C8B-B14F-4D97-AF65-F5344CB8AC3E}">
        <p14:creationId xmlns:p14="http://schemas.microsoft.com/office/powerpoint/2010/main" val="3110545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86109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>
            <a:lvl1pPr>
              <a:defRPr sz="3333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2"/>
          <p:cNvSpPr>
            <a:spLocks noGrp="1"/>
          </p:cNvSpPr>
          <p:nvPr>
            <p:ph type="body" sz="half" idx="2"/>
          </p:nvPr>
        </p:nvSpPr>
        <p:spPr>
          <a:xfrm>
            <a:off x="977862" y="1678609"/>
            <a:ext cx="4718240" cy="4894028"/>
          </a:xfrm>
        </p:spPr>
        <p:txBody>
          <a:bodyPr>
            <a:normAutofit/>
          </a:bodyPr>
          <a:lstStyle>
            <a:lvl1pPr marL="0" indent="0">
              <a:spcBef>
                <a:spcPts val="1667"/>
              </a:spcBef>
              <a:buNone/>
              <a:defRPr sz="2444"/>
            </a:lvl1pPr>
            <a:lvl2pPr marL="507995" indent="0">
              <a:buNone/>
              <a:defRPr sz="1556"/>
            </a:lvl2pPr>
            <a:lvl3pPr marL="1015990" indent="0">
              <a:buNone/>
              <a:defRPr sz="1333"/>
            </a:lvl3pPr>
            <a:lvl4pPr marL="1523985" indent="0">
              <a:buNone/>
              <a:defRPr sz="1111"/>
            </a:lvl4pPr>
            <a:lvl5pPr marL="2031980" indent="0">
              <a:buNone/>
              <a:defRPr sz="1111"/>
            </a:lvl5pPr>
            <a:lvl6pPr marL="2539975" indent="0">
              <a:buNone/>
              <a:defRPr sz="1111"/>
            </a:lvl6pPr>
            <a:lvl7pPr marL="3047970" indent="0">
              <a:buNone/>
              <a:defRPr sz="1111"/>
            </a:lvl7pPr>
            <a:lvl8pPr marL="3555964" indent="0">
              <a:buNone/>
              <a:defRPr sz="1111"/>
            </a:lvl8pPr>
            <a:lvl9pPr marL="4063959" indent="0">
              <a:buNone/>
              <a:defRPr sz="11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52B3F09-47B3-324C-BCD8-DE2A52443CC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31038" y="6718653"/>
            <a:ext cx="6436407" cy="723547"/>
          </a:xfrm>
        </p:spPr>
        <p:txBody>
          <a:bodyPr/>
          <a:lstStyle>
            <a:lvl1pPr marL="0" indent="0">
              <a:buNone/>
              <a:defRPr sz="1111"/>
            </a:lvl1pPr>
          </a:lstStyle>
          <a:p>
            <a:pPr lvl="0"/>
            <a:r>
              <a:rPr lang="en-US" dirty="0"/>
              <a:t>Credit line FPO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A3226D5-00A8-E049-8469-4BFBE39DD46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31038" y="1676461"/>
            <a:ext cx="6436180" cy="4894027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46699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>
            <a:lvl1pPr>
              <a:defRPr sz="3333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3"/>
          <p:cNvSpPr>
            <a:spLocks noGrp="1"/>
          </p:cNvSpPr>
          <p:nvPr>
            <p:ph idx="1" hasCustomPrompt="1"/>
          </p:nvPr>
        </p:nvSpPr>
        <p:spPr>
          <a:xfrm>
            <a:off x="1023844" y="1623391"/>
            <a:ext cx="3535278" cy="5439253"/>
          </a:xfrm>
        </p:spPr>
        <p:txBody>
          <a:bodyPr>
            <a:normAutofit/>
          </a:bodyPr>
          <a:lstStyle>
            <a:lvl1pPr marL="0" indent="0">
              <a:buNone/>
              <a:defRPr sz="2444"/>
            </a:lvl1pPr>
            <a:lvl2pPr marL="507995" indent="0">
              <a:buNone/>
              <a:defRPr sz="2222"/>
            </a:lvl2pPr>
            <a:lvl3pPr marL="1015990" indent="0">
              <a:buNone/>
              <a:defRPr sz="2000"/>
            </a:lvl3pPr>
            <a:lvl4pPr marL="1523985" indent="0">
              <a:buNone/>
              <a:defRPr sz="1778"/>
            </a:lvl4pPr>
            <a:lvl5pPr marL="2031980" indent="0">
              <a:buNone/>
              <a:defRPr sz="1778"/>
            </a:lvl5pPr>
            <a:lvl6pPr>
              <a:defRPr sz="1778"/>
            </a:lvl6pPr>
            <a:lvl7pPr>
              <a:defRPr sz="1778"/>
            </a:lvl7pPr>
            <a:lvl8pPr>
              <a:defRPr sz="1778"/>
            </a:lvl8pPr>
            <a:lvl9pPr>
              <a:defRPr sz="1778"/>
            </a:lvl9pPr>
          </a:lstStyle>
          <a:p>
            <a:pPr lvl="0"/>
            <a:r>
              <a:rPr lang="en-US" dirty="0"/>
              <a:t>Sample text</a:t>
            </a:r>
            <a:endParaRPr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40A1ED7B-82D7-5A47-A193-C7C24693D3C4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86090" y="1623391"/>
            <a:ext cx="3535278" cy="5439253"/>
          </a:xfrm>
        </p:spPr>
        <p:txBody>
          <a:bodyPr>
            <a:normAutofit/>
          </a:bodyPr>
          <a:lstStyle>
            <a:lvl1pPr marL="0" indent="0">
              <a:buNone/>
              <a:defRPr sz="2444"/>
            </a:lvl1pPr>
            <a:lvl2pPr>
              <a:defRPr sz="2222"/>
            </a:lvl2pPr>
            <a:lvl3pPr>
              <a:defRPr sz="2000"/>
            </a:lvl3pPr>
            <a:lvl4pPr>
              <a:defRPr sz="1778"/>
            </a:lvl4pPr>
            <a:lvl5pPr>
              <a:defRPr sz="1778"/>
            </a:lvl5pPr>
            <a:lvl6pPr>
              <a:defRPr sz="1778"/>
            </a:lvl6pPr>
            <a:lvl7pPr>
              <a:defRPr sz="1778"/>
            </a:lvl7pPr>
            <a:lvl8pPr>
              <a:defRPr sz="1778"/>
            </a:lvl8pPr>
            <a:lvl9pPr>
              <a:defRPr sz="1778"/>
            </a:lvl9pPr>
          </a:lstStyle>
          <a:p>
            <a:pPr lvl="0"/>
            <a:r>
              <a:rPr lang="en-US" dirty="0"/>
              <a:t>Sample text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43872FE9-5E92-4F44-8A71-024A081C439C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8948335" y="1623391"/>
            <a:ext cx="3535278" cy="5439253"/>
          </a:xfrm>
        </p:spPr>
        <p:txBody>
          <a:bodyPr>
            <a:normAutofit/>
          </a:bodyPr>
          <a:lstStyle>
            <a:lvl1pPr marL="0" indent="0">
              <a:buNone/>
              <a:defRPr sz="2444"/>
            </a:lvl1pPr>
            <a:lvl2pPr>
              <a:defRPr sz="2222"/>
            </a:lvl2pPr>
            <a:lvl3pPr>
              <a:defRPr sz="2000"/>
            </a:lvl3pPr>
            <a:lvl4pPr>
              <a:defRPr sz="1778"/>
            </a:lvl4pPr>
            <a:lvl5pPr>
              <a:defRPr sz="1778"/>
            </a:lvl5pPr>
            <a:lvl6pPr>
              <a:defRPr sz="1778"/>
            </a:lvl6pPr>
            <a:lvl7pPr>
              <a:defRPr sz="1778"/>
            </a:lvl7pPr>
            <a:lvl8pPr>
              <a:defRPr sz="1778"/>
            </a:lvl8pPr>
            <a:lvl9pPr>
              <a:defRPr sz="1778"/>
            </a:lvl9pPr>
          </a:lstStyle>
          <a:p>
            <a:pPr lvl="0"/>
            <a:r>
              <a:rPr lang="en-US" dirty="0"/>
              <a:t>Sample text</a:t>
            </a:r>
          </a:p>
        </p:txBody>
      </p:sp>
    </p:spTree>
    <p:extLst>
      <p:ext uri="{BB962C8B-B14F-4D97-AF65-F5344CB8AC3E}">
        <p14:creationId xmlns:p14="http://schemas.microsoft.com/office/powerpoint/2010/main" val="3914805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5138" y="5334002"/>
            <a:ext cx="8127683" cy="629709"/>
          </a:xfrm>
        </p:spPr>
        <p:txBody>
          <a:bodyPr anchor="b"/>
          <a:lstStyle>
            <a:lvl1pPr algn="l">
              <a:defRPr sz="29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655138" y="680861"/>
            <a:ext cx="8127683" cy="4572000"/>
          </a:xfrm>
        </p:spPr>
        <p:txBody>
          <a:bodyPr rtlCol="0">
            <a:normAutofit/>
          </a:bodyPr>
          <a:lstStyle>
            <a:lvl1pPr marL="0" indent="0">
              <a:buNone/>
              <a:defRPr sz="4800"/>
            </a:lvl1pPr>
            <a:lvl2pPr marL="677303" indent="0">
              <a:buNone/>
              <a:defRPr sz="4133"/>
            </a:lvl2pPr>
            <a:lvl3pPr marL="1354606" indent="0">
              <a:buNone/>
              <a:defRPr sz="3600"/>
            </a:lvl3pPr>
            <a:lvl4pPr marL="2031909" indent="0">
              <a:buNone/>
              <a:defRPr sz="2933"/>
            </a:lvl4pPr>
            <a:lvl5pPr marL="2709212" indent="0">
              <a:buNone/>
              <a:defRPr sz="2933"/>
            </a:lvl5pPr>
            <a:lvl6pPr marL="3386515" indent="0">
              <a:buNone/>
              <a:defRPr sz="2933"/>
            </a:lvl6pPr>
            <a:lvl7pPr marL="4063818" indent="0">
              <a:buNone/>
              <a:defRPr sz="2933"/>
            </a:lvl7pPr>
            <a:lvl8pPr marL="4741120" indent="0">
              <a:buNone/>
              <a:defRPr sz="2933"/>
            </a:lvl8pPr>
            <a:lvl9pPr marL="5418422" indent="0">
              <a:buNone/>
              <a:defRPr sz="2933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55138" y="5963711"/>
            <a:ext cx="8127683" cy="894291"/>
          </a:xfrm>
        </p:spPr>
        <p:txBody>
          <a:bodyPr/>
          <a:lstStyle>
            <a:lvl1pPr marL="0" indent="0">
              <a:buNone/>
              <a:defRPr sz="2133"/>
            </a:lvl1pPr>
            <a:lvl2pPr marL="677303" indent="0">
              <a:buNone/>
              <a:defRPr sz="1733"/>
            </a:lvl2pPr>
            <a:lvl3pPr marL="1354606" indent="0">
              <a:buNone/>
              <a:defRPr sz="1467"/>
            </a:lvl3pPr>
            <a:lvl4pPr marL="2031909" indent="0">
              <a:buNone/>
              <a:defRPr sz="1333"/>
            </a:lvl4pPr>
            <a:lvl5pPr marL="2709212" indent="0">
              <a:buNone/>
              <a:defRPr sz="1333"/>
            </a:lvl5pPr>
            <a:lvl6pPr marL="3386515" indent="0">
              <a:buNone/>
              <a:defRPr sz="1333"/>
            </a:lvl6pPr>
            <a:lvl7pPr marL="4063818" indent="0">
              <a:buNone/>
              <a:defRPr sz="1333"/>
            </a:lvl7pPr>
            <a:lvl8pPr marL="4741120" indent="0">
              <a:buNone/>
              <a:defRPr sz="1333"/>
            </a:lvl8pPr>
            <a:lvl9pPr marL="5418422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F4130C-2142-4C44-AE0B-F0DA5B89A4A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8947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3542751" cy="132080"/>
          </a:xfrm>
          <a:prstGeom prst="rect">
            <a:avLst/>
          </a:prstGeom>
          <a:solidFill>
            <a:srgbClr val="FFC4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667" b="0" i="0" dirty="0">
              <a:latin typeface="Arial" panose="020B0604020202020204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0" y="134482"/>
            <a:ext cx="13546138" cy="1113432"/>
          </a:xfrm>
          <a:prstGeom prst="rect">
            <a:avLst/>
          </a:prstGeom>
          <a:solidFill>
            <a:srgbClr val="003B74"/>
          </a:solidFill>
        </p:spPr>
        <p:txBody>
          <a:bodyPr vert="horz" lIns="914400" tIns="45720" rIns="91440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562" y="2448560"/>
            <a:ext cx="11594647" cy="44291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F38BD8-3F75-CE4C-AFEF-0C6B45F77F8C}"/>
              </a:ext>
            </a:extLst>
          </p:cNvPr>
          <p:cNvSpPr/>
          <p:nvPr/>
        </p:nvSpPr>
        <p:spPr>
          <a:xfrm rot="5400000">
            <a:off x="10604209" y="4721810"/>
            <a:ext cx="5567217" cy="229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89" dirty="0">
                <a:latin typeface="Arial" panose="020B0604020202020204" pitchFamily="34" charset="0"/>
                <a:cs typeface="Arial" panose="020B0604020202020204" pitchFamily="34" charset="0"/>
              </a:rPr>
              <a:t>Copyright © 2025 by Jones &amp; Bartlett Learning, LLC an Ascend Learning Company. www.jblearning.com</a:t>
            </a:r>
          </a:p>
        </p:txBody>
      </p:sp>
    </p:spTree>
    <p:extLst>
      <p:ext uri="{BB962C8B-B14F-4D97-AF65-F5344CB8AC3E}">
        <p14:creationId xmlns:p14="http://schemas.microsoft.com/office/powerpoint/2010/main" val="603734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4" r:id="rId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015990" rtl="0" eaLnBrk="1" latinLnBrk="0" hangingPunct="1">
        <a:lnSpc>
          <a:spcPct val="95000"/>
        </a:lnSpc>
        <a:spcBef>
          <a:spcPct val="0"/>
        </a:spcBef>
        <a:buNone/>
        <a:defRPr sz="3333" b="1" kern="1200">
          <a:solidFill>
            <a:schemeClr val="bg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53997" indent="-253997" algn="l" defTabSz="1015990" rtl="0" eaLnBrk="1" latinLnBrk="0" hangingPunct="1">
        <a:lnSpc>
          <a:spcPct val="100000"/>
        </a:lnSpc>
        <a:spcBef>
          <a:spcPts val="1667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61992" indent="-253997" algn="l" defTabSz="1015990" rtl="0" eaLnBrk="1" latinLnBrk="0" hangingPunct="1">
        <a:lnSpc>
          <a:spcPct val="100000"/>
        </a:lnSpc>
        <a:spcBef>
          <a:spcPts val="333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69987" indent="-253997" algn="l" defTabSz="1015990" rtl="0" eaLnBrk="1" latinLnBrk="0" hangingPunct="1">
        <a:lnSpc>
          <a:spcPct val="100000"/>
        </a:lnSpc>
        <a:spcBef>
          <a:spcPts val="333"/>
        </a:spcBef>
        <a:buFont typeface="Wingdings" panose="05000000000000000000" pitchFamily="2" charset="2"/>
        <a:buChar char="§"/>
        <a:defRPr sz="2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777982" indent="-253997" algn="l" defTabSz="101599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2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285977" indent="-253997" algn="l" defTabSz="101599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2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793972" indent="-253997" algn="l" defTabSz="101599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778" kern="1200">
          <a:solidFill>
            <a:schemeClr val="tx1"/>
          </a:solidFill>
          <a:latin typeface="+mn-lt"/>
          <a:ea typeface="+mn-ea"/>
          <a:cs typeface="+mn-cs"/>
        </a:defRPr>
      </a:lvl6pPr>
      <a:lvl7pPr marL="3301967" indent="-253997" algn="l" defTabSz="101599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778" kern="1200">
          <a:solidFill>
            <a:schemeClr val="tx1"/>
          </a:solidFill>
          <a:latin typeface="+mn-lt"/>
          <a:ea typeface="+mn-ea"/>
          <a:cs typeface="+mn-cs"/>
        </a:defRPr>
      </a:lvl7pPr>
      <a:lvl8pPr marL="3809962" indent="-253997" algn="l" defTabSz="101599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778" kern="1200">
          <a:solidFill>
            <a:schemeClr val="tx1"/>
          </a:solidFill>
          <a:latin typeface="+mn-lt"/>
          <a:ea typeface="+mn-ea"/>
          <a:cs typeface="+mn-cs"/>
        </a:defRPr>
      </a:lvl8pPr>
      <a:lvl9pPr marL="4317957" indent="-253997" algn="l" defTabSz="101599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7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01599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7995" algn="l" defTabSz="101599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5990" algn="l" defTabSz="101599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3985" algn="l" defTabSz="101599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1980" algn="l" defTabSz="101599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39975" algn="l" defTabSz="101599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47970" algn="l" defTabSz="101599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5964" algn="l" defTabSz="101599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3959" algn="l" defTabSz="101599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ubtitle 14">
            <a:extLst>
              <a:ext uri="{FF2B5EF4-FFF2-40B4-BE49-F238E27FC236}">
                <a16:creationId xmlns:a16="http://schemas.microsoft.com/office/drawing/2014/main" id="{CF4F1586-DE6A-1A40-AEF4-23ADA41937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CHAPTER 5</a:t>
            </a: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A58A35F8-EA88-094E-8EAD-88FE6A07C4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Descriptive Epidemiology: </a:t>
            </a:r>
            <a:br>
              <a:rPr lang="en-US" dirty="0"/>
            </a:br>
            <a:r>
              <a:rPr lang="en-US" dirty="0"/>
              <a:t>Patterns of Disease—Person, Place, Time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AD0EDA-0872-EBD0-2942-A00FBEF2EB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82076" y="333511"/>
            <a:ext cx="4126395" cy="6952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69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"/>
          <p:cNvSpPr>
            <a:spLocks noGrp="1" noChangeArrowheads="1"/>
          </p:cNvSpPr>
          <p:nvPr>
            <p:ph type="title"/>
          </p:nvPr>
        </p:nvSpPr>
        <p:spPr>
          <a:xfrm>
            <a:off x="0" y="134482"/>
            <a:ext cx="13546138" cy="1113432"/>
          </a:xfrm>
        </p:spPr>
        <p:txBody>
          <a:bodyPr/>
          <a:lstStyle/>
          <a:p>
            <a:r>
              <a:rPr lang="en-US" altLang="en-US" dirty="0"/>
              <a:t>Learning Objectives</a:t>
            </a:r>
          </a:p>
        </p:txBody>
      </p:sp>
      <p:sp>
        <p:nvSpPr>
          <p:cNvPr id="3075" name="Rectangle 2"/>
          <p:cNvSpPr>
            <a:spLocks noGrp="1" noChangeArrowheads="1"/>
          </p:cNvSpPr>
          <p:nvPr>
            <p:ph idx="1"/>
          </p:nvPr>
        </p:nvSpPr>
        <p:spPr>
          <a:xfrm>
            <a:off x="1028660" y="1656523"/>
            <a:ext cx="11429554" cy="5221163"/>
          </a:xfrm>
        </p:spPr>
        <p:txBody>
          <a:bodyPr/>
          <a:lstStyle/>
          <a:p>
            <a:pPr lvl="0"/>
            <a:r>
              <a:rPr lang="en-US" dirty="0"/>
              <a:t>Define the term </a:t>
            </a:r>
            <a:r>
              <a:rPr lang="en-US" i="1" dirty="0"/>
              <a:t>descriptive epidemiology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Give two examples of uses of descriptive epidemiology.</a:t>
            </a:r>
          </a:p>
          <a:p>
            <a:pPr lvl="0"/>
            <a:r>
              <a:rPr lang="en-US" dirty="0"/>
              <a:t>Compare three types of descriptive epidemiologic studies.</a:t>
            </a:r>
          </a:p>
          <a:p>
            <a:pPr lvl="0"/>
            <a:r>
              <a:rPr lang="en-US" dirty="0"/>
              <a:t>Describe the process of epidemiologic inference in the context of descriptive epidemiology.</a:t>
            </a:r>
          </a:p>
          <a:p>
            <a:r>
              <a:rPr lang="en-US" dirty="0"/>
              <a:t>Give examples of person, place, and time variables and describe how they relate to the distribution of health outcomes.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34482"/>
            <a:ext cx="13546138" cy="1113432"/>
          </a:xfrm>
        </p:spPr>
        <p:txBody>
          <a:bodyPr/>
          <a:lstStyle/>
          <a:p>
            <a:r>
              <a:rPr lang="en-US" altLang="en-US" dirty="0"/>
              <a:t>Introduction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>
          <a:xfrm>
            <a:off x="1028660" y="1656523"/>
            <a:ext cx="11429554" cy="5221163"/>
          </a:xfrm>
        </p:spPr>
        <p:txBody>
          <a:bodyPr/>
          <a:lstStyle/>
          <a:p>
            <a:r>
              <a:rPr lang="en-US" altLang="en-US" dirty="0"/>
              <a:t>Unequal distributions of health and disease in populations </a:t>
            </a:r>
          </a:p>
          <a:p>
            <a:r>
              <a:rPr lang="en-US" altLang="en-US" dirty="0"/>
              <a:t>To determine why health conditions vary throughout populations, one must answer the following questions:</a:t>
            </a:r>
          </a:p>
          <a:p>
            <a:pPr lvl="1"/>
            <a:r>
              <a:rPr lang="en-US" altLang="en-US" dirty="0"/>
              <a:t>Who was affected?</a:t>
            </a:r>
          </a:p>
          <a:p>
            <a:pPr lvl="1"/>
            <a:r>
              <a:rPr lang="en-US" altLang="en-US" dirty="0"/>
              <a:t>Where were people affected?</a:t>
            </a:r>
          </a:p>
          <a:p>
            <a:pPr lvl="1"/>
            <a:r>
              <a:rPr lang="en-US" altLang="en-US" dirty="0"/>
              <a:t>When were people affected?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"/>
          <p:cNvSpPr>
            <a:spLocks noGrp="1" noChangeArrowheads="1"/>
          </p:cNvSpPr>
          <p:nvPr>
            <p:ph type="title"/>
          </p:nvPr>
        </p:nvSpPr>
        <p:spPr>
          <a:xfrm>
            <a:off x="0" y="134482"/>
            <a:ext cx="13546138" cy="1113432"/>
          </a:xfrm>
        </p:spPr>
        <p:txBody>
          <a:bodyPr/>
          <a:lstStyle/>
          <a:p>
            <a:r>
              <a:rPr lang="en-US" dirty="0"/>
              <a:t>Definition: Descriptive Epidemiology</a:t>
            </a:r>
          </a:p>
        </p:txBody>
      </p:sp>
      <p:sp>
        <p:nvSpPr>
          <p:cNvPr id="5123" name="Rectangle 2"/>
          <p:cNvSpPr>
            <a:spLocks noGrp="1" noChangeArrowheads="1"/>
          </p:cNvSpPr>
          <p:nvPr>
            <p:ph idx="1"/>
          </p:nvPr>
        </p:nvSpPr>
        <p:spPr>
          <a:xfrm>
            <a:off x="1028660" y="1656523"/>
            <a:ext cx="11429554" cy="5221163"/>
          </a:xfrm>
        </p:spPr>
        <p:txBody>
          <a:bodyPr/>
          <a:lstStyle/>
          <a:p>
            <a:r>
              <a:rPr lang="en-US" altLang="en-US" dirty="0"/>
              <a:t>Descriptive epidemiology classifies occurrence of disease according to these variables.</a:t>
            </a:r>
          </a:p>
          <a:p>
            <a:pPr lvl="1"/>
            <a:r>
              <a:rPr lang="en-US" altLang="en-US" dirty="0"/>
              <a:t>Person (who is affected)</a:t>
            </a:r>
          </a:p>
          <a:p>
            <a:pPr lvl="1"/>
            <a:r>
              <a:rPr lang="en-US" altLang="en-US" dirty="0"/>
              <a:t>Place (where were people affected)</a:t>
            </a:r>
          </a:p>
          <a:p>
            <a:pPr lvl="1"/>
            <a:r>
              <a:rPr lang="en-US" altLang="en-US" dirty="0"/>
              <a:t>Time (when and over what time period were people affected)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/>
          <p:cNvSpPr>
            <a:spLocks noGrp="1" noChangeArrowheads="1"/>
          </p:cNvSpPr>
          <p:nvPr>
            <p:ph type="title"/>
          </p:nvPr>
        </p:nvSpPr>
        <p:spPr>
          <a:xfrm>
            <a:off x="0" y="134482"/>
            <a:ext cx="13546138" cy="1113432"/>
          </a:xfrm>
        </p:spPr>
        <p:txBody>
          <a:bodyPr/>
          <a:lstStyle/>
          <a:p>
            <a:r>
              <a:rPr lang="en-US" altLang="en-US" dirty="0"/>
              <a:t>Descriptive Epidemiologic Study</a:t>
            </a:r>
          </a:p>
        </p:txBody>
      </p:sp>
      <p:sp>
        <p:nvSpPr>
          <p:cNvPr id="6147" name="Rectangle 2"/>
          <p:cNvSpPr>
            <a:spLocks noGrp="1" noChangeArrowheads="1"/>
          </p:cNvSpPr>
          <p:nvPr>
            <p:ph idx="1"/>
          </p:nvPr>
        </p:nvSpPr>
        <p:spPr>
          <a:xfrm>
            <a:off x="1028660" y="1656523"/>
            <a:ext cx="11429554" cy="5221163"/>
          </a:xfrm>
        </p:spPr>
        <p:txBody>
          <a:bodyPr/>
          <a:lstStyle/>
          <a:p>
            <a:r>
              <a:rPr lang="en-US" altLang="en-US" dirty="0"/>
              <a:t>A study is one that is “...concerned with characterizing the amount and distribution of health and disease within a population.”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34482"/>
            <a:ext cx="13546138" cy="1113432"/>
          </a:xfrm>
        </p:spPr>
        <p:txBody>
          <a:bodyPr/>
          <a:lstStyle/>
          <a:p>
            <a:r>
              <a:rPr lang="en-US" altLang="en-US" dirty="0"/>
              <a:t>Descriptive Epidemiology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1028660" y="1656523"/>
            <a:ext cx="11429554" cy="5221163"/>
          </a:xfrm>
        </p:spPr>
        <p:txBody>
          <a:bodyPr/>
          <a:lstStyle/>
          <a:p>
            <a:r>
              <a:rPr lang="en-US" altLang="en-US" dirty="0"/>
              <a:t>Provides valuable information for these activities (among many others):</a:t>
            </a:r>
          </a:p>
          <a:p>
            <a:pPr lvl="1"/>
            <a:r>
              <a:rPr lang="en-US" altLang="en-US" dirty="0"/>
              <a:t>Prevention of disease</a:t>
            </a:r>
          </a:p>
          <a:p>
            <a:pPr lvl="1"/>
            <a:r>
              <a:rPr lang="en-US" altLang="en-US" dirty="0"/>
              <a:t>Design of interventions </a:t>
            </a:r>
          </a:p>
          <a:p>
            <a:pPr lvl="1"/>
            <a:r>
              <a:rPr lang="en-US" altLang="en-US" dirty="0"/>
              <a:t>Conduct of additional research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0" y="134482"/>
            <a:ext cx="13546138" cy="1113432"/>
          </a:xfrm>
        </p:spPr>
        <p:txBody>
          <a:bodyPr/>
          <a:lstStyle/>
          <a:p>
            <a:r>
              <a:rPr lang="en-US" altLang="en-US" dirty="0"/>
              <a:t>Example of a Descriptive Epidemiologic Study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1028660" y="1656523"/>
            <a:ext cx="11429554" cy="5221163"/>
          </a:xfrm>
        </p:spPr>
        <p:txBody>
          <a:bodyPr/>
          <a:lstStyle/>
          <a:p>
            <a:r>
              <a:rPr lang="en-US" altLang="en-US" dirty="0"/>
              <a:t>People who used telemedicine services during 2021</a:t>
            </a:r>
          </a:p>
          <a:p>
            <a:pPr lvl="1"/>
            <a:r>
              <a:rPr lang="en-US" altLang="en-US" dirty="0"/>
              <a:t>About 37% of people used telemedicine services in 2021.</a:t>
            </a:r>
          </a:p>
          <a:p>
            <a:pPr lvl="1"/>
            <a:r>
              <a:rPr lang="en-US" altLang="en-US" dirty="0"/>
              <a:t>Telemedicine usage was more common among females, older individuals, the Northeast and Western regions of the United States, and people living in large metropolitan areas. </a:t>
            </a:r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"/>
          <p:cNvSpPr>
            <a:spLocks noGrp="1" noChangeArrowheads="1"/>
          </p:cNvSpPr>
          <p:nvPr>
            <p:ph type="title"/>
          </p:nvPr>
        </p:nvSpPr>
        <p:spPr>
          <a:xfrm>
            <a:off x="0" y="134482"/>
            <a:ext cx="13546138" cy="1113432"/>
          </a:xfrm>
        </p:spPr>
        <p:txBody>
          <a:bodyPr/>
          <a:lstStyle/>
          <a:p>
            <a:r>
              <a:rPr lang="en-US" altLang="en-US" dirty="0"/>
              <a:t>Uses of Descriptive Epidemiologic Studies</a:t>
            </a:r>
          </a:p>
        </p:txBody>
      </p:sp>
      <p:sp>
        <p:nvSpPr>
          <p:cNvPr id="9219" name="Rectangle 2"/>
          <p:cNvSpPr>
            <a:spLocks noGrp="1" noChangeArrowheads="1"/>
          </p:cNvSpPr>
          <p:nvPr>
            <p:ph idx="1"/>
          </p:nvPr>
        </p:nvSpPr>
        <p:spPr>
          <a:xfrm>
            <a:off x="1028660" y="1656523"/>
            <a:ext cx="11429554" cy="5221163"/>
          </a:xfrm>
        </p:spPr>
        <p:txBody>
          <a:bodyPr/>
          <a:lstStyle/>
          <a:p>
            <a:r>
              <a:rPr lang="en-US" dirty="0"/>
              <a:t>Aims of descriptive epidemiology</a:t>
            </a:r>
          </a:p>
          <a:p>
            <a:pPr lvl="1"/>
            <a:r>
              <a:rPr lang="en-US" dirty="0"/>
              <a:t>Permit evaluation of trends in health and disease </a:t>
            </a:r>
          </a:p>
          <a:p>
            <a:pPr lvl="1"/>
            <a:r>
              <a:rPr lang="en-US" dirty="0"/>
              <a:t>Provide basis for planning, provision, and evaluation of health services</a:t>
            </a:r>
          </a:p>
          <a:p>
            <a:pPr lvl="1"/>
            <a:r>
              <a:rPr lang="en-US" dirty="0"/>
              <a:t>Identify problems to be studied by analytic methods and suggest areas that may be fruitful for investigation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"/>
          <p:cNvSpPr>
            <a:spLocks noGrp="1" noChangeArrowheads="1"/>
          </p:cNvSpPr>
          <p:nvPr>
            <p:ph type="title"/>
          </p:nvPr>
        </p:nvSpPr>
        <p:spPr>
          <a:xfrm>
            <a:off x="0" y="134482"/>
            <a:ext cx="13546138" cy="1113432"/>
          </a:xfrm>
        </p:spPr>
        <p:txBody>
          <a:bodyPr/>
          <a:lstStyle/>
          <a:p>
            <a:r>
              <a:rPr lang="en-US" altLang="en-US" dirty="0"/>
              <a:t>Types of Descriptive Epidemiologic Studies</a:t>
            </a:r>
          </a:p>
        </p:txBody>
      </p:sp>
      <p:sp>
        <p:nvSpPr>
          <p:cNvPr id="10243" name="Rectangle 2"/>
          <p:cNvSpPr>
            <a:spLocks noGrp="1" noChangeArrowheads="1"/>
          </p:cNvSpPr>
          <p:nvPr>
            <p:ph idx="1"/>
          </p:nvPr>
        </p:nvSpPr>
        <p:spPr>
          <a:xfrm>
            <a:off x="1028660" y="1656523"/>
            <a:ext cx="11429554" cy="5221163"/>
          </a:xfrm>
        </p:spPr>
        <p:txBody>
          <a:bodyPr/>
          <a:lstStyle/>
          <a:p>
            <a:r>
              <a:rPr lang="en-US" dirty="0"/>
              <a:t>Case reports</a:t>
            </a:r>
          </a:p>
          <a:p>
            <a:r>
              <a:rPr lang="en-US" dirty="0"/>
              <a:t>Case series</a:t>
            </a:r>
          </a:p>
          <a:p>
            <a:r>
              <a:rPr lang="en-US" dirty="0"/>
              <a:t>Cross-sectional studies (can be both descriptive and analytic)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34482"/>
            <a:ext cx="13546138" cy="1113432"/>
          </a:xfrm>
        </p:spPr>
        <p:txBody>
          <a:bodyPr/>
          <a:lstStyle/>
          <a:p>
            <a:r>
              <a:rPr lang="en-US" altLang="en-US" dirty="0"/>
              <a:t>Case Reports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1028660" y="1656523"/>
            <a:ext cx="11429554" cy="5221163"/>
          </a:xfrm>
        </p:spPr>
        <p:txBody>
          <a:bodyPr/>
          <a:lstStyle/>
          <a:p>
            <a:r>
              <a:rPr lang="en-US" altLang="en-US" dirty="0"/>
              <a:t>Accounts of a single occurrence of a noteworthy health-related incident or of a small collection of such events</a:t>
            </a:r>
          </a:p>
          <a:p>
            <a:r>
              <a:rPr lang="en-US" altLang="en-US" dirty="0"/>
              <a:t>Examples </a:t>
            </a:r>
          </a:p>
          <a:p>
            <a:pPr lvl="1"/>
            <a:r>
              <a:rPr lang="en-US" altLang="en-US" dirty="0"/>
              <a:t>Bison encounters—Yellowstone National Park</a:t>
            </a:r>
          </a:p>
          <a:p>
            <a:pPr lvl="1"/>
            <a:r>
              <a:rPr lang="en-US" altLang="en-US" i="1" dirty="0"/>
              <a:t>Cronobacter</a:t>
            </a:r>
            <a:r>
              <a:rPr lang="en-US" altLang="en-US" dirty="0"/>
              <a:t> infection in infants</a:t>
            </a:r>
          </a:p>
          <a:p>
            <a:pPr lvl="1"/>
            <a:r>
              <a:rPr lang="en-US" altLang="en-US" dirty="0"/>
              <a:t>Human rabies cases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34482"/>
            <a:ext cx="13546138" cy="1113432"/>
          </a:xfrm>
        </p:spPr>
        <p:txBody>
          <a:bodyPr/>
          <a:lstStyle/>
          <a:p>
            <a:r>
              <a:rPr lang="en-US" altLang="en-US" dirty="0"/>
              <a:t>Case Series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1028660" y="1656523"/>
            <a:ext cx="11429554" cy="5221163"/>
          </a:xfrm>
        </p:spPr>
        <p:txBody>
          <a:bodyPr/>
          <a:lstStyle/>
          <a:p>
            <a:r>
              <a:rPr lang="en-US" altLang="en-US" dirty="0"/>
              <a:t>In comparison with a case report, a case series is a larger collection of cases of disease, often grouped consecutively and listing common features (i.e., characteristics of affected patients).</a:t>
            </a:r>
          </a:p>
          <a:p>
            <a:r>
              <a:rPr lang="en-US" altLang="en-US" dirty="0"/>
              <a:t>Example: </a:t>
            </a:r>
          </a:p>
          <a:p>
            <a:pPr lvl="1"/>
            <a:r>
              <a:rPr lang="en-US" altLang="en-US" dirty="0"/>
              <a:t>Reported cases of acute flaccid myelitis (AFM) in children</a:t>
            </a:r>
          </a:p>
          <a:p>
            <a:pPr lvl="1"/>
            <a:r>
              <a:rPr lang="en-US" altLang="en-US" dirty="0"/>
              <a:t>Primary exposure unknown but suspected to be infection with certain viruses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34482"/>
            <a:ext cx="13546138" cy="1113432"/>
          </a:xfrm>
        </p:spPr>
        <p:txBody>
          <a:bodyPr/>
          <a:lstStyle/>
          <a:p>
            <a:r>
              <a:rPr lang="en-US" altLang="en-US" dirty="0"/>
              <a:t>Cross-Sectional Studies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1028660" y="1656523"/>
            <a:ext cx="11429554" cy="5221163"/>
          </a:xfrm>
        </p:spPr>
        <p:txBody>
          <a:bodyPr/>
          <a:lstStyle/>
          <a:p>
            <a:r>
              <a:rPr lang="en-US" altLang="en-US" dirty="0"/>
              <a:t>Type of investigation “…that examines the relationship between diseases (or other health-related characteristics) and other variables of interest as they exist in a defined population at one particular time”</a:t>
            </a:r>
          </a:p>
          <a:p>
            <a:r>
              <a:rPr lang="en-US" altLang="en-US" dirty="0"/>
              <a:t>Measures prevalence</a:t>
            </a:r>
          </a:p>
          <a:p>
            <a:r>
              <a:rPr lang="en-US" altLang="en-US" dirty="0"/>
              <a:t>Exposures and outcomes measured at the same time</a:t>
            </a:r>
          </a:p>
          <a:p>
            <a:r>
              <a:rPr lang="en-US" altLang="en-US" dirty="0"/>
              <a:t>Example of a cross-sectional study: The Behavioral Risk Factor Surveillance System (BRFSS).</a:t>
            </a:r>
          </a:p>
          <a:p>
            <a:pPr lvl="1"/>
            <a:r>
              <a:rPr lang="en-US" altLang="en-US" dirty="0"/>
              <a:t>An illustration of results from the BRFSS is a study of use of e-cigarettes among working adults.</a:t>
            </a:r>
          </a:p>
          <a:p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"/>
          <p:cNvSpPr>
            <a:spLocks noGrp="1" noChangeArrowheads="1"/>
          </p:cNvSpPr>
          <p:nvPr>
            <p:ph type="title"/>
          </p:nvPr>
        </p:nvSpPr>
        <p:spPr>
          <a:xfrm>
            <a:off x="0" y="134482"/>
            <a:ext cx="13546138" cy="1113432"/>
          </a:xfrm>
        </p:spPr>
        <p:txBody>
          <a:bodyPr/>
          <a:lstStyle/>
          <a:p>
            <a:r>
              <a:rPr lang="en-US" altLang="en-US" dirty="0"/>
              <a:t>Epidemiologic Inferences from Descriptive Data</a:t>
            </a:r>
          </a:p>
        </p:txBody>
      </p:sp>
      <p:sp>
        <p:nvSpPr>
          <p:cNvPr id="15363" name="Rectangle 2"/>
          <p:cNvSpPr>
            <a:spLocks noGrp="1" noChangeArrowheads="1"/>
          </p:cNvSpPr>
          <p:nvPr>
            <p:ph idx="1"/>
          </p:nvPr>
        </p:nvSpPr>
        <p:spPr>
          <a:xfrm>
            <a:off x="1028660" y="1656523"/>
            <a:ext cx="11429554" cy="5221163"/>
          </a:xfrm>
        </p:spPr>
        <p:txBody>
          <a:bodyPr/>
          <a:lstStyle/>
          <a:p>
            <a:r>
              <a:rPr lang="en-US" altLang="en-US" dirty="0"/>
              <a:t>Descriptive epidemiology and descriptive studies provide a basis for generating hypotheses.</a:t>
            </a:r>
          </a:p>
          <a:p>
            <a:r>
              <a:rPr lang="en-US" altLang="en-US" dirty="0"/>
              <a:t>Epidemiologic inference tested in analytic research is initiated with descriptive observations.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34482"/>
            <a:ext cx="13546138" cy="1113432"/>
          </a:xfrm>
        </p:spPr>
        <p:txBody>
          <a:bodyPr>
            <a:normAutofit/>
          </a:bodyPr>
          <a:lstStyle/>
          <a:p>
            <a:r>
              <a:rPr lang="en-US" altLang="en-US" dirty="0"/>
              <a:t>Figure 5-4 Process of epidemiologic inference</a:t>
            </a:r>
          </a:p>
        </p:txBody>
      </p:sp>
      <p:pic>
        <p:nvPicPr>
          <p:cNvPr id="3" name="Picture 2" descr="The steps involved in the process of epidemiologic inference are as follows: Observation leads to a cyclic process that involves the following four steps: make comparisons, generate, hypotheses, and test. The cyclic process further gives rise to descriptive epidemiology, analytic epidemiology, and epidemiologic inference. Descriptive epidemiology involves questions such as who, what, where, when, &amp; how many? It rules out chance, bias, and confounding and involves design, conduct, analysis, and interpretation. Analytic epidemiology involves questions such as why &amp; how? It controls for chance, bias, and confounding and involves design, conduct, analysis, and interpretation." title="Figure 5.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262" y="1981200"/>
            <a:ext cx="11337614" cy="4648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"/>
          <p:cNvSpPr>
            <a:spLocks noGrp="1" noChangeArrowheads="1"/>
          </p:cNvSpPr>
          <p:nvPr>
            <p:ph type="title"/>
          </p:nvPr>
        </p:nvSpPr>
        <p:spPr>
          <a:xfrm>
            <a:off x="0" y="134482"/>
            <a:ext cx="13546138" cy="1113432"/>
          </a:xfrm>
        </p:spPr>
        <p:txBody>
          <a:bodyPr/>
          <a:lstStyle/>
          <a:p>
            <a:r>
              <a:rPr lang="en-US" altLang="en-US" dirty="0"/>
              <a:t>Person Variables: Examples</a:t>
            </a:r>
          </a:p>
        </p:txBody>
      </p:sp>
      <p:sp>
        <p:nvSpPr>
          <p:cNvPr id="16387" name="Rectangle 2"/>
          <p:cNvSpPr>
            <a:spLocks noGrp="1" noChangeArrowheads="1"/>
          </p:cNvSpPr>
          <p:nvPr>
            <p:ph idx="1"/>
          </p:nvPr>
        </p:nvSpPr>
        <p:spPr>
          <a:xfrm>
            <a:off x="1028660" y="1656523"/>
            <a:ext cx="11429554" cy="5221163"/>
          </a:xfrm>
        </p:spPr>
        <p:txBody>
          <a:bodyPr/>
          <a:lstStyle/>
          <a:p>
            <a:r>
              <a:rPr lang="en-US" altLang="en-US" dirty="0"/>
              <a:t>Covered in Chapter 5</a:t>
            </a:r>
          </a:p>
          <a:p>
            <a:pPr lvl="1"/>
            <a:r>
              <a:rPr lang="en-US" altLang="en-US" dirty="0"/>
              <a:t>Age </a:t>
            </a:r>
          </a:p>
          <a:p>
            <a:pPr lvl="1"/>
            <a:r>
              <a:rPr lang="en-US" altLang="en-US" dirty="0"/>
              <a:t>Sex </a:t>
            </a:r>
          </a:p>
          <a:p>
            <a:pPr lvl="1"/>
            <a:r>
              <a:rPr lang="en-US" altLang="en-US" dirty="0"/>
              <a:t>Race/ethnicity</a:t>
            </a:r>
          </a:p>
          <a:p>
            <a:pPr lvl="1"/>
            <a:r>
              <a:rPr lang="en-US" altLang="en-US" dirty="0"/>
              <a:t>Socioeconomic status</a:t>
            </a:r>
          </a:p>
          <a:p>
            <a:r>
              <a:rPr lang="en-US" altLang="en-US" dirty="0"/>
              <a:t>Other examples</a:t>
            </a:r>
          </a:p>
          <a:p>
            <a:pPr lvl="1"/>
            <a:r>
              <a:rPr lang="en-US" altLang="en-US" dirty="0"/>
              <a:t>Gender</a:t>
            </a:r>
          </a:p>
          <a:p>
            <a:pPr lvl="1"/>
            <a:r>
              <a:rPr lang="en-US" altLang="en-US" dirty="0"/>
              <a:t>Marital status</a:t>
            </a:r>
          </a:p>
          <a:p>
            <a:pPr lvl="1"/>
            <a:r>
              <a:rPr lang="en-US" altLang="en-US" dirty="0"/>
              <a:t>Nativity (place of origin)</a:t>
            </a:r>
          </a:p>
          <a:p>
            <a:pPr lvl="1"/>
            <a:r>
              <a:rPr lang="en-US" altLang="en-US" dirty="0"/>
              <a:t>Religion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34482"/>
            <a:ext cx="13546138" cy="1113432"/>
          </a:xfrm>
        </p:spPr>
        <p:txBody>
          <a:bodyPr/>
          <a:lstStyle/>
          <a:p>
            <a:r>
              <a:rPr lang="en-US" altLang="en-US" dirty="0"/>
              <a:t>Age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1028660" y="1656523"/>
            <a:ext cx="11429554" cy="5221163"/>
          </a:xfrm>
        </p:spPr>
        <p:txBody>
          <a:bodyPr/>
          <a:lstStyle/>
          <a:p>
            <a:r>
              <a:rPr lang="en-US" altLang="en-US" dirty="0"/>
              <a:t>Perhaps the most important factor to consider when describing occurrence of disease or illness</a:t>
            </a:r>
          </a:p>
          <a:p>
            <a:pPr lvl="1"/>
            <a:r>
              <a:rPr lang="en-US" altLang="en-US" dirty="0"/>
              <a:t>Age-specific disease rates usually show greater variation than rates defined by almost any other personal attribute.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0" y="134482"/>
            <a:ext cx="13546138" cy="1113432"/>
          </a:xfrm>
        </p:spPr>
        <p:txBody>
          <a:bodyPr/>
          <a:lstStyle/>
          <a:p>
            <a:r>
              <a:rPr lang="en-US" altLang="en-US" dirty="0"/>
              <a:t>Examples of Age Associations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1028660" y="1656523"/>
            <a:ext cx="11429554" cy="5221163"/>
          </a:xfrm>
        </p:spPr>
        <p:txBody>
          <a:bodyPr/>
          <a:lstStyle/>
          <a:p>
            <a:r>
              <a:rPr lang="en-US" altLang="en-US" dirty="0"/>
              <a:t>Incidence of and mortality from chronic diseases increase with age.  </a:t>
            </a:r>
          </a:p>
          <a:p>
            <a:r>
              <a:rPr lang="en-US" altLang="en-US" dirty="0"/>
              <a:t>Some infections (e.g., mumps and chickenpox) occur more commonly during childhood.</a:t>
            </a:r>
          </a:p>
          <a:p>
            <a:r>
              <a:rPr lang="en-US" altLang="en-US" dirty="0"/>
              <a:t>Leading cause of death among young adults is unintentional injuries.</a:t>
            </a:r>
          </a:p>
          <a:p>
            <a:r>
              <a:rPr lang="en-US" altLang="en-US" dirty="0"/>
              <a:t>Maternal age is associated with rates of diabetes and related complications.</a:t>
            </a:r>
          </a:p>
          <a:p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34482"/>
            <a:ext cx="13546138" cy="1113432"/>
          </a:xfrm>
        </p:spPr>
        <p:txBody>
          <a:bodyPr/>
          <a:lstStyle/>
          <a:p>
            <a:r>
              <a:rPr lang="en-US" altLang="en-US" dirty="0"/>
              <a:t>Sex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1028660" y="1656523"/>
            <a:ext cx="11429554" cy="5221163"/>
          </a:xfrm>
        </p:spPr>
        <p:txBody>
          <a:bodyPr/>
          <a:lstStyle/>
          <a:p>
            <a:r>
              <a:rPr lang="en-US" altLang="en-US" dirty="0"/>
              <a:t>Epidemiologic studies have shown sex differences in a wide scope of health phenomena including morbidity and mortality.</a:t>
            </a:r>
          </a:p>
          <a:p>
            <a:r>
              <a:rPr lang="en-US" altLang="en-US" dirty="0"/>
              <a:t>Examples</a:t>
            </a:r>
          </a:p>
          <a:p>
            <a:pPr lvl="1"/>
            <a:r>
              <a:rPr lang="en-US" altLang="en-US" dirty="0"/>
              <a:t>All-cause age-specific mortality rates are higher among males.</a:t>
            </a:r>
          </a:p>
          <a:p>
            <a:pPr lvl="1"/>
            <a:r>
              <a:rPr lang="en-US" altLang="en-US" dirty="0"/>
              <a:t>Differences in cancer rates (e.g., cancers of the genital system)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34482"/>
            <a:ext cx="13546138" cy="1113432"/>
          </a:xfrm>
        </p:spPr>
        <p:txBody>
          <a:bodyPr>
            <a:normAutofit/>
          </a:bodyPr>
          <a:lstStyle/>
          <a:p>
            <a:r>
              <a:rPr lang="en-US" altLang="en-US" dirty="0"/>
              <a:t>Figure 5-7 Leading sites of new cancer cases and deaths—2022 estimates</a:t>
            </a:r>
          </a:p>
        </p:txBody>
      </p:sp>
      <p:pic>
        <p:nvPicPr>
          <p:cNvPr id="3" name="Picture 2" descr="A four-part horizontal bar graph plots the leading sites of new cancer cases and deaths for both male and female. The data for new cases in male is as follows: prostate, 268,490; lung and bronchus, 117,910; colon and rectum, 80,690; urinary bladder, 61,700; melanoma of the skin, 57,180; kidney and renal pelvis, 50,290; non-Hodgkin lymphoma, 44,120; oral cavity and pharynx, 38,700; leukemia, 35,810; pancreas, 32,970. The data for deaths in male is as follows: lung and bronchus, 68,820; prostate, 34,500; colon and rect, 28,400; pancreas, 25,970; liver and intrahepatic bile duct, 20,420; leukemia, 14,020; esophagus, 13,250; urinary bladder, 12,120; non-Hodgkin lymphoma, 11,700; brain and other nervous system, 10,710. The data for new cases in female is as follows: breast, 287,850; lung and bronchus, 118,830; colon and rectum, 70,340; uterine body, 65,950; melanoma of the skin, 42,600; non-Hodgkin lymphoma, 36,350; thyroid, 31,940; pancreas, 29,240; kidney and renal pelvis, 28,710; leukemia, 24,840. The data for deaths in female is as follows: lung and bronchus, 61,360; breast, 43,250; colon and rectum, 24,180; pancreas, 23,860; ovary, 12,810; uterine body, 12,500; liver and intrahepatic bile duct, 10,100; leukemia, 9,980; non-Hodgkin lymphoma, 8,550; brain and other nervous system, 7,570." title="Figure 5.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3161" y="1524000"/>
            <a:ext cx="8179816" cy="55964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34482"/>
            <a:ext cx="13546138" cy="1113432"/>
          </a:xfrm>
        </p:spPr>
        <p:txBody>
          <a:bodyPr/>
          <a:lstStyle/>
          <a:p>
            <a:r>
              <a:rPr lang="en-US" altLang="en-US" dirty="0"/>
              <a:t>Nativity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1028660" y="1656523"/>
            <a:ext cx="11429554" cy="5221163"/>
          </a:xfrm>
        </p:spPr>
        <p:txBody>
          <a:bodyPr/>
          <a:lstStyle/>
          <a:p>
            <a:r>
              <a:rPr lang="en-US" altLang="en-US" dirty="0"/>
              <a:t>Place of origin of the individual or relatives</a:t>
            </a:r>
          </a:p>
          <a:p>
            <a:pPr lvl="1"/>
            <a:r>
              <a:rPr lang="en-US" altLang="en-US" dirty="0"/>
              <a:t>Subdivisions</a:t>
            </a:r>
          </a:p>
          <a:p>
            <a:pPr lvl="2"/>
            <a:r>
              <a:rPr lang="en-US" altLang="en-US" dirty="0"/>
              <a:t>Foreign-born</a:t>
            </a:r>
          </a:p>
          <a:p>
            <a:pPr lvl="2"/>
            <a:r>
              <a:rPr lang="en-US" altLang="en-US" dirty="0"/>
              <a:t>Native-born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34482"/>
            <a:ext cx="13546138" cy="1113432"/>
          </a:xfrm>
        </p:spPr>
        <p:txBody>
          <a:bodyPr/>
          <a:lstStyle/>
          <a:p>
            <a:r>
              <a:rPr lang="en-US" dirty="0"/>
              <a:t>Race/Ethnicity (1 of 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60" y="1656523"/>
            <a:ext cx="11429554" cy="5221163"/>
          </a:xfrm>
        </p:spPr>
        <p:txBody>
          <a:bodyPr/>
          <a:lstStyle/>
          <a:p>
            <a:r>
              <a:rPr lang="en-US" altLang="en-US" dirty="0"/>
              <a:t>Increasing diversity in U.S.</a:t>
            </a:r>
          </a:p>
          <a:p>
            <a:r>
              <a:rPr lang="en-US" altLang="en-US" dirty="0"/>
              <a:t>Five major race categories in Census 2020</a:t>
            </a:r>
          </a:p>
          <a:p>
            <a:pPr lvl="1"/>
            <a:r>
              <a:rPr lang="en-US" altLang="en-US" dirty="0"/>
              <a:t>White</a:t>
            </a:r>
          </a:p>
          <a:p>
            <a:pPr lvl="1"/>
            <a:r>
              <a:rPr lang="en-US" altLang="en-US" dirty="0"/>
              <a:t>Black or African American</a:t>
            </a:r>
          </a:p>
          <a:p>
            <a:pPr lvl="1"/>
            <a:r>
              <a:rPr lang="en-US" altLang="en-US" dirty="0"/>
              <a:t>American Indian and Alaska Native</a:t>
            </a:r>
          </a:p>
          <a:p>
            <a:pPr lvl="1"/>
            <a:r>
              <a:rPr lang="en-US" altLang="en-US" dirty="0"/>
              <a:t>Asian</a:t>
            </a:r>
          </a:p>
          <a:p>
            <a:pPr lvl="1"/>
            <a:r>
              <a:rPr lang="en-US" altLang="en-US" dirty="0"/>
              <a:t>Native Hawaiian and other Pacific Islander</a:t>
            </a:r>
          </a:p>
          <a:p>
            <a:r>
              <a:rPr lang="en-US" altLang="en-US" dirty="0"/>
              <a:t>Census 2000 first to allow respondents to check multiracial category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978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0" y="134482"/>
            <a:ext cx="13546138" cy="1113432"/>
          </a:xfrm>
        </p:spPr>
        <p:txBody>
          <a:bodyPr/>
          <a:lstStyle/>
          <a:p>
            <a:r>
              <a:rPr lang="en-US" altLang="en-US" dirty="0"/>
              <a:t>Race/Ethnicity (2 of 3)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>
          <a:xfrm>
            <a:off x="1028660" y="1656523"/>
            <a:ext cx="11429554" cy="5221163"/>
          </a:xfrm>
        </p:spPr>
        <p:txBody>
          <a:bodyPr/>
          <a:lstStyle/>
          <a:p>
            <a:r>
              <a:rPr lang="en-US" altLang="en-US" dirty="0"/>
              <a:t>Somewhat ambiguous classification</a:t>
            </a:r>
          </a:p>
          <a:p>
            <a:r>
              <a:rPr lang="en-US" altLang="en-US" dirty="0"/>
              <a:t>Tends to overlap with nativity and religion</a:t>
            </a:r>
          </a:p>
          <a:p>
            <a:r>
              <a:rPr lang="en-US" altLang="en-US" dirty="0"/>
              <a:t>Social construct rather than biologic construct</a:t>
            </a:r>
          </a:p>
          <a:p>
            <a:r>
              <a:rPr lang="en-US" altLang="en-US" dirty="0"/>
              <a:t>Used to track various health outcomes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34482"/>
            <a:ext cx="13546138" cy="1113432"/>
          </a:xfrm>
        </p:spPr>
        <p:txBody>
          <a:bodyPr/>
          <a:lstStyle/>
          <a:p>
            <a:r>
              <a:rPr lang="en-US" altLang="en-US" dirty="0"/>
              <a:t>Race/Ethnicity (3 of 3)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1028660" y="1656523"/>
            <a:ext cx="11429554" cy="5221163"/>
          </a:xfrm>
        </p:spPr>
        <p:txBody>
          <a:bodyPr/>
          <a:lstStyle/>
          <a:p>
            <a:r>
              <a:rPr lang="en-US" altLang="en-US" dirty="0"/>
              <a:t>Examples of racial/ethnic differences in health characteristics:</a:t>
            </a:r>
          </a:p>
          <a:p>
            <a:pPr lvl="1"/>
            <a:r>
              <a:rPr lang="en-US" altLang="en-US" dirty="0"/>
              <a:t>Lower frequency of asthma reported among Hispanics</a:t>
            </a:r>
          </a:p>
          <a:p>
            <a:pPr lvl="1"/>
            <a:r>
              <a:rPr lang="en-US" altLang="en-US" dirty="0"/>
              <a:t>Prevalence of cognitive decline highest in American Indian or Alaska Native populations</a:t>
            </a:r>
          </a:p>
          <a:p>
            <a:pPr lvl="1"/>
            <a:r>
              <a:rPr lang="en-US" altLang="en-US" dirty="0"/>
              <a:t>Higher COVID-19 mortality rates in non-Hispanic Black populations, especially early in the pandemic</a:t>
            </a:r>
          </a:p>
          <a:p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34482"/>
            <a:ext cx="13546138" cy="1113432"/>
          </a:xfrm>
        </p:spPr>
        <p:txBody>
          <a:bodyPr/>
          <a:lstStyle/>
          <a:p>
            <a:r>
              <a:rPr lang="en-US" altLang="en-US" dirty="0"/>
              <a:t>Socioeconomic Status (SES) (1 of 2)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1028660" y="1656523"/>
            <a:ext cx="11429554" cy="5221163"/>
          </a:xfrm>
        </p:spPr>
        <p:txBody>
          <a:bodyPr/>
          <a:lstStyle/>
          <a:p>
            <a:r>
              <a:rPr lang="en-US" altLang="en-US" dirty="0"/>
              <a:t>Defined as a “descriptive term for a person’s position in society…”</a:t>
            </a:r>
          </a:p>
          <a:p>
            <a:r>
              <a:rPr lang="en-US" altLang="en-US" dirty="0"/>
              <a:t>Often formulated as a composite measure of:</a:t>
            </a:r>
          </a:p>
          <a:p>
            <a:pPr lvl="1"/>
            <a:r>
              <a:rPr lang="en-US" altLang="en-US" dirty="0"/>
              <a:t>Income level</a:t>
            </a:r>
          </a:p>
          <a:p>
            <a:pPr lvl="1"/>
            <a:r>
              <a:rPr lang="en-US" altLang="en-US" dirty="0"/>
              <a:t>Education level</a:t>
            </a:r>
          </a:p>
          <a:p>
            <a:pPr lvl="1"/>
            <a:r>
              <a:rPr lang="en-US" altLang="en-US" dirty="0"/>
              <a:t>Type of occupation</a:t>
            </a:r>
          </a:p>
          <a:p>
            <a:r>
              <a:rPr lang="en-US" altLang="en-US" dirty="0"/>
              <a:t>Single dimension of SES (e.g., poverty level) may be used.</a:t>
            </a:r>
          </a:p>
          <a:p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34482"/>
            <a:ext cx="13546138" cy="1113432"/>
          </a:xfrm>
        </p:spPr>
        <p:txBody>
          <a:bodyPr/>
          <a:lstStyle/>
          <a:p>
            <a:r>
              <a:rPr lang="en-US" dirty="0"/>
              <a:t>Socioeconomic Status (SES) (2 of 2)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1028660" y="1656523"/>
            <a:ext cx="11429554" cy="5221163"/>
          </a:xfrm>
        </p:spPr>
        <p:txBody>
          <a:bodyPr/>
          <a:lstStyle/>
          <a:p>
            <a:r>
              <a:rPr lang="en-US" altLang="en-US" dirty="0"/>
              <a:t>Impact of SES</a:t>
            </a:r>
          </a:p>
          <a:p>
            <a:pPr lvl="1"/>
            <a:r>
              <a:rPr lang="en-US" altLang="en-US" dirty="0"/>
              <a:t>Strong, inverse association of SES with levels of morbidity and mortality</a:t>
            </a:r>
          </a:p>
          <a:p>
            <a:pPr lvl="1"/>
            <a:r>
              <a:rPr lang="en-US" altLang="en-US" dirty="0"/>
              <a:t>Those in lowest SES positions are confronted with excesses of morbidity and mortality from numerous causes.</a:t>
            </a:r>
          </a:p>
          <a:p>
            <a:pPr lvl="2"/>
            <a:r>
              <a:rPr lang="en-US" altLang="en-US" dirty="0"/>
              <a:t>Example: Access to dental care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1"/>
          <p:cNvSpPr>
            <a:spLocks noGrp="1" noChangeArrowheads="1"/>
          </p:cNvSpPr>
          <p:nvPr>
            <p:ph type="title"/>
          </p:nvPr>
        </p:nvSpPr>
        <p:spPr>
          <a:xfrm>
            <a:off x="0" y="134482"/>
            <a:ext cx="13546138" cy="1113432"/>
          </a:xfrm>
        </p:spPr>
        <p:txBody>
          <a:bodyPr/>
          <a:lstStyle/>
          <a:p>
            <a:r>
              <a:rPr lang="en-US" altLang="en-US" dirty="0"/>
              <a:t>Definition: Health Disparities</a:t>
            </a:r>
          </a:p>
        </p:txBody>
      </p:sp>
      <p:sp>
        <p:nvSpPr>
          <p:cNvPr id="10242" name="Rectangle 2"/>
          <p:cNvSpPr>
            <a:spLocks noGrp="1" noChangeArrowheads="1"/>
          </p:cNvSpPr>
          <p:nvPr>
            <p:ph idx="1"/>
          </p:nvPr>
        </p:nvSpPr>
        <p:spPr>
          <a:xfrm>
            <a:off x="1028660" y="1656523"/>
            <a:ext cx="11429554" cy="5221163"/>
          </a:xfrm>
        </p:spPr>
        <p:txBody>
          <a:bodyPr/>
          <a:lstStyle/>
          <a:p>
            <a:r>
              <a:rPr lang="en-US" dirty="0"/>
              <a:t>Differences in occurrence of diseases and adverse health conditions as well as access to health care in population</a:t>
            </a:r>
          </a:p>
          <a:p>
            <a:pPr lvl="1"/>
            <a:r>
              <a:rPr lang="en-US" dirty="0"/>
              <a:t>Example: Differences in cancer incidence, prevalence, mortality, survival, and access to screening services between specific population groups in U.S.</a:t>
            </a:r>
          </a:p>
          <a:p>
            <a:pPr lvl="1"/>
            <a:r>
              <a:rPr lang="en-US" dirty="0"/>
              <a:t>Highlight role of social determinants of health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E9D7F-5428-D4A9-4402-4B017C2EB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4482"/>
            <a:ext cx="13546138" cy="1113432"/>
          </a:xfrm>
        </p:spPr>
        <p:txBody>
          <a:bodyPr/>
          <a:lstStyle/>
          <a:p>
            <a:r>
              <a:rPr lang="en-US" dirty="0"/>
              <a:t>Social Determinants of Health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8F186-DCE4-BC39-824D-39A796D354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660" y="1656523"/>
            <a:ext cx="11429554" cy="5221163"/>
          </a:xfrm>
        </p:spPr>
        <p:txBody>
          <a:bodyPr/>
          <a:lstStyle/>
          <a:p>
            <a:r>
              <a:rPr lang="en-US" dirty="0"/>
              <a:t>Conditions that exist in environment where people are born, live, learn, work, play, and worship </a:t>
            </a:r>
          </a:p>
          <a:p>
            <a:r>
              <a:rPr lang="en-US" dirty="0"/>
              <a:t>Impact wide variety of health, functioning, and quality of life outcomes and risks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3652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"/>
          <p:cNvSpPr>
            <a:spLocks noGrp="1" noChangeArrowheads="1"/>
          </p:cNvSpPr>
          <p:nvPr>
            <p:ph type="title"/>
          </p:nvPr>
        </p:nvSpPr>
        <p:spPr>
          <a:xfrm>
            <a:off x="0" y="134482"/>
            <a:ext cx="13546138" cy="1113432"/>
          </a:xfrm>
        </p:spPr>
        <p:txBody>
          <a:bodyPr/>
          <a:lstStyle/>
          <a:p>
            <a:r>
              <a:rPr lang="en-US" altLang="en-US" dirty="0"/>
              <a:t>Place Variables</a:t>
            </a:r>
          </a:p>
        </p:txBody>
      </p:sp>
      <p:sp>
        <p:nvSpPr>
          <p:cNvPr id="29699" name="Rectangle 2"/>
          <p:cNvSpPr>
            <a:spLocks noGrp="1" noChangeArrowheads="1"/>
          </p:cNvSpPr>
          <p:nvPr>
            <p:ph idx="1"/>
          </p:nvPr>
        </p:nvSpPr>
        <p:spPr>
          <a:xfrm>
            <a:off x="1028660" y="1656523"/>
            <a:ext cx="11429554" cy="5221163"/>
          </a:xfrm>
        </p:spPr>
        <p:txBody>
          <a:bodyPr/>
          <a:lstStyle/>
          <a:p>
            <a:r>
              <a:rPr lang="en-US" dirty="0"/>
              <a:t>International</a:t>
            </a:r>
          </a:p>
          <a:p>
            <a:r>
              <a:rPr lang="en-US" dirty="0"/>
              <a:t>National (within-country)</a:t>
            </a:r>
          </a:p>
          <a:p>
            <a:r>
              <a:rPr lang="en-US" dirty="0"/>
              <a:t>Urban–rural differences</a:t>
            </a:r>
          </a:p>
          <a:p>
            <a:r>
              <a:rPr lang="en-US" dirty="0"/>
              <a:t>Localized patterns of disease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34482"/>
            <a:ext cx="13546138" cy="1113432"/>
          </a:xfrm>
        </p:spPr>
        <p:txBody>
          <a:bodyPr/>
          <a:lstStyle/>
          <a:p>
            <a:r>
              <a:rPr lang="en-US" altLang="en-US" dirty="0"/>
              <a:t>International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1028660" y="1656523"/>
            <a:ext cx="11429554" cy="5221163"/>
          </a:xfrm>
        </p:spPr>
        <p:txBody>
          <a:bodyPr/>
          <a:lstStyle/>
          <a:p>
            <a:r>
              <a:rPr lang="en-US" altLang="en-US" dirty="0"/>
              <a:t>World Health Organization (WHO) studies: </a:t>
            </a:r>
          </a:p>
          <a:p>
            <a:pPr lvl="1"/>
            <a:r>
              <a:rPr lang="en-US" altLang="en-US" dirty="0"/>
              <a:t>Both infectious and chronic diseases show great variation from one country to another.</a:t>
            </a:r>
          </a:p>
          <a:p>
            <a:r>
              <a:rPr lang="en-US" altLang="en-US" dirty="0"/>
              <a:t>Climate, cultural factors, national dietary habits, and access to health care affect disease occurrence.</a:t>
            </a:r>
          </a:p>
          <a:p>
            <a:r>
              <a:rPr lang="en-US" altLang="en-US" dirty="0"/>
              <a:t>Variations in life expectancy (U.S. ranked 48th in 2021).</a:t>
            </a:r>
          </a:p>
          <a:p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34482"/>
            <a:ext cx="13546138" cy="1113432"/>
          </a:xfrm>
        </p:spPr>
        <p:txBody>
          <a:bodyPr/>
          <a:lstStyle/>
          <a:p>
            <a:r>
              <a:rPr lang="en-US" altLang="en-US" dirty="0"/>
              <a:t>Polio: An Example of an International Variation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1028660" y="1656523"/>
            <a:ext cx="11429554" cy="5221163"/>
          </a:xfrm>
        </p:spPr>
        <p:txBody>
          <a:bodyPr/>
          <a:lstStyle/>
          <a:p>
            <a:r>
              <a:rPr lang="en-US" altLang="en-US" dirty="0"/>
              <a:t>Decreasing incidence globally</a:t>
            </a:r>
          </a:p>
          <a:p>
            <a:r>
              <a:rPr lang="en-US" altLang="en-US" dirty="0"/>
              <a:t>Between 2020 and 2022, polio cases were reported in Afghanistan, Pakistan, and Malawi.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34482"/>
            <a:ext cx="13546138" cy="1113432"/>
          </a:xfrm>
        </p:spPr>
        <p:txBody>
          <a:bodyPr/>
          <a:lstStyle/>
          <a:p>
            <a:r>
              <a:rPr lang="en-US" altLang="en-US" dirty="0"/>
              <a:t>National (Within Country)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1028660" y="1656523"/>
            <a:ext cx="11429554" cy="5221163"/>
          </a:xfrm>
        </p:spPr>
        <p:txBody>
          <a:bodyPr/>
          <a:lstStyle/>
          <a:p>
            <a:r>
              <a:rPr lang="en-US" altLang="en-US" dirty="0"/>
              <a:t>Regional differences may affect prevalence and incidence of disease.</a:t>
            </a:r>
          </a:p>
          <a:p>
            <a:pPr lvl="1"/>
            <a:r>
              <a:rPr lang="en-US" altLang="en-US" dirty="0"/>
              <a:t>Factors</a:t>
            </a:r>
          </a:p>
          <a:p>
            <a:pPr lvl="2"/>
            <a:r>
              <a:rPr lang="en-US" altLang="en-US" dirty="0"/>
              <a:t>Climate </a:t>
            </a:r>
          </a:p>
          <a:p>
            <a:pPr lvl="2"/>
            <a:r>
              <a:rPr lang="en-US" altLang="en-US" dirty="0"/>
              <a:t>Latitude</a:t>
            </a:r>
          </a:p>
          <a:p>
            <a:pPr lvl="2"/>
            <a:r>
              <a:rPr lang="en-US" altLang="en-US" dirty="0"/>
              <a:t>Environmental pollution</a:t>
            </a:r>
          </a:p>
          <a:p>
            <a:r>
              <a:rPr lang="en-US" altLang="en-US" dirty="0"/>
              <a:t>Example: Regional variations in heart attack (see Figure 5-14)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>
          <a:xfrm>
            <a:off x="0" y="134938"/>
            <a:ext cx="13546138" cy="1338354"/>
          </a:xfrm>
        </p:spPr>
        <p:txBody>
          <a:bodyPr>
            <a:noAutofit/>
          </a:bodyPr>
          <a:lstStyle/>
          <a:p>
            <a:r>
              <a:rPr lang="en-US" altLang="en-US" sz="2800" dirty="0"/>
              <a:t>FIGURE 5-14 Age-adjusted prevalence of heart attack among adults aged 18 years or older, by state—Behavioral Risk Factor Surveillance System, United States, 2021</a:t>
            </a:r>
          </a:p>
        </p:txBody>
      </p:sp>
      <p:pic>
        <p:nvPicPr>
          <p:cNvPr id="4" name="Picture 3" descr="The map highlights the age prevalence of heart attacks. The data inferred from the map is as follows: 2.4 to 3.0, Washington, California, Utah, Alaska, Hawaii, Colorado, Nebraska, Wisconsin, New York, New Jersey, Maryland, New Hampshire, Washington D C; 3.1 to 3.4, Oregon, Nevada, Montana, Wyoming; New Mexico, Texas, Minnesota, Iowa, Illinois, Virginia, Vermont, Massachusetts, Rhode Island, Puerto Rico; 3.5 to 4.0, Idaho, Arizona, North Dakota, South Dakota, Kansas, Louisiana, Michigan, Indiana, Pennsylvania, North Carolina, South Carolina, Delaware, Guam; 4.1 to 5.6, Oklahoma, Missouri, Arkansas, Mississippi, Tennessee, Alabama, Georgia, Kentucky, Ohio, West Virginia, Maine, Guam; Data not available, Florida, Virgin Island." title="FIgure 5.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2209" y="1905000"/>
            <a:ext cx="8681720" cy="512702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34482"/>
            <a:ext cx="13546138" cy="1113432"/>
          </a:xfrm>
        </p:spPr>
        <p:txBody>
          <a:bodyPr/>
          <a:lstStyle/>
          <a:p>
            <a:r>
              <a:rPr lang="en-US" altLang="en-US" dirty="0"/>
              <a:t>Urban–Rural Differences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>
          <a:xfrm>
            <a:off x="1028660" y="1656523"/>
            <a:ext cx="11429554" cy="5221163"/>
          </a:xfrm>
        </p:spPr>
        <p:txBody>
          <a:bodyPr/>
          <a:lstStyle/>
          <a:p>
            <a:r>
              <a:rPr lang="en-US" altLang="en-US" dirty="0"/>
              <a:t>Urban and rural sections of U.S. show variations in morbidity and mortality related to environmental and lifestyle issues.</a:t>
            </a:r>
          </a:p>
          <a:p>
            <a:pPr lvl="1"/>
            <a:r>
              <a:rPr lang="en-US" altLang="en-US" dirty="0"/>
              <a:t>Urban example: Elevated occurrence of lead poisoning among children who live in older buildings</a:t>
            </a:r>
          </a:p>
          <a:p>
            <a:pPr lvl="1"/>
            <a:r>
              <a:rPr lang="en-US" altLang="en-US" dirty="0"/>
              <a:t>Rural example: Pesticide exposure and farming injuries among agricultural workers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34482"/>
            <a:ext cx="13546138" cy="1113432"/>
          </a:xfrm>
        </p:spPr>
        <p:txBody>
          <a:bodyPr/>
          <a:lstStyle/>
          <a:p>
            <a:r>
              <a:rPr lang="en-US" altLang="en-US" dirty="0"/>
              <a:t>Localized Patterns of Disease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1028660" y="1656523"/>
            <a:ext cx="11429554" cy="5221163"/>
          </a:xfrm>
        </p:spPr>
        <p:txBody>
          <a:bodyPr/>
          <a:lstStyle/>
          <a:p>
            <a:r>
              <a:rPr lang="en-US" altLang="en-US" dirty="0"/>
              <a:t>Associated with specific environmental conditions that may exist in a particular geographic area</a:t>
            </a:r>
          </a:p>
          <a:p>
            <a:r>
              <a:rPr lang="en-US" altLang="en-US" dirty="0"/>
              <a:t>Examples</a:t>
            </a:r>
          </a:p>
          <a:p>
            <a:pPr lvl="1"/>
            <a:r>
              <a:rPr lang="en-US" altLang="en-US" dirty="0"/>
              <a:t>Lung cancer and radon gas</a:t>
            </a:r>
          </a:p>
          <a:p>
            <a:pPr lvl="1"/>
            <a:r>
              <a:rPr lang="en-US" altLang="en-US" dirty="0"/>
              <a:t>Naturally occurring arsenic in water supply</a:t>
            </a:r>
          </a:p>
          <a:p>
            <a:pPr lvl="1"/>
            <a:r>
              <a:rPr lang="en-US" altLang="en-US" dirty="0"/>
              <a:t>Presence of disease vectors: Lyme disease in U.S.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1"/>
          <p:cNvSpPr>
            <a:spLocks noGrp="1" noChangeArrowheads="1"/>
          </p:cNvSpPr>
          <p:nvPr>
            <p:ph type="title"/>
          </p:nvPr>
        </p:nvSpPr>
        <p:spPr>
          <a:xfrm>
            <a:off x="0" y="134482"/>
            <a:ext cx="13546138" cy="1113432"/>
          </a:xfrm>
        </p:spPr>
        <p:txBody>
          <a:bodyPr/>
          <a:lstStyle/>
          <a:p>
            <a:r>
              <a:rPr lang="en-US" altLang="en-US" dirty="0"/>
              <a:t>Time Variables</a:t>
            </a:r>
          </a:p>
        </p:txBody>
      </p:sp>
      <p:sp>
        <p:nvSpPr>
          <p:cNvPr id="35843" name="Rectangle 2"/>
          <p:cNvSpPr>
            <a:spLocks noGrp="1" noChangeArrowheads="1"/>
          </p:cNvSpPr>
          <p:nvPr>
            <p:ph idx="1"/>
          </p:nvPr>
        </p:nvSpPr>
        <p:spPr>
          <a:xfrm>
            <a:off x="1028660" y="1656523"/>
            <a:ext cx="11429554" cy="5221163"/>
          </a:xfrm>
        </p:spPr>
        <p:txBody>
          <a:bodyPr/>
          <a:lstStyle/>
          <a:p>
            <a:r>
              <a:rPr lang="en-US" dirty="0"/>
              <a:t>Secular trends</a:t>
            </a:r>
          </a:p>
          <a:p>
            <a:r>
              <a:rPr lang="en-US" dirty="0"/>
              <a:t>Cyclic (seasonal) trends</a:t>
            </a:r>
          </a:p>
          <a:p>
            <a:r>
              <a:rPr lang="en-US" dirty="0"/>
              <a:t>Point epidemics</a:t>
            </a:r>
          </a:p>
          <a:p>
            <a:r>
              <a:rPr lang="en-US" dirty="0"/>
              <a:t>Clustering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1"/>
          <p:cNvSpPr>
            <a:spLocks noGrp="1" noChangeArrowheads="1"/>
          </p:cNvSpPr>
          <p:nvPr>
            <p:ph type="title"/>
          </p:nvPr>
        </p:nvSpPr>
        <p:spPr>
          <a:xfrm>
            <a:off x="0" y="134482"/>
            <a:ext cx="13546138" cy="1113432"/>
          </a:xfrm>
        </p:spPr>
        <p:txBody>
          <a:bodyPr/>
          <a:lstStyle/>
          <a:p>
            <a:r>
              <a:rPr lang="en-US" altLang="en-US" dirty="0"/>
              <a:t>Secular Trends</a:t>
            </a:r>
          </a:p>
        </p:txBody>
      </p:sp>
      <p:sp>
        <p:nvSpPr>
          <p:cNvPr id="38915" name="Rectangle 2"/>
          <p:cNvSpPr>
            <a:spLocks noGrp="1" noChangeArrowheads="1"/>
          </p:cNvSpPr>
          <p:nvPr>
            <p:ph idx="1"/>
          </p:nvPr>
        </p:nvSpPr>
        <p:spPr>
          <a:xfrm>
            <a:off x="1028660" y="1656523"/>
            <a:ext cx="11429554" cy="5221163"/>
          </a:xfrm>
        </p:spPr>
        <p:txBody>
          <a:bodyPr/>
          <a:lstStyle/>
          <a:p>
            <a:r>
              <a:rPr lang="en-US" altLang="en-US" dirty="0"/>
              <a:t>Gradual changes in the frequency of disease over long time periods</a:t>
            </a:r>
          </a:p>
          <a:p>
            <a:r>
              <a:rPr lang="en-US" altLang="en-US" dirty="0"/>
              <a:t>Examples</a:t>
            </a:r>
          </a:p>
          <a:p>
            <a:pPr lvl="1"/>
            <a:r>
              <a:rPr lang="en-US" altLang="en-US" dirty="0"/>
              <a:t>Drug overdose deaths rates between 2000 and 2020</a:t>
            </a:r>
          </a:p>
          <a:p>
            <a:pPr lvl="2"/>
            <a:r>
              <a:rPr lang="en-US" altLang="en-US" dirty="0"/>
              <a:t>Rates increased in all groups with non-Hispanic white individuals having the consistently highest rates.</a:t>
            </a:r>
          </a:p>
          <a:p>
            <a:pPr lvl="2"/>
            <a:r>
              <a:rPr lang="en-US" altLang="en-US" dirty="0"/>
              <a:t>Pace of increases has been highest since 2016 in non-Hispanic Black individuals.</a:t>
            </a:r>
          </a:p>
          <a:p>
            <a:pPr lvl="1"/>
            <a:r>
              <a:rPr lang="en-US" altLang="en-US" dirty="0"/>
              <a:t>Age-adjusted prevalence of hypertension (no secular trend)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1"/>
          <p:cNvSpPr>
            <a:spLocks noGrp="1" noChangeArrowheads="1"/>
          </p:cNvSpPr>
          <p:nvPr>
            <p:ph type="title"/>
          </p:nvPr>
        </p:nvSpPr>
        <p:spPr>
          <a:xfrm>
            <a:off x="0" y="134482"/>
            <a:ext cx="13546138" cy="1113432"/>
          </a:xfrm>
        </p:spPr>
        <p:txBody>
          <a:bodyPr/>
          <a:lstStyle/>
          <a:p>
            <a:r>
              <a:rPr lang="en-US" altLang="en-US" dirty="0"/>
              <a:t>Cyclic (Seasonal) Trends</a:t>
            </a:r>
          </a:p>
        </p:txBody>
      </p:sp>
      <p:sp>
        <p:nvSpPr>
          <p:cNvPr id="39939" name="Rectangle 2"/>
          <p:cNvSpPr>
            <a:spLocks noGrp="1" noChangeArrowheads="1"/>
          </p:cNvSpPr>
          <p:nvPr>
            <p:ph idx="1"/>
          </p:nvPr>
        </p:nvSpPr>
        <p:spPr>
          <a:xfrm>
            <a:off x="1028660" y="1656523"/>
            <a:ext cx="11429554" cy="5221163"/>
          </a:xfrm>
        </p:spPr>
        <p:txBody>
          <a:bodyPr/>
          <a:lstStyle/>
          <a:p>
            <a:r>
              <a:rPr lang="en-US" altLang="en-US" dirty="0"/>
              <a:t>Increases and decreases in frequency of a disease or other phenomenon over a period of several years or within a year</a:t>
            </a:r>
          </a:p>
          <a:p>
            <a:pPr lvl="1"/>
            <a:r>
              <a:rPr lang="en-US" altLang="en-US" dirty="0"/>
              <a:t>Example 1: Severe weather events in Atlantic basin</a:t>
            </a:r>
          </a:p>
          <a:p>
            <a:pPr lvl="1"/>
            <a:r>
              <a:rPr lang="en-US" altLang="en-US" dirty="0"/>
              <a:t>Example 2: Mortality from pneumonia and influenza (peaks during February)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"/>
          <p:cNvSpPr>
            <a:spLocks noGrp="1" noChangeArrowheads="1"/>
          </p:cNvSpPr>
          <p:nvPr>
            <p:ph type="title"/>
          </p:nvPr>
        </p:nvSpPr>
        <p:spPr>
          <a:xfrm>
            <a:off x="0" y="134482"/>
            <a:ext cx="13546138" cy="1113432"/>
          </a:xfrm>
        </p:spPr>
        <p:txBody>
          <a:bodyPr/>
          <a:lstStyle/>
          <a:p>
            <a:r>
              <a:rPr lang="en-US" altLang="en-US" dirty="0"/>
              <a:t>Point Epidemics</a:t>
            </a:r>
          </a:p>
        </p:txBody>
      </p:sp>
      <p:sp>
        <p:nvSpPr>
          <p:cNvPr id="40963" name="Rectangle 2"/>
          <p:cNvSpPr>
            <a:spLocks noGrp="1" noChangeArrowheads="1"/>
          </p:cNvSpPr>
          <p:nvPr>
            <p:ph idx="1"/>
          </p:nvPr>
        </p:nvSpPr>
        <p:spPr>
          <a:xfrm>
            <a:off x="1028660" y="1656523"/>
            <a:ext cx="11429554" cy="5221163"/>
          </a:xfrm>
        </p:spPr>
        <p:txBody>
          <a:bodyPr/>
          <a:lstStyle/>
          <a:p>
            <a:r>
              <a:rPr lang="en-US" altLang="en-US" dirty="0"/>
              <a:t>Point epidemic may indicate response of a group of from a common place to a common source of infection, contamination, or other etiologic factor to which they were exposed almost simultaneously.</a:t>
            </a:r>
          </a:p>
          <a:p>
            <a:pPr lvl="1"/>
            <a:r>
              <a:rPr lang="en-US" altLang="en-US" dirty="0"/>
              <a:t>Example: Outbreak of </a:t>
            </a:r>
            <a:r>
              <a:rPr lang="en-US" altLang="en-US" i="1" dirty="0"/>
              <a:t>Vibrio</a:t>
            </a:r>
            <a:r>
              <a:rPr lang="en-US" altLang="en-US" dirty="0"/>
              <a:t> infections following Hurricane Katrina in 2005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1"/>
          <p:cNvSpPr>
            <a:spLocks noGrp="1" noChangeArrowheads="1"/>
          </p:cNvSpPr>
          <p:nvPr>
            <p:ph type="title"/>
          </p:nvPr>
        </p:nvSpPr>
        <p:spPr>
          <a:xfrm>
            <a:off x="0" y="134482"/>
            <a:ext cx="13546138" cy="1113432"/>
          </a:xfrm>
        </p:spPr>
        <p:txBody>
          <a:bodyPr/>
          <a:lstStyle/>
          <a:p>
            <a:r>
              <a:rPr lang="en-US" altLang="en-US" dirty="0"/>
              <a:t>Clustering (1 of 2)</a:t>
            </a:r>
          </a:p>
        </p:txBody>
      </p:sp>
      <p:sp>
        <p:nvSpPr>
          <p:cNvPr id="41987" name="Rectangle 2"/>
          <p:cNvSpPr>
            <a:spLocks noGrp="1" noChangeArrowheads="1"/>
          </p:cNvSpPr>
          <p:nvPr>
            <p:ph idx="1"/>
          </p:nvPr>
        </p:nvSpPr>
        <p:spPr>
          <a:xfrm>
            <a:off x="1028660" y="1656523"/>
            <a:ext cx="11429554" cy="5221163"/>
          </a:xfrm>
        </p:spPr>
        <p:txBody>
          <a:bodyPr/>
          <a:lstStyle/>
          <a:p>
            <a:r>
              <a:rPr lang="en-US" altLang="en-US" dirty="0"/>
              <a:t>“A closely grouped series of events or cases of a disease or other health-related phenomena with well-defined distribution patterns in relation to time or place or both…”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>
          <a:xfrm>
            <a:off x="0" y="134482"/>
            <a:ext cx="13546138" cy="1113432"/>
          </a:xfrm>
        </p:spPr>
        <p:txBody>
          <a:bodyPr/>
          <a:lstStyle/>
          <a:p>
            <a:r>
              <a:rPr lang="en-US" altLang="en-US" dirty="0"/>
              <a:t>Clustering (2 of 2)</a:t>
            </a:r>
          </a:p>
        </p:txBody>
      </p:sp>
      <p:sp>
        <p:nvSpPr>
          <p:cNvPr id="43011" name="Content Placeholder 2"/>
          <p:cNvSpPr>
            <a:spLocks noGrp="1"/>
          </p:cNvSpPr>
          <p:nvPr>
            <p:ph idx="1"/>
          </p:nvPr>
        </p:nvSpPr>
        <p:spPr>
          <a:xfrm>
            <a:off x="1028660" y="1656523"/>
            <a:ext cx="11429554" cy="5221163"/>
          </a:xfrm>
        </p:spPr>
        <p:txBody>
          <a:bodyPr/>
          <a:lstStyle/>
          <a:p>
            <a:r>
              <a:rPr lang="en-US" altLang="en-US" dirty="0"/>
              <a:t>Often used to describe aggregation of uncommon conditions such as leukemia</a:t>
            </a:r>
          </a:p>
          <a:p>
            <a:r>
              <a:rPr lang="en-US" altLang="en-US" dirty="0"/>
              <a:t>Clustering may reflect:</a:t>
            </a:r>
          </a:p>
          <a:p>
            <a:pPr lvl="1"/>
            <a:r>
              <a:rPr lang="en-US" altLang="en-US" dirty="0"/>
              <a:t>Common exposure to an etiologic agent</a:t>
            </a:r>
          </a:p>
          <a:p>
            <a:pPr lvl="1"/>
            <a:r>
              <a:rPr lang="en-US" altLang="en-US" dirty="0"/>
              <a:t>Chance occurrences</a:t>
            </a:r>
          </a:p>
          <a:p>
            <a:r>
              <a:rPr lang="en-US" altLang="en-US" dirty="0"/>
              <a:t>Spatial clustering: The aggregation of events in a geographic region</a:t>
            </a:r>
          </a:p>
          <a:p>
            <a:r>
              <a:rPr lang="en-US" altLang="en-US" dirty="0"/>
              <a:t>Temporal clustering: The occurrence of events related to time</a:t>
            </a:r>
          </a:p>
          <a:p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34482"/>
            <a:ext cx="13546138" cy="1113432"/>
          </a:xfrm>
        </p:spPr>
        <p:txBody>
          <a:bodyPr/>
          <a:lstStyle/>
          <a:p>
            <a:r>
              <a:rPr lang="en-US" altLang="en-US" dirty="0"/>
              <a:t>Conclusion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>
          <a:xfrm>
            <a:off x="1028660" y="1656523"/>
            <a:ext cx="11429554" cy="5221163"/>
          </a:xfrm>
        </p:spPr>
        <p:txBody>
          <a:bodyPr/>
          <a:lstStyle/>
          <a:p>
            <a:r>
              <a:rPr lang="en-US" altLang="en-US" dirty="0"/>
              <a:t>Descriptive epidemiology classifies the occurrence of disease according to the variables of person, place, and time.</a:t>
            </a:r>
          </a:p>
          <a:p>
            <a:r>
              <a:rPr lang="en-US" altLang="en-US" dirty="0"/>
              <a:t>Descriptive epidemiologic studies aid in generating hypotheses that can be explored by analytic epidemiologic studies.</a:t>
            </a:r>
          </a:p>
          <a:p>
            <a:r>
              <a:rPr lang="en-US" altLang="en-US" dirty="0"/>
              <a:t>Descriptive studies include case reports, case studies, and cross-sectional studies.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Educational subjects 16x9">
  <a:themeElements>
    <a:clrScheme name="JBLPSG PPT 1">
      <a:dk1>
        <a:srgbClr val="3C4743"/>
      </a:dk1>
      <a:lt1>
        <a:srgbClr val="E1E1E1"/>
      </a:lt1>
      <a:dk2>
        <a:srgbClr val="000000"/>
      </a:dk2>
      <a:lt2>
        <a:srgbClr val="FFFFFF"/>
      </a:lt2>
      <a:accent1>
        <a:srgbClr val="FFC324"/>
      </a:accent1>
      <a:accent2>
        <a:srgbClr val="F05123"/>
      </a:accent2>
      <a:accent3>
        <a:srgbClr val="418AC9"/>
      </a:accent3>
      <a:accent4>
        <a:srgbClr val="B7B7B7"/>
      </a:accent4>
      <a:accent5>
        <a:srgbClr val="00B18A"/>
      </a:accent5>
      <a:accent6>
        <a:srgbClr val="7BABBF"/>
      </a:accent6>
      <a:hlink>
        <a:srgbClr val="004B91"/>
      </a:hlink>
      <a:folHlink>
        <a:srgbClr val="5C284B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0001127.potx" id="{6B18C398-4F76-4BDC-B8A4-D02A96E0AA82}" vid="{FBF1AC64-E511-41D2-AA23-0E693E79CD77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9781284245004_PPTx_Quinlan</Template>
  <TotalTime>1671</TotalTime>
  <Words>1553</Words>
  <Application>Microsoft Office PowerPoint</Application>
  <PresentationFormat>Custom</PresentationFormat>
  <Paragraphs>192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5" baseType="lpstr">
      <vt:lpstr>Arial</vt:lpstr>
      <vt:lpstr>Calibri</vt:lpstr>
      <vt:lpstr>Wingdings</vt:lpstr>
      <vt:lpstr>Educational subjects 16x9</vt:lpstr>
      <vt:lpstr>Descriptive Epidemiology:  Patterns of Disease—Person, Place, Time</vt:lpstr>
      <vt:lpstr>Learning Objectives</vt:lpstr>
      <vt:lpstr>Introduction</vt:lpstr>
      <vt:lpstr>Definition: Descriptive Epidemiology</vt:lpstr>
      <vt:lpstr>Descriptive Epidemiologic Study</vt:lpstr>
      <vt:lpstr>Descriptive Epidemiology</vt:lpstr>
      <vt:lpstr>Example of a Descriptive Epidemiologic Study</vt:lpstr>
      <vt:lpstr>Uses of Descriptive Epidemiologic Studies</vt:lpstr>
      <vt:lpstr>Types of Descriptive Epidemiologic Studies</vt:lpstr>
      <vt:lpstr>Case Reports</vt:lpstr>
      <vt:lpstr>Case Series</vt:lpstr>
      <vt:lpstr>Cross-Sectional Studies</vt:lpstr>
      <vt:lpstr>Epidemiologic Inferences from Descriptive Data</vt:lpstr>
      <vt:lpstr>Figure 5-4 Process of epidemiologic inference</vt:lpstr>
      <vt:lpstr>Person Variables: Examples</vt:lpstr>
      <vt:lpstr>Age</vt:lpstr>
      <vt:lpstr>Examples of Age Associations</vt:lpstr>
      <vt:lpstr>Sex</vt:lpstr>
      <vt:lpstr>Figure 5-7 Leading sites of new cancer cases and deaths—2022 estimates</vt:lpstr>
      <vt:lpstr>Nativity</vt:lpstr>
      <vt:lpstr>Race/Ethnicity (1 of 3)</vt:lpstr>
      <vt:lpstr>Race/Ethnicity (2 of 3)</vt:lpstr>
      <vt:lpstr>Race/Ethnicity (3 of 3)</vt:lpstr>
      <vt:lpstr>Socioeconomic Status (SES) (1 of 2)</vt:lpstr>
      <vt:lpstr>Socioeconomic Status (SES) (2 of 2)</vt:lpstr>
      <vt:lpstr>Definition: Health Disparities</vt:lpstr>
      <vt:lpstr>Social Determinants of Health</vt:lpstr>
      <vt:lpstr>Place Variables</vt:lpstr>
      <vt:lpstr>International</vt:lpstr>
      <vt:lpstr>Polio: An Example of an International Variation</vt:lpstr>
      <vt:lpstr>National (Within Country)</vt:lpstr>
      <vt:lpstr>FIGURE 5-14 Age-adjusted prevalence of heart attack among adults aged 18 years or older, by state—Behavioral Risk Factor Surveillance System, United States, 2021</vt:lpstr>
      <vt:lpstr>Urban–Rural Differences</vt:lpstr>
      <vt:lpstr>Localized Patterns of Disease</vt:lpstr>
      <vt:lpstr>Time Variables</vt:lpstr>
      <vt:lpstr>Secular Trends</vt:lpstr>
      <vt:lpstr>Cyclic (Seasonal) Trends</vt:lpstr>
      <vt:lpstr>Point Epidemics</vt:lpstr>
      <vt:lpstr>Clustering (1 of 2)</vt:lpstr>
      <vt:lpstr>Clustering (2 of 2)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Google</dc:creator>
  <cp:lastModifiedBy>Nithyanandan.E</cp:lastModifiedBy>
  <cp:revision>117</cp:revision>
  <dcterms:created xsi:type="dcterms:W3CDTF">2004-05-06T09:28:21Z</dcterms:created>
  <dcterms:modified xsi:type="dcterms:W3CDTF">2024-02-01T09:30:52Z</dcterms:modified>
</cp:coreProperties>
</file>